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11.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7.xml"/>
  <Override ContentType="application/vnd.openxmlformats-officedocument.presentationml.slideLayout+xml" PartName="/ppt/slideLayouts/slideLayout14.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21.xml"/>
  <Override ContentType="application/vnd.openxmlformats-officedocument.presentationml.slideMaster+xml" PartName="/ppt/slideMasters/slideMaster2.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0.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theme+xml" PartName="/ppt/theme/theme3.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showSpecialPlsOnTitleSld="0">
  <p:sldMasterIdLst>
    <p:sldMasterId id="2147483670" r:id="rId4"/>
    <p:sldMasterId id="2147483671"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y="5143500" cx="9144000"/>
  <p:notesSz cx="6858000" cy="9144000"/>
  <p:embeddedFontLst>
    <p:embeddedFont>
      <p:font typeface="Noto Sans KR"/>
      <p:regular r:id="rId27"/>
      <p:bold r:id="rId28"/>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3.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font" Target="fonts/NotoSansKR-bold.fntdata"/><Relationship Id="rId27" Type="http://schemas.openxmlformats.org/officeDocument/2006/relationships/font" Target="fonts/NotoSansKR-regular.fntdata"/><Relationship Id="rId5" Type="http://schemas.openxmlformats.org/officeDocument/2006/relationships/slideMaster" Target="slideMasters/slideMaster2.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97" name="Google Shape;97;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h5b4998001508b6ad_4_4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05" name="Google Shape;105;h5b4998001508b6ad_4_4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[~50 s]</a:t>
            </a:r>
            <a:endParaRPr/>
          </a:p>
          <a:p>
            <a:pPr indent="-298450" lvl="0" marL="457200" rtl="0" algn="l">
              <a:lnSpc>
                <a:spcPct val="100000"/>
              </a:lnSpc>
              <a:spcBef>
                <a:spcPts val="0"/>
              </a:spcBef>
              <a:spcAft>
                <a:spcPts val="0"/>
              </a:spcAft>
              <a:buSzPts val="1100"/>
              <a:buChar char="●"/>
            </a:pPr>
            <a:r>
              <a:rPr lang="ko" sz="1100"/>
              <a:t>Face recognition is now widely used in many online services. In a typical system, a client device captures a face image and sends it to a remote server for recognition. However, face images are sensitive biometric data. If these images are intercepted or leaked, they can reveal both personal identity and facial appearance. Therefore, we need face recognition systems that can still identify a person without directly exposing the original face image. This is the goal of privacy-preserving face recognition, or PPFR.</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6" name="Shape 136"/>
        <p:cNvGrpSpPr/>
        <p:nvPr/>
      </p:nvGrpSpPr>
      <p:grpSpPr>
        <a:xfrm>
          <a:off x="0" y="0"/>
          <a:ext cx="0" cy="0"/>
          <a:chOff x="0" y="0"/>
          <a:chExt cx="0" cy="0"/>
        </a:xfrm>
      </p:grpSpPr>
      <p:sp>
        <p:nvSpPr>
          <p:cNvPr id="137" name="Google Shape;137;h5b4998001508b6ad_4_77: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38" name="Google Shape;138;h5b4998001508b6ad_4_7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[~60 s]</a:t>
            </a:r>
            <a:endParaRPr/>
          </a:p>
          <a:p>
            <a:pPr indent="-298450" lvl="0" marL="457200" rtl="0" algn="l">
              <a:lnSpc>
                <a:spcPct val="100000"/>
              </a:lnSpc>
              <a:spcBef>
                <a:spcPts val="0"/>
              </a:spcBef>
              <a:spcAft>
                <a:spcPts val="0"/>
              </a:spcAft>
              <a:buSzPts val="1100"/>
              <a:buChar char="●"/>
            </a:pPr>
            <a:r>
              <a:rPr lang="ko" sz="1100"/>
              <a:t>The goal of PPFR is not only to make the image look different. A good protective representation should satisfy two requirements. First, it should hide the visual appearance of the original face and prevent an attacker from recovering it. Second, it should still preserve enough identity information for accurate face recognition. The main difficulty is that identity features and visual features are closely related. If we remove too much information, recognition accuracy decreases. But if we keep too much information, privacy becomes weak. So the central problem is the trade-off between privacy and recognition accuracy.</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0" name="Shape 170"/>
        <p:cNvGrpSpPr/>
        <p:nvPr/>
      </p:nvGrpSpPr>
      <p:grpSpPr>
        <a:xfrm>
          <a:off x="0" y="0"/>
          <a:ext cx="0" cy="0"/>
          <a:chOff x="0" y="0"/>
          <a:chExt cx="0" cy="0"/>
        </a:xfrm>
      </p:grpSpPr>
      <p:sp>
        <p:nvSpPr>
          <p:cNvPr id="171" name="Google Shape;171;h5b4998001508b6ad_4_109: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172" name="Google Shape;172;h5b4998001508b6ad_4_10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[~60 s]</a:t>
            </a:r>
            <a:endParaRPr/>
          </a:p>
          <a:p>
            <a:pPr indent="-298450" lvl="0" marL="457200" rtl="0" algn="l">
              <a:lnSpc>
                <a:spcPct val="100000"/>
              </a:lnSpc>
              <a:spcBef>
                <a:spcPts val="0"/>
              </a:spcBef>
              <a:spcAft>
                <a:spcPts val="0"/>
              </a:spcAft>
              <a:buSzPts val="1100"/>
              <a:buChar char="●"/>
            </a:pPr>
            <a:r>
              <a:rPr lang="ko" sz="1100"/>
              <a:t>Previous PPFR methods can mainly be divided into two groups. The first group is cryptographic methods, such as homomorphic encryption and secure multi-party computation. These methods provide strong protection, but they usually require high computational cost and higher latency. The second group is transform-based methods. Instead of encrypting the image, they transform the face into a protective representation. For example, previous studies use noise, frequency-domain feature removal, steganography, or adversarial perturbations. These methods are usually more efficient, but they still face an important privacy problem.</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h5b4998001508b6ad_4_148: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13" name="Google Shape;213;h5b4998001508b6ad_4_14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[~70 s]  (Point to Figure 1, row (a))</a:t>
            </a:r>
            <a:endParaRPr/>
          </a:p>
          <a:p>
            <a:pPr indent="-298450" lvl="0" marL="457200" rtl="0" algn="l">
              <a:lnSpc>
                <a:spcPct val="100000"/>
              </a:lnSpc>
              <a:spcBef>
                <a:spcPts val="0"/>
              </a:spcBef>
              <a:spcAft>
                <a:spcPts val="0"/>
              </a:spcAft>
              <a:buSzPts val="1100"/>
              <a:buChar char="●"/>
            </a:pPr>
            <a:r>
              <a:rPr lang="ko" sz="1100"/>
              <a:t>This is the key limitation discussed in the paper. Many transform-based methods successfully hide the face from human observers. However, visually hidden does not always mean secure. Small visual or texture clues may still remain inside the protective representation. An attacker can collect protected and original face pairs and train a neural network to reconstruct the original face. Therefore, the problem is not only whether humans can see the face, but also whether a machine learning attacker can recover it. As shown in this figure, previous methods gradually remove visual information, but incomplete removal can still allow successful recovery attacks.</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h5b4998001508b6ad_4_165: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32" name="Google Shape;232;h5b4998001508b6ad_4_16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[~70 s]  (Point to Figure 2)</a:t>
            </a:r>
            <a:endParaRPr/>
          </a:p>
          <a:p>
            <a:pPr indent="-298450" lvl="0" marL="457200" rtl="0" algn="l">
              <a:lnSpc>
                <a:spcPct val="100000"/>
              </a:lnSpc>
              <a:spcBef>
                <a:spcPts val="0"/>
              </a:spcBef>
              <a:spcAft>
                <a:spcPts val="0"/>
              </a:spcAft>
              <a:buSzPts val="1100"/>
              <a:buChar char="●"/>
            </a:pPr>
            <a:r>
              <a:rPr lang="ko" sz="1100"/>
              <a:t>The authors approach the problem from a different direction. Their key inspiration comes from image compression. During compression, some subtle information, such as texture details and color variations, is removed. Interestingly, the removed residual information looks almost meaningless to humans, but it still contains some descriptive information about the original image. This observation leads to a new question: instead of manually finding which visual features should be removed, can we learn a residual representation that contains very little visual information but still preserves identity information?</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1" name="Shape 251"/>
        <p:cNvGrpSpPr/>
        <p:nvPr/>
      </p:nvGrpSpPr>
      <p:grpSpPr>
        <a:xfrm>
          <a:off x="0" y="0"/>
          <a:ext cx="0" cy="0"/>
          <a:chOff x="0" y="0"/>
          <a:chExt cx="0" cy="0"/>
        </a:xfrm>
      </p:grpSpPr>
      <p:sp>
        <p:nvSpPr>
          <p:cNvPr id="252" name="Google Shape;252;h5b4998001508b6ad_4_184: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53" name="Google Shape;253;h5b4998001508b6ad_4_1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[~60 s]</a:t>
            </a:r>
            <a:endParaRPr/>
          </a:p>
          <a:p>
            <a:pPr indent="-298450" lvl="0" marL="457200" rtl="0" algn="l">
              <a:lnSpc>
                <a:spcPct val="100000"/>
              </a:lnSpc>
              <a:spcBef>
                <a:spcPts val="0"/>
              </a:spcBef>
              <a:spcAft>
                <a:spcPts val="0"/>
              </a:spcAft>
              <a:buSzPts val="1100"/>
              <a:buChar char="●"/>
            </a:pPr>
            <a:r>
              <a:rPr lang="ko" sz="1100"/>
              <a:t>Based on this idea, the authors propose MinusFace. The first contribution is trainable feature subtraction, which learns a residue between the original face and its regenerated version. The second contribution is the use of a high-dimensional representation and random channel shuffling. These techniques are designed to preserve identity information while making recovery more difficult. Finally, the authors combine these components into the complete MinusFace framework and show that it achieves high recognition accuracy together with stronger privacy protection.</a:t>
            </a:r>
            <a:endParaRPr/>
          </a:p>
          <a:p>
            <a:pPr indent="-228600" lvl="0" marL="457200" rtl="0" algn="l">
              <a:lnSpc>
                <a:spcPct val="100000"/>
              </a:lnSpc>
              <a:spcBef>
                <a:spcPts val="0"/>
              </a:spcBef>
              <a:spcAft>
                <a:spcPts val="0"/>
              </a:spcAft>
              <a:buSzPts val="1100"/>
              <a:buNone/>
            </a:pPr>
            <a:r>
              <a:t/>
            </a:r>
            <a:endParaRPr sz="1100"/>
          </a:p>
          <a:p>
            <a:pPr indent="-298450" lvl="0" marL="457200" rtl="0" algn="l">
              <a:lnSpc>
                <a:spcPct val="100000"/>
              </a:lnSpc>
              <a:spcBef>
                <a:spcPts val="0"/>
              </a:spcBef>
              <a:spcAft>
                <a:spcPts val="0"/>
              </a:spcAft>
              <a:buSzPts val="1100"/>
              <a:buChar char="●"/>
            </a:pPr>
            <a:r>
              <a:rPr lang="ko" sz="1100"/>
              <a:t>Transition: Next, [Name] will explain how MinusFace performs feature subtraction and random channel shuffling.</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4" name="Shape 284"/>
        <p:cNvGrpSpPr/>
        <p:nvPr/>
      </p:nvGrpSpPr>
      <p:grpSpPr>
        <a:xfrm>
          <a:off x="0" y="0"/>
          <a:ext cx="0" cy="0"/>
          <a:chOff x="0" y="0"/>
          <a:chExt cx="0" cy="0"/>
        </a:xfrm>
      </p:grpSpPr>
      <p:sp>
        <p:nvSpPr>
          <p:cNvPr id="285" name="Google Shape;285;h5e8a9cbeb9bab10c_1_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86" name="Google Shape;286;h5e8a9cbeb9bab10c_1_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Opening: So we have established that this paper’s main goal is privacy-preserving face recognition. In a conventional service, a device sends a face image to a server. The server extracts an identity template and compares it with enrolled templates, but the image reveals appearance. MinusFace protects it before transmission. Read steps 1–5 briefly, tracing the top row and subtraction in Figure 4. Save detailed explanations for the following slides.</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287" name="Google Shape;287;h5e8a9cbeb9bab10c_1_5: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7" name="Shape 297"/>
        <p:cNvGrpSpPr/>
        <p:nvPr/>
      </p:nvGrpSpPr>
      <p:grpSpPr>
        <a:xfrm>
          <a:off x="0" y="0"/>
          <a:ext cx="0" cy="0"/>
          <a:chOff x="0" y="0"/>
          <a:chExt cx="0" cy="0"/>
        </a:xfrm>
      </p:grpSpPr>
      <p:sp>
        <p:nvSpPr>
          <p:cNvPr id="298" name="Google Shape;298;h5e8a9cbeb9bab10c_1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99" name="Google Shape;299;h5e8a9cbeb9bab10c_1_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Read this overview briefly. Six: f reads r, and ArcFace loss uses the correct identity y. Seven: combine reconstruction and recognition losses and train. Eight: shuffle residual channels and decode Xp. Nine: freeze g, discard f, train fp on protected images. Ten: endpoint produces Xp, server recognizes it. The two goals are close reconstructed appearance and identity-informative residuals. Transition: I will now go deeper into the explanation of each step.</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300" name="Google Shape;300;h5e8a9cbeb9bab10c_1_16: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10" name="Shape 310"/>
        <p:cNvGrpSpPr/>
        <p:nvPr/>
      </p:nvGrpSpPr>
      <p:grpSpPr>
        <a:xfrm>
          <a:off x="0" y="0"/>
          <a:ext cx="0" cy="0"/>
          <a:chOff x="0" y="0"/>
          <a:chExt cx="0" cy="0"/>
        </a:xfrm>
      </p:grpSpPr>
      <p:sp>
        <p:nvSpPr>
          <p:cNvPr id="311" name="Google Shape;311;h5e8a9cbeb9bab10c_1_2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12" name="Google Shape;312;h5e8a9cbeb9bab10c_1_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Point to X, encoder e, stack x, reconstruction g, x prime, decoder d, X prime. X is the original photo. e is fixed DCT-based encoding into 192 channels. The stack is one image represented numerically. Reduced U-Net g produces x prime. d decodes it to a reconstructed image X prime. Why: the expanded representation supports useful residuals; reconstruction supplies what we subtract; decoding lets us check appearance. DCT does not create new information. Appendix A.3 gives three colour channels times 64 frequencies, with upsampling.</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313" name="Google Shape;313;h5e8a9cbeb9bab10c_1_27: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4" name="Shape 324"/>
        <p:cNvGrpSpPr/>
        <p:nvPr/>
      </p:nvGrpSpPr>
      <p:grpSpPr>
        <a:xfrm>
          <a:off x="0" y="0"/>
          <a:ext cx="0" cy="0"/>
          <a:chOff x="0" y="0"/>
          <a:chExt cx="0" cy="0"/>
        </a:xfrm>
      </p:grpSpPr>
      <p:sp>
        <p:nvSpPr>
          <p:cNvPr id="325" name="Google Shape;325;h5e8a9cbeb9bab10c_1_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26" name="Google Shape;326;h5e8a9cbeb9bab10c_1_3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Point to branches from x and x prime into subtraction, then r in Figure 4(c). r is a full array of leftover differences, not a loss score. Toy example [100,80,60] minus [97,82,60] leaves [3,-2,0]. Why: this residual is trained to carry identity clues and becomes the basis of the protected output. Point to d and dark R prime. d(r) equals X minus X prime; it is nearly blank. Appendix B.1 explains that model-generated expanded arrays can decode to similar images while retaining different channel information. If all r were zero, the recognizer would receive identical inputs for all people.</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327" name="Google Shape;327;h5e8a9cbeb9bab10c_1_3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9" name="Shape 339"/>
        <p:cNvGrpSpPr/>
        <p:nvPr/>
      </p:nvGrpSpPr>
      <p:grpSpPr>
        <a:xfrm>
          <a:off x="0" y="0"/>
          <a:ext cx="0" cy="0"/>
          <a:chOff x="0" y="0"/>
          <a:chExt cx="0" cy="0"/>
        </a:xfrm>
      </p:grpSpPr>
      <p:sp>
        <p:nvSpPr>
          <p:cNvPr id="340" name="Google Shape;340;h5e8a9cbeb9bab10c_1_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41" name="Google Shape;341;h5e8a9cbeb9bab10c_1_5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Point to X and X prime in Figure 4, then Lgen. Reconstruction sums absolute image differences. For [3,-2,0], the L1 score is five, which is an illustrative error rather than a target. Then point to r, f, Lfr: ArcFace evaluates identity features against correct y. y checks the answer rather than entering f as a hint. Alpha and beta weight objectives. Appendix uses alpha five and beta one. Backpropagation updates g from both and f from recognition. Fixed e and d transmit gradients but do not learn. Why: reconstruction alone can remove identity clues; recognition alone does not ensure concealed decoded appearance.</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342" name="Google Shape;342;h5e8a9cbeb9bab10c_1_52: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8" name="Shape 358"/>
        <p:cNvGrpSpPr/>
        <p:nvPr/>
      </p:nvGrpSpPr>
      <p:grpSpPr>
        <a:xfrm>
          <a:off x="0" y="0"/>
          <a:ext cx="0" cy="0"/>
          <a:chOff x="0" y="0"/>
          <a:chExt cx="0" cy="0"/>
        </a:xfrm>
      </p:grpSpPr>
      <p:sp>
        <p:nvSpPr>
          <p:cNvPr id="359" name="Google Shape;359;h5e8a9cbeb9bab10c_1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0" name="Google Shape;360;h5e8a9cbeb9bab10c_1_6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Figure 4(b): point to shuffle, reordered stack, d, Xp. Individual residual channels may expose subtle facial information. Reorder entire channels rather than pixels or identity predictions. Theta sets a sample-wise random order. Decoder combines them into protected image Xp. Figure 5(a) is one original; (b) shows residual channels; (c) shows different protected images from different shuffles. Toy channel order A-B-C becomes C-A-B while each channel retains contents. Why: obscure textures and randomize appearance while supporting recognition. Recognition accuracy and recovery resistance are evaluated experimentally; 192 factorial permutations alone are not a security proof.</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361" name="Google Shape;361;h5e8a9cbeb9bab10c_1_69: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h5e8a9cbeb9bab10c_1_8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h5e8a9cbeb9bab10c_1_8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298450" lvl="0" marL="457200" rtl="0" algn="l">
              <a:lnSpc>
                <a:spcPct val="100000"/>
              </a:lnSpc>
              <a:spcBef>
                <a:spcPts val="0"/>
              </a:spcBef>
              <a:spcAft>
                <a:spcPts val="0"/>
              </a:spcAft>
              <a:buSzPts val="1100"/>
              <a:buChar char="●"/>
            </a:pPr>
            <a:r>
              <a:rPr lang="ko" sz="1100"/>
              <a:t>Point to full Figure 4, then training and use labels. First jointly learn g and f. Freeze g and discard training f. Then train fp on protected images, with three shuffle variants per original in the appendix. f reads 192-channel r; fp reads ordinary protected image Xp. Why: final server model must learn the input it actually receives. During use, device performs encoding, g reconstruction, subtraction, shuffle and decoding before transmitting Xp. Server fp extracts identity features and matches templates. No retraining g for each submission, and no reconstruction of the clear original is required.</a:t>
            </a:r>
            <a:endParaRPr/>
          </a:p>
          <a:p>
            <a:pPr indent="-298450" lvl="0" marL="457200" rtl="0" algn="l">
              <a:lnSpc>
                <a:spcPct val="100000"/>
              </a:lnSpc>
              <a:spcBef>
                <a:spcPts val="0"/>
              </a:spcBef>
              <a:spcAft>
                <a:spcPts val="0"/>
              </a:spcAft>
              <a:buSzPts val="1100"/>
              <a:buChar char="●"/>
            </a:pPr>
            <a:r>
              <a:t/>
            </a:r>
            <a:endParaRPr sz="1100"/>
          </a:p>
          <a:p>
            <a:pPr indent="-298450" lvl="0" marL="457200" rtl="0" algn="l">
              <a:lnSpc>
                <a:spcPct val="100000"/>
              </a:lnSpc>
              <a:spcBef>
                <a:spcPts val="0"/>
              </a:spcBef>
              <a:spcAft>
                <a:spcPts val="0"/>
              </a:spcAft>
              <a:buSzPts val="1100"/>
              <a:buChar char="●"/>
            </a:pPr>
            <a:r>
              <a:rPr lang="ko" sz="1100"/>
              <a:t>Source: Mi et al., Privacy-Preserving Face Recognition Using Trainable Feature Subtraction, CVPR 2024. https://arxiv.org/pdf/2403.12457. Figures reproduced/cropped under CC BY 4.0. Sections 3.1–3.5; Appendix A.3 and B.1.</a:t>
            </a:r>
            <a:endParaRPr/>
          </a:p>
        </p:txBody>
      </p:sp>
      <p:sp>
        <p:nvSpPr>
          <p:cNvPr id="378" name="Google Shape;378;h5e8a9cbeb9bab10c_1_84:notes"/>
          <p:cNvSpPr txBox="1"/>
          <p:nvPr>
            <p:ph idx="12" type="sldNum"/>
          </p:nvPr>
        </p:nvSpPr>
        <p:spPr>
          <a:xfrm>
            <a:off x="0" y="0"/>
            <a:ext cx="3000000" cy="3000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pc="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3" name="Shape 393"/>
        <p:cNvGrpSpPr/>
        <p:nvPr/>
      </p:nvGrpSpPr>
      <p:grpSpPr>
        <a:xfrm>
          <a:off x="0" y="0"/>
          <a:ext cx="0" cy="0"/>
          <a:chOff x="0" y="0"/>
          <a:chExt cx="0" cy="0"/>
        </a:xfrm>
      </p:grpSpPr>
      <p:sp>
        <p:nvSpPr>
          <p:cNvPr id="394" name="Google Shape;394;g3d39bd106c3_0_6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5" name="Google Shape;395;g3d39bd106c3_0_6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8" name="Shape 418"/>
        <p:cNvGrpSpPr/>
        <p:nvPr/>
      </p:nvGrpSpPr>
      <p:grpSpPr>
        <a:xfrm>
          <a:off x="0" y="0"/>
          <a:ext cx="0" cy="0"/>
          <a:chOff x="0" y="0"/>
          <a:chExt cx="0" cy="0"/>
        </a:xfrm>
      </p:grpSpPr>
      <p:sp>
        <p:nvSpPr>
          <p:cNvPr id="419" name="Google Shape;419;g3d39bd106c3_0_5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0" name="Google Shape;420;g3d39bd106c3_0_5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40" name="Shape 440"/>
        <p:cNvGrpSpPr/>
        <p:nvPr/>
      </p:nvGrpSpPr>
      <p:grpSpPr>
        <a:xfrm>
          <a:off x="0" y="0"/>
          <a:ext cx="0" cy="0"/>
          <a:chOff x="0" y="0"/>
          <a:chExt cx="0" cy="0"/>
        </a:xfrm>
      </p:grpSpPr>
      <p:sp>
        <p:nvSpPr>
          <p:cNvPr id="441" name="Google Shape;441;g3d4ec852c1f_0_1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2" name="Google Shape;442;g3d4ec852c1f_0_1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7" name="Shape 457"/>
        <p:cNvGrpSpPr/>
        <p:nvPr/>
      </p:nvGrpSpPr>
      <p:grpSpPr>
        <a:xfrm>
          <a:off x="0" y="0"/>
          <a:ext cx="0" cy="0"/>
          <a:chOff x="0" y="0"/>
          <a:chExt cx="0" cy="0"/>
        </a:xfrm>
      </p:grpSpPr>
      <p:sp>
        <p:nvSpPr>
          <p:cNvPr id="458" name="Google Shape;458;h742f869bdce1289f_2_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9" name="Google Shape;459;h742f869bdce1289f_2_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69" name="Shape 469"/>
        <p:cNvGrpSpPr/>
        <p:nvPr/>
      </p:nvGrpSpPr>
      <p:grpSpPr>
        <a:xfrm>
          <a:off x="0" y="0"/>
          <a:ext cx="0" cy="0"/>
          <a:chOff x="0" y="0"/>
          <a:chExt cx="0" cy="0"/>
        </a:xfrm>
      </p:grpSpPr>
      <p:sp>
        <p:nvSpPr>
          <p:cNvPr id="470" name="Google Shape;470;h6432b7132bcb6b9_1_5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1" name="Google Shape;471;h6432b7132bcb6b9_1_5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lnSpc>
                <a:spcPct val="115000"/>
              </a:lnSpc>
              <a:spcBef>
                <a:spcPts val="1400"/>
              </a:spcBef>
              <a:spcAft>
                <a:spcPts val="0"/>
              </a:spcAft>
              <a:buClr>
                <a:schemeClr val="dk1"/>
              </a:buClr>
              <a:buSzPts val="1100"/>
              <a:buFont typeface="Arial"/>
              <a:buNone/>
            </a:pPr>
            <a:r>
              <a:rPr b="1" lang="ko" sz="1300">
                <a:solidFill>
                  <a:schemeClr val="dk1"/>
                </a:solidFill>
              </a:rPr>
              <a:t>Embedding privacy is not evaluated</a:t>
            </a:r>
            <a:endParaRPr b="1" sz="1300">
              <a:solidFill>
                <a:schemeClr val="dk1"/>
              </a:solidFill>
            </a:endParaRPr>
          </a:p>
          <a:p>
            <a:pPr indent="-298450" lvl="0" marL="457200" rtl="0" algn="l">
              <a:lnSpc>
                <a:spcPct val="115000"/>
              </a:lnSpc>
              <a:spcBef>
                <a:spcPts val="1200"/>
              </a:spcBef>
              <a:spcAft>
                <a:spcPts val="0"/>
              </a:spcAft>
              <a:buClr>
                <a:schemeClr val="dk1"/>
              </a:buClr>
              <a:buSzPts val="1100"/>
              <a:buChar char="●"/>
            </a:pPr>
            <a:r>
              <a:rPr lang="ko">
                <a:solidFill>
                  <a:schemeClr val="dk1"/>
                </a:solidFill>
              </a:rPr>
              <a:t>The paper mainly evaluates </a:t>
            </a:r>
            <a:r>
              <a:rPr b="1" lang="ko">
                <a:solidFill>
                  <a:schemeClr val="dk1"/>
                </a:solidFill>
              </a:rPr>
              <a:t>visual privacy and reconstruction attacks</a:t>
            </a:r>
            <a:r>
              <a:rPr lang="ko">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ko">
                <a:solidFill>
                  <a:schemeClr val="dk1"/>
                </a:solidFill>
              </a:rPr>
              <a:t>It does not study whether the </a:t>
            </a:r>
            <a:r>
              <a:rPr b="1" lang="ko">
                <a:solidFill>
                  <a:schemeClr val="dk1"/>
                </a:solidFill>
              </a:rPr>
              <a:t>identity embedding itself leaks sensitive identity information</a:t>
            </a:r>
            <a:r>
              <a:rPr lang="ko">
                <a:solidFill>
                  <a:schemeClr val="dk1"/>
                </a:solidFill>
              </a:rPr>
              <a:t>.</a:t>
            </a:r>
            <a:endParaRPr>
              <a:solidFill>
                <a:schemeClr val="dk1"/>
              </a:solidFill>
            </a:endParaRPr>
          </a:p>
          <a:p>
            <a:pPr indent="-298450" lvl="0" marL="457200" rtl="0" algn="l">
              <a:lnSpc>
                <a:spcPct val="115000"/>
              </a:lnSpc>
              <a:spcBef>
                <a:spcPts val="0"/>
              </a:spcBef>
              <a:spcAft>
                <a:spcPts val="0"/>
              </a:spcAft>
              <a:buClr>
                <a:schemeClr val="dk1"/>
              </a:buClr>
              <a:buSzPts val="1100"/>
              <a:buChar char="●"/>
            </a:pPr>
            <a:r>
              <a:rPr lang="ko">
                <a:solidFill>
                  <a:schemeClr val="dk1"/>
                </a:solidFill>
              </a:rPr>
              <a:t>An exposed embedding could potentially be used for </a:t>
            </a:r>
            <a:r>
              <a:rPr b="1" lang="ko">
                <a:solidFill>
                  <a:schemeClr val="dk1"/>
                </a:solidFill>
              </a:rPr>
              <a:t>re-identification, tracking, or face generation</a:t>
            </a:r>
            <a:r>
              <a:rPr lang="ko">
                <a:solidFill>
                  <a:schemeClr val="dk1"/>
                </a:solidFill>
              </a:rPr>
              <a:t>.</a:t>
            </a:r>
            <a:endParaRPr>
              <a:solidFill>
                <a:schemeClr val="dk1"/>
              </a:solidFill>
            </a:endParaRPr>
          </a:p>
          <a:p>
            <a:pPr indent="0" lvl="0" marL="0" rtl="0" algn="l">
              <a:spcBef>
                <a:spcPts val="120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1" name="Shape 481"/>
        <p:cNvGrpSpPr/>
        <p:nvPr/>
      </p:nvGrpSpPr>
      <p:grpSpPr>
        <a:xfrm>
          <a:off x="0" y="0"/>
          <a:ext cx="0" cy="0"/>
          <a:chOff x="0" y="0"/>
          <a:chExt cx="0" cy="0"/>
        </a:xfrm>
      </p:grpSpPr>
      <p:sp>
        <p:nvSpPr>
          <p:cNvPr id="482" name="Google Shape;482;g3d4ec852c1f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3" name="Google Shape;483;g3d4ec852c1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54" name="Shape 54"/>
        <p:cNvGrpSpPr/>
        <p:nvPr/>
      </p:nvGrpSpPr>
      <p:grpSpPr>
        <a:xfrm>
          <a:off x="0" y="0"/>
          <a:ext cx="0" cy="0"/>
          <a:chOff x="0" y="0"/>
          <a:chExt cx="0" cy="0"/>
        </a:xfrm>
      </p:grpSpPr>
      <p:sp>
        <p:nvSpPr>
          <p:cNvPr id="55" name="Google Shape;55;p1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56" name="Shape 56"/>
        <p:cNvGrpSpPr/>
        <p:nvPr/>
      </p:nvGrpSpPr>
      <p:grpSpPr>
        <a:xfrm>
          <a:off x="0" y="0"/>
          <a:ext cx="0" cy="0"/>
          <a:chOff x="0" y="0"/>
          <a:chExt cx="0" cy="0"/>
        </a:xfrm>
      </p:grpSpPr>
      <p:sp>
        <p:nvSpPr>
          <p:cNvPr id="57" name="Google Shape;57;p15"/>
          <p:cNvSpPr txBox="1"/>
          <p:nvPr>
            <p:ph type="ctrTitle"/>
          </p:nvPr>
        </p:nvSpPr>
        <p:spPr>
          <a:xfrm>
            <a:off x="311708" y="744575"/>
            <a:ext cx="8520600" cy="20526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5200"/>
              <a:buNone/>
              <a:defRPr sz="52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p:txBody>
      </p:sp>
      <p:sp>
        <p:nvSpPr>
          <p:cNvPr id="58" name="Google Shape;58;p15"/>
          <p:cNvSpPr txBox="1"/>
          <p:nvPr>
            <p:ph idx="1" type="subTitle"/>
          </p:nvPr>
        </p:nvSpPr>
        <p:spPr>
          <a:xfrm>
            <a:off x="311700" y="2834125"/>
            <a:ext cx="8520600" cy="7926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59" name="Google Shape;59;p15"/>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60" name="Shape 60"/>
        <p:cNvGrpSpPr/>
        <p:nvPr/>
      </p:nvGrpSpPr>
      <p:grpSpPr>
        <a:xfrm>
          <a:off x="0" y="0"/>
          <a:ext cx="0" cy="0"/>
          <a:chOff x="0" y="0"/>
          <a:chExt cx="0" cy="0"/>
        </a:xfrm>
      </p:grpSpPr>
      <p:sp>
        <p:nvSpPr>
          <p:cNvPr id="61" name="Google Shape;61;p16"/>
          <p:cNvSpPr txBox="1"/>
          <p:nvPr>
            <p:ph type="title"/>
          </p:nvPr>
        </p:nvSpPr>
        <p:spPr>
          <a:xfrm>
            <a:off x="311700" y="2150850"/>
            <a:ext cx="8520600" cy="841800"/>
          </a:xfrm>
          <a:prstGeom prst="rect">
            <a:avLst/>
          </a:prstGeom>
          <a:noFill/>
          <a:ln>
            <a:noFill/>
          </a:ln>
        </p:spPr>
        <p:txBody>
          <a:bodyPr anchorCtr="0" anchor="ctr" bIns="91425" lIns="91425" spcFirstLastPara="1" rIns="91425" wrap="square" tIns="91425">
            <a:norm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p:txBody>
      </p:sp>
      <p:sp>
        <p:nvSpPr>
          <p:cNvPr id="62" name="Google Shape;62;p16"/>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63" name="Shape 63"/>
        <p:cNvGrpSpPr/>
        <p:nvPr/>
      </p:nvGrpSpPr>
      <p:grpSpPr>
        <a:xfrm>
          <a:off x="0" y="0"/>
          <a:ext cx="0" cy="0"/>
          <a:chOff x="0" y="0"/>
          <a:chExt cx="0" cy="0"/>
        </a:xfrm>
      </p:grpSpPr>
      <p:sp>
        <p:nvSpPr>
          <p:cNvPr id="64" name="Google Shape;64;p17"/>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5" name="Google Shape;65;p17"/>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66" name="Google Shape;66;p17"/>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67" name="Shape 67"/>
        <p:cNvGrpSpPr/>
        <p:nvPr/>
      </p:nvGrpSpPr>
      <p:grpSpPr>
        <a:xfrm>
          <a:off x="0" y="0"/>
          <a:ext cx="0" cy="0"/>
          <a:chOff x="0" y="0"/>
          <a:chExt cx="0" cy="0"/>
        </a:xfrm>
      </p:grpSpPr>
      <p:sp>
        <p:nvSpPr>
          <p:cNvPr id="68" name="Google Shape;68;p18"/>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69" name="Google Shape;69;p18"/>
          <p:cNvSpPr txBox="1"/>
          <p:nvPr>
            <p:ph idx="1" type="body"/>
          </p:nvPr>
        </p:nvSpPr>
        <p:spPr>
          <a:xfrm>
            <a:off x="3117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0" name="Google Shape;70;p18"/>
          <p:cNvSpPr txBox="1"/>
          <p:nvPr>
            <p:ph idx="2" type="body"/>
          </p:nvPr>
        </p:nvSpPr>
        <p:spPr>
          <a:xfrm>
            <a:off x="4832400" y="1152475"/>
            <a:ext cx="3999900" cy="3416400"/>
          </a:xfrm>
          <a:prstGeom prst="rect">
            <a:avLst/>
          </a:prstGeom>
          <a:noFill/>
          <a:ln>
            <a:noFill/>
          </a:ln>
        </p:spPr>
        <p:txBody>
          <a:bodyPr anchorCtr="0" anchor="t" bIns="91425" lIns="91425" spcFirstLastPara="1" rIns="91425" wrap="square" tIns="91425">
            <a:normAutofit/>
          </a:bodyPr>
          <a:lstStyle>
            <a:lvl1pPr indent="-317500" lvl="0" marL="457200" algn="l">
              <a:lnSpc>
                <a:spcPct val="115000"/>
              </a:lnSpc>
              <a:spcBef>
                <a:spcPts val="0"/>
              </a:spcBef>
              <a:spcAft>
                <a:spcPts val="0"/>
              </a:spcAft>
              <a:buSzPts val="1400"/>
              <a:buChar char="●"/>
              <a:defRPr sz="14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1" name="Google Shape;71;p18"/>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72" name="Shape 72"/>
        <p:cNvGrpSpPr/>
        <p:nvPr/>
      </p:nvGrpSpPr>
      <p:grpSpPr>
        <a:xfrm>
          <a:off x="0" y="0"/>
          <a:ext cx="0" cy="0"/>
          <a:chOff x="0" y="0"/>
          <a:chExt cx="0" cy="0"/>
        </a:xfrm>
      </p:grpSpPr>
      <p:sp>
        <p:nvSpPr>
          <p:cNvPr id="73" name="Google Shape;73;p19"/>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lgn="l">
              <a:lnSpc>
                <a:spcPct val="100000"/>
              </a:lnSpc>
              <a:spcBef>
                <a:spcPts val="0"/>
              </a:spcBef>
              <a:spcAft>
                <a:spcPts val="0"/>
              </a:spcAft>
              <a:buSzPts val="2800"/>
              <a:buNone/>
              <a:defRPr/>
            </a:lvl1pPr>
            <a:lvl2pPr lvl="1" algn="l">
              <a:lnSpc>
                <a:spcPct val="100000"/>
              </a:lnSpc>
              <a:spcBef>
                <a:spcPts val="0"/>
              </a:spcBef>
              <a:spcAft>
                <a:spcPts val="0"/>
              </a:spcAft>
              <a:buSzPts val="2800"/>
              <a:buNone/>
              <a:defRPr/>
            </a:lvl2pPr>
            <a:lvl3pPr lvl="2" algn="l">
              <a:lnSpc>
                <a:spcPct val="100000"/>
              </a:lnSpc>
              <a:spcBef>
                <a:spcPts val="0"/>
              </a:spcBef>
              <a:spcAft>
                <a:spcPts val="0"/>
              </a:spcAft>
              <a:buSzPts val="2800"/>
              <a:buNone/>
              <a:defRPr/>
            </a:lvl3pPr>
            <a:lvl4pPr lvl="3" algn="l">
              <a:lnSpc>
                <a:spcPct val="100000"/>
              </a:lnSpc>
              <a:spcBef>
                <a:spcPts val="0"/>
              </a:spcBef>
              <a:spcAft>
                <a:spcPts val="0"/>
              </a:spcAft>
              <a:buSzPts val="2800"/>
              <a:buNone/>
              <a:defRPr/>
            </a:lvl4pPr>
            <a:lvl5pPr lvl="4" algn="l">
              <a:lnSpc>
                <a:spcPct val="100000"/>
              </a:lnSpc>
              <a:spcBef>
                <a:spcPts val="0"/>
              </a:spcBef>
              <a:spcAft>
                <a:spcPts val="0"/>
              </a:spcAft>
              <a:buSzPts val="2800"/>
              <a:buNone/>
              <a:defRPr/>
            </a:lvl5pPr>
            <a:lvl6pPr lvl="5" algn="l">
              <a:lnSpc>
                <a:spcPct val="100000"/>
              </a:lnSpc>
              <a:spcBef>
                <a:spcPts val="0"/>
              </a:spcBef>
              <a:spcAft>
                <a:spcPts val="0"/>
              </a:spcAft>
              <a:buSzPts val="2800"/>
              <a:buNone/>
              <a:defRPr/>
            </a:lvl6pPr>
            <a:lvl7pPr lvl="6" algn="l">
              <a:lnSpc>
                <a:spcPct val="100000"/>
              </a:lnSpc>
              <a:spcBef>
                <a:spcPts val="0"/>
              </a:spcBef>
              <a:spcAft>
                <a:spcPts val="0"/>
              </a:spcAft>
              <a:buSzPts val="2800"/>
              <a:buNone/>
              <a:defRPr/>
            </a:lvl7pPr>
            <a:lvl8pPr lvl="7" algn="l">
              <a:lnSpc>
                <a:spcPct val="100000"/>
              </a:lnSpc>
              <a:spcBef>
                <a:spcPts val="0"/>
              </a:spcBef>
              <a:spcAft>
                <a:spcPts val="0"/>
              </a:spcAft>
              <a:buSzPts val="2800"/>
              <a:buNone/>
              <a:defRPr/>
            </a:lvl8pPr>
            <a:lvl9pPr lvl="8" algn="l">
              <a:lnSpc>
                <a:spcPct val="100000"/>
              </a:lnSpc>
              <a:spcBef>
                <a:spcPts val="0"/>
              </a:spcBef>
              <a:spcAft>
                <a:spcPts val="0"/>
              </a:spcAft>
              <a:buSzPts val="2800"/>
              <a:buNone/>
              <a:defRPr/>
            </a:lvl9pPr>
          </a:lstStyle>
          <a:p/>
        </p:txBody>
      </p:sp>
      <p:sp>
        <p:nvSpPr>
          <p:cNvPr id="74" name="Google Shape;74;p19"/>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75" name="Shape 75"/>
        <p:cNvGrpSpPr/>
        <p:nvPr/>
      </p:nvGrpSpPr>
      <p:grpSpPr>
        <a:xfrm>
          <a:off x="0" y="0"/>
          <a:ext cx="0" cy="0"/>
          <a:chOff x="0" y="0"/>
          <a:chExt cx="0" cy="0"/>
        </a:xfrm>
      </p:grpSpPr>
      <p:sp>
        <p:nvSpPr>
          <p:cNvPr id="76" name="Google Shape;76;p20"/>
          <p:cNvSpPr txBox="1"/>
          <p:nvPr>
            <p:ph type="title"/>
          </p:nvPr>
        </p:nvSpPr>
        <p:spPr>
          <a:xfrm>
            <a:off x="311700" y="555600"/>
            <a:ext cx="2808000" cy="755700"/>
          </a:xfrm>
          <a:prstGeom prst="rect">
            <a:avLst/>
          </a:prstGeom>
          <a:noFill/>
          <a:ln>
            <a:noFill/>
          </a:ln>
        </p:spPr>
        <p:txBody>
          <a:bodyPr anchorCtr="0" anchor="b" bIns="91425" lIns="91425" spcFirstLastPara="1" rIns="91425" wrap="square" tIns="91425">
            <a:normAutofit/>
          </a:bodyPr>
          <a:lstStyle>
            <a:lvl1pPr lvl="0" algn="l">
              <a:lnSpc>
                <a:spcPct val="100000"/>
              </a:lnSpc>
              <a:spcBef>
                <a:spcPts val="0"/>
              </a:spcBef>
              <a:spcAft>
                <a:spcPts val="0"/>
              </a:spcAft>
              <a:buSzPts val="2400"/>
              <a:buNone/>
              <a:defRPr sz="2400"/>
            </a:lvl1pPr>
            <a:lvl2pPr lvl="1" algn="l">
              <a:lnSpc>
                <a:spcPct val="100000"/>
              </a:lnSpc>
              <a:spcBef>
                <a:spcPts val="0"/>
              </a:spcBef>
              <a:spcAft>
                <a:spcPts val="0"/>
              </a:spcAft>
              <a:buSzPts val="2400"/>
              <a:buNone/>
              <a:defRPr sz="2400"/>
            </a:lvl2pPr>
            <a:lvl3pPr lvl="2" algn="l">
              <a:lnSpc>
                <a:spcPct val="100000"/>
              </a:lnSpc>
              <a:spcBef>
                <a:spcPts val="0"/>
              </a:spcBef>
              <a:spcAft>
                <a:spcPts val="0"/>
              </a:spcAft>
              <a:buSzPts val="2400"/>
              <a:buNone/>
              <a:defRPr sz="2400"/>
            </a:lvl3pPr>
            <a:lvl4pPr lvl="3" algn="l">
              <a:lnSpc>
                <a:spcPct val="100000"/>
              </a:lnSpc>
              <a:spcBef>
                <a:spcPts val="0"/>
              </a:spcBef>
              <a:spcAft>
                <a:spcPts val="0"/>
              </a:spcAft>
              <a:buSzPts val="2400"/>
              <a:buNone/>
              <a:defRPr sz="2400"/>
            </a:lvl4pPr>
            <a:lvl5pPr lvl="4" algn="l">
              <a:lnSpc>
                <a:spcPct val="100000"/>
              </a:lnSpc>
              <a:spcBef>
                <a:spcPts val="0"/>
              </a:spcBef>
              <a:spcAft>
                <a:spcPts val="0"/>
              </a:spcAft>
              <a:buSzPts val="2400"/>
              <a:buNone/>
              <a:defRPr sz="2400"/>
            </a:lvl5pPr>
            <a:lvl6pPr lvl="5" algn="l">
              <a:lnSpc>
                <a:spcPct val="100000"/>
              </a:lnSpc>
              <a:spcBef>
                <a:spcPts val="0"/>
              </a:spcBef>
              <a:spcAft>
                <a:spcPts val="0"/>
              </a:spcAft>
              <a:buSzPts val="2400"/>
              <a:buNone/>
              <a:defRPr sz="2400"/>
            </a:lvl6pPr>
            <a:lvl7pPr lvl="6" algn="l">
              <a:lnSpc>
                <a:spcPct val="100000"/>
              </a:lnSpc>
              <a:spcBef>
                <a:spcPts val="0"/>
              </a:spcBef>
              <a:spcAft>
                <a:spcPts val="0"/>
              </a:spcAft>
              <a:buSzPts val="2400"/>
              <a:buNone/>
              <a:defRPr sz="2400"/>
            </a:lvl7pPr>
            <a:lvl8pPr lvl="7" algn="l">
              <a:lnSpc>
                <a:spcPct val="100000"/>
              </a:lnSpc>
              <a:spcBef>
                <a:spcPts val="0"/>
              </a:spcBef>
              <a:spcAft>
                <a:spcPts val="0"/>
              </a:spcAft>
              <a:buSzPts val="2400"/>
              <a:buNone/>
              <a:defRPr sz="2400"/>
            </a:lvl8pPr>
            <a:lvl9pPr lvl="8" algn="l">
              <a:lnSpc>
                <a:spcPct val="100000"/>
              </a:lnSpc>
              <a:spcBef>
                <a:spcPts val="0"/>
              </a:spcBef>
              <a:spcAft>
                <a:spcPts val="0"/>
              </a:spcAft>
              <a:buSzPts val="2400"/>
              <a:buNone/>
              <a:defRPr sz="2400"/>
            </a:lvl9pPr>
          </a:lstStyle>
          <a:p/>
        </p:txBody>
      </p:sp>
      <p:sp>
        <p:nvSpPr>
          <p:cNvPr id="77" name="Google Shape;77;p20"/>
          <p:cNvSpPr txBox="1"/>
          <p:nvPr>
            <p:ph idx="1" type="body"/>
          </p:nvPr>
        </p:nvSpPr>
        <p:spPr>
          <a:xfrm>
            <a:off x="311700" y="1389600"/>
            <a:ext cx="2808000" cy="3179400"/>
          </a:xfrm>
          <a:prstGeom prst="rect">
            <a:avLst/>
          </a:prstGeom>
          <a:noFill/>
          <a:ln>
            <a:noFill/>
          </a:ln>
        </p:spPr>
        <p:txBody>
          <a:bodyPr anchorCtr="0" anchor="t" bIns="91425" lIns="91425" spcFirstLastPara="1" rIns="91425" wrap="square" tIns="91425">
            <a:normAutofit/>
          </a:bodyPr>
          <a:lstStyle>
            <a:lvl1pPr indent="-304800" lvl="0" marL="457200" algn="l">
              <a:lnSpc>
                <a:spcPct val="115000"/>
              </a:lnSpc>
              <a:spcBef>
                <a:spcPts val="0"/>
              </a:spcBef>
              <a:spcAft>
                <a:spcPts val="0"/>
              </a:spcAft>
              <a:buSzPts val="1200"/>
              <a:buChar char="●"/>
              <a:defRPr sz="1200"/>
            </a:lvl1pPr>
            <a:lvl2pPr indent="-304800" lvl="1" marL="914400" algn="l">
              <a:lnSpc>
                <a:spcPct val="115000"/>
              </a:lnSpc>
              <a:spcBef>
                <a:spcPts val="0"/>
              </a:spcBef>
              <a:spcAft>
                <a:spcPts val="0"/>
              </a:spcAft>
              <a:buSzPts val="1200"/>
              <a:buChar char="○"/>
              <a:defRPr sz="1200"/>
            </a:lvl2pPr>
            <a:lvl3pPr indent="-304800" lvl="2" marL="1371600" algn="l">
              <a:lnSpc>
                <a:spcPct val="115000"/>
              </a:lnSpc>
              <a:spcBef>
                <a:spcPts val="0"/>
              </a:spcBef>
              <a:spcAft>
                <a:spcPts val="0"/>
              </a:spcAft>
              <a:buSzPts val="1200"/>
              <a:buChar char="■"/>
              <a:defRPr sz="1200"/>
            </a:lvl3pPr>
            <a:lvl4pPr indent="-304800" lvl="3" marL="1828800" algn="l">
              <a:lnSpc>
                <a:spcPct val="115000"/>
              </a:lnSpc>
              <a:spcBef>
                <a:spcPts val="0"/>
              </a:spcBef>
              <a:spcAft>
                <a:spcPts val="0"/>
              </a:spcAft>
              <a:buSzPts val="1200"/>
              <a:buChar char="●"/>
              <a:defRPr sz="1200"/>
            </a:lvl4pPr>
            <a:lvl5pPr indent="-304800" lvl="4" marL="2286000" algn="l">
              <a:lnSpc>
                <a:spcPct val="115000"/>
              </a:lnSpc>
              <a:spcBef>
                <a:spcPts val="0"/>
              </a:spcBef>
              <a:spcAft>
                <a:spcPts val="0"/>
              </a:spcAft>
              <a:buSzPts val="1200"/>
              <a:buChar char="○"/>
              <a:defRPr sz="1200"/>
            </a:lvl5pPr>
            <a:lvl6pPr indent="-304800" lvl="5" marL="2743200" algn="l">
              <a:lnSpc>
                <a:spcPct val="115000"/>
              </a:lnSpc>
              <a:spcBef>
                <a:spcPts val="0"/>
              </a:spcBef>
              <a:spcAft>
                <a:spcPts val="0"/>
              </a:spcAft>
              <a:buSzPts val="1200"/>
              <a:buChar char="■"/>
              <a:defRPr sz="1200"/>
            </a:lvl6pPr>
            <a:lvl7pPr indent="-304800" lvl="6" marL="3200400" algn="l">
              <a:lnSpc>
                <a:spcPct val="115000"/>
              </a:lnSpc>
              <a:spcBef>
                <a:spcPts val="0"/>
              </a:spcBef>
              <a:spcAft>
                <a:spcPts val="0"/>
              </a:spcAft>
              <a:buSzPts val="1200"/>
              <a:buChar char="●"/>
              <a:defRPr sz="1200"/>
            </a:lvl7pPr>
            <a:lvl8pPr indent="-304800" lvl="7" marL="3657600" algn="l">
              <a:lnSpc>
                <a:spcPct val="115000"/>
              </a:lnSpc>
              <a:spcBef>
                <a:spcPts val="0"/>
              </a:spcBef>
              <a:spcAft>
                <a:spcPts val="0"/>
              </a:spcAft>
              <a:buSzPts val="1200"/>
              <a:buChar char="○"/>
              <a:defRPr sz="1200"/>
            </a:lvl8pPr>
            <a:lvl9pPr indent="-304800" lvl="8" marL="4114800" algn="l">
              <a:lnSpc>
                <a:spcPct val="115000"/>
              </a:lnSpc>
              <a:spcBef>
                <a:spcPts val="0"/>
              </a:spcBef>
              <a:spcAft>
                <a:spcPts val="0"/>
              </a:spcAft>
              <a:buSzPts val="1200"/>
              <a:buChar char="■"/>
              <a:defRPr sz="1200"/>
            </a:lvl9pPr>
          </a:lstStyle>
          <a:p/>
        </p:txBody>
      </p:sp>
      <p:sp>
        <p:nvSpPr>
          <p:cNvPr id="78" name="Google Shape;78;p20"/>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79" name="Shape 79"/>
        <p:cNvGrpSpPr/>
        <p:nvPr/>
      </p:nvGrpSpPr>
      <p:grpSpPr>
        <a:xfrm>
          <a:off x="0" y="0"/>
          <a:ext cx="0" cy="0"/>
          <a:chOff x="0" y="0"/>
          <a:chExt cx="0" cy="0"/>
        </a:xfrm>
      </p:grpSpPr>
      <p:sp>
        <p:nvSpPr>
          <p:cNvPr id="80" name="Google Shape;80;p21"/>
          <p:cNvSpPr txBox="1"/>
          <p:nvPr>
            <p:ph type="title"/>
          </p:nvPr>
        </p:nvSpPr>
        <p:spPr>
          <a:xfrm>
            <a:off x="490250" y="450150"/>
            <a:ext cx="6367800" cy="4090800"/>
          </a:xfrm>
          <a:prstGeom prst="rect">
            <a:avLst/>
          </a:prstGeom>
          <a:noFill/>
          <a:ln>
            <a:noFill/>
          </a:ln>
        </p:spPr>
        <p:txBody>
          <a:bodyPr anchorCtr="0" anchor="ctr" bIns="91425" lIns="91425" spcFirstLastPara="1" rIns="91425" wrap="square" tIns="91425">
            <a:norm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p:txBody>
      </p:sp>
      <p:sp>
        <p:nvSpPr>
          <p:cNvPr id="81" name="Google Shape;81;p2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82" name="Shape 82"/>
        <p:cNvGrpSpPr/>
        <p:nvPr/>
      </p:nvGrpSpPr>
      <p:grpSpPr>
        <a:xfrm>
          <a:off x="0" y="0"/>
          <a:ext cx="0" cy="0"/>
          <a:chOff x="0" y="0"/>
          <a:chExt cx="0" cy="0"/>
        </a:xfrm>
      </p:grpSpPr>
      <p:sp>
        <p:nvSpPr>
          <p:cNvPr id="83" name="Google Shape;83;p22"/>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84" name="Google Shape;84;p22"/>
          <p:cNvSpPr txBox="1"/>
          <p:nvPr>
            <p:ph type="title"/>
          </p:nvPr>
        </p:nvSpPr>
        <p:spPr>
          <a:xfrm>
            <a:off x="265500" y="1233175"/>
            <a:ext cx="4045200" cy="14823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p:txBody>
      </p:sp>
      <p:sp>
        <p:nvSpPr>
          <p:cNvPr id="85" name="Google Shape;85;p22"/>
          <p:cNvSpPr txBox="1"/>
          <p:nvPr>
            <p:ph idx="1" type="subTitle"/>
          </p:nvPr>
        </p:nvSpPr>
        <p:spPr>
          <a:xfrm>
            <a:off x="265500" y="2803075"/>
            <a:ext cx="4045200" cy="1235100"/>
          </a:xfrm>
          <a:prstGeom prst="rect">
            <a:avLst/>
          </a:prstGeom>
          <a:noFill/>
          <a:ln>
            <a:noFill/>
          </a:ln>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86" name="Google Shape;86;p22"/>
          <p:cNvSpPr txBox="1"/>
          <p:nvPr>
            <p:ph idx="2" type="body"/>
          </p:nvPr>
        </p:nvSpPr>
        <p:spPr>
          <a:xfrm>
            <a:off x="4939500" y="724075"/>
            <a:ext cx="3837000" cy="3695100"/>
          </a:xfrm>
          <a:prstGeom prst="rect">
            <a:avLst/>
          </a:prstGeom>
          <a:noFill/>
          <a:ln>
            <a:noFill/>
          </a:ln>
        </p:spPr>
        <p:txBody>
          <a:bodyPr anchorCtr="0" anchor="ctr" bIns="91425" lIns="91425" spcFirstLastPara="1" rIns="91425" wrap="square" tIns="91425">
            <a:normAutofit/>
          </a:bodyPr>
          <a:lstStyle>
            <a:lvl1pPr indent="-342900" lvl="0" marL="457200" algn="l">
              <a:lnSpc>
                <a:spcPct val="115000"/>
              </a:lnSpc>
              <a:spcBef>
                <a:spcPts val="0"/>
              </a:spcBef>
              <a:spcAft>
                <a:spcPts val="0"/>
              </a:spcAft>
              <a:buSzPts val="1800"/>
              <a:buChar char="●"/>
              <a:defRPr/>
            </a:lvl1pPr>
            <a:lvl2pPr indent="-317500" lvl="1" marL="914400" algn="l">
              <a:lnSpc>
                <a:spcPct val="115000"/>
              </a:lnSpc>
              <a:spcBef>
                <a:spcPts val="0"/>
              </a:spcBef>
              <a:spcAft>
                <a:spcPts val="0"/>
              </a:spcAft>
              <a:buSzPts val="1400"/>
              <a:buChar char="○"/>
              <a:defRPr/>
            </a:lvl2pPr>
            <a:lvl3pPr indent="-317500" lvl="2" marL="1371600" algn="l">
              <a:lnSpc>
                <a:spcPct val="115000"/>
              </a:lnSpc>
              <a:spcBef>
                <a:spcPts val="0"/>
              </a:spcBef>
              <a:spcAft>
                <a:spcPts val="0"/>
              </a:spcAft>
              <a:buSzPts val="1400"/>
              <a:buChar char="■"/>
              <a:defRPr/>
            </a:lvl3pPr>
            <a:lvl4pPr indent="-317500" lvl="3" marL="1828800" algn="l">
              <a:lnSpc>
                <a:spcPct val="115000"/>
              </a:lnSpc>
              <a:spcBef>
                <a:spcPts val="0"/>
              </a:spcBef>
              <a:spcAft>
                <a:spcPts val="0"/>
              </a:spcAft>
              <a:buSzPts val="1400"/>
              <a:buChar char="●"/>
              <a:defRPr/>
            </a:lvl4pPr>
            <a:lvl5pPr indent="-317500" lvl="4" marL="2286000" algn="l">
              <a:lnSpc>
                <a:spcPct val="115000"/>
              </a:lnSpc>
              <a:spcBef>
                <a:spcPts val="0"/>
              </a:spcBef>
              <a:spcAft>
                <a:spcPts val="0"/>
              </a:spcAft>
              <a:buSzPts val="1400"/>
              <a:buChar char="○"/>
              <a:defRPr/>
            </a:lvl5pPr>
            <a:lvl6pPr indent="-317500" lvl="5" marL="2743200" algn="l">
              <a:lnSpc>
                <a:spcPct val="115000"/>
              </a:lnSpc>
              <a:spcBef>
                <a:spcPts val="0"/>
              </a:spcBef>
              <a:spcAft>
                <a:spcPts val="0"/>
              </a:spcAft>
              <a:buSzPts val="1400"/>
              <a:buChar char="■"/>
              <a:defRPr/>
            </a:lvl6pPr>
            <a:lvl7pPr indent="-317500" lvl="6" marL="3200400" algn="l">
              <a:lnSpc>
                <a:spcPct val="115000"/>
              </a:lnSpc>
              <a:spcBef>
                <a:spcPts val="0"/>
              </a:spcBef>
              <a:spcAft>
                <a:spcPts val="0"/>
              </a:spcAft>
              <a:buSzPts val="1400"/>
              <a:buChar char="●"/>
              <a:defRPr/>
            </a:lvl7pPr>
            <a:lvl8pPr indent="-317500" lvl="7" marL="3657600" algn="l">
              <a:lnSpc>
                <a:spcPct val="115000"/>
              </a:lnSpc>
              <a:spcBef>
                <a:spcPts val="0"/>
              </a:spcBef>
              <a:spcAft>
                <a:spcPts val="0"/>
              </a:spcAft>
              <a:buSzPts val="1400"/>
              <a:buChar char="○"/>
              <a:defRPr/>
            </a:lvl8pPr>
            <a:lvl9pPr indent="-317500" lvl="8" marL="4114800" algn="l">
              <a:lnSpc>
                <a:spcPct val="115000"/>
              </a:lnSpc>
              <a:spcBef>
                <a:spcPts val="0"/>
              </a:spcBef>
              <a:spcAft>
                <a:spcPts val="0"/>
              </a:spcAft>
              <a:buSzPts val="1400"/>
              <a:buChar char="■"/>
              <a:defRPr/>
            </a:lvl9pPr>
          </a:lstStyle>
          <a:p/>
        </p:txBody>
      </p:sp>
      <p:sp>
        <p:nvSpPr>
          <p:cNvPr id="87" name="Google Shape;87;p22"/>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88" name="Shape 88"/>
        <p:cNvGrpSpPr/>
        <p:nvPr/>
      </p:nvGrpSpPr>
      <p:grpSpPr>
        <a:xfrm>
          <a:off x="0" y="0"/>
          <a:ext cx="0" cy="0"/>
          <a:chOff x="0" y="0"/>
          <a:chExt cx="0" cy="0"/>
        </a:xfrm>
      </p:grpSpPr>
      <p:sp>
        <p:nvSpPr>
          <p:cNvPr id="89" name="Google Shape;89;p23"/>
          <p:cNvSpPr txBox="1"/>
          <p:nvPr>
            <p:ph idx="1" type="body"/>
          </p:nvPr>
        </p:nvSpPr>
        <p:spPr>
          <a:xfrm>
            <a:off x="311700" y="4230575"/>
            <a:ext cx="5998800" cy="605100"/>
          </a:xfrm>
          <a:prstGeom prst="rect">
            <a:avLst/>
          </a:prstGeom>
          <a:noFill/>
          <a:ln>
            <a:noFill/>
          </a:ln>
        </p:spPr>
        <p:txBody>
          <a:bodyPr anchorCtr="0" anchor="ctr" bIns="91425" lIns="91425" spcFirstLastPara="1" rIns="91425" wrap="square" tIns="91425">
            <a:normAutofit/>
          </a:bodyPr>
          <a:lstStyle>
            <a:lvl1pPr indent="-228600" lvl="0" marL="457200" algn="l">
              <a:lnSpc>
                <a:spcPct val="100000"/>
              </a:lnSpc>
              <a:spcBef>
                <a:spcPts val="0"/>
              </a:spcBef>
              <a:spcAft>
                <a:spcPts val="0"/>
              </a:spcAft>
              <a:buSzPts val="1800"/>
              <a:buNone/>
              <a:defRPr/>
            </a:lvl1pPr>
          </a:lstStyle>
          <a:p/>
        </p:txBody>
      </p:sp>
      <p:sp>
        <p:nvSpPr>
          <p:cNvPr id="90" name="Google Shape;90;p2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91" name="Shape 91"/>
        <p:cNvGrpSpPr/>
        <p:nvPr/>
      </p:nvGrpSpPr>
      <p:grpSpPr>
        <a:xfrm>
          <a:off x="0" y="0"/>
          <a:ext cx="0" cy="0"/>
          <a:chOff x="0" y="0"/>
          <a:chExt cx="0" cy="0"/>
        </a:xfrm>
      </p:grpSpPr>
      <p:sp>
        <p:nvSpPr>
          <p:cNvPr id="92" name="Google Shape;92;p24"/>
          <p:cNvSpPr txBox="1"/>
          <p:nvPr>
            <p:ph hasCustomPrompt="1" type="title"/>
          </p:nvPr>
        </p:nvSpPr>
        <p:spPr>
          <a:xfrm>
            <a:off x="311700" y="1106125"/>
            <a:ext cx="8520600" cy="1963500"/>
          </a:xfrm>
          <a:prstGeom prst="rect">
            <a:avLst/>
          </a:prstGeom>
          <a:noFill/>
          <a:ln>
            <a:noFill/>
          </a:ln>
        </p:spPr>
        <p:txBody>
          <a:bodyPr anchorCtr="0" anchor="b" bIns="91425" lIns="91425" spcFirstLastPara="1" rIns="91425" wrap="square" tIns="91425">
            <a:normAutofit/>
          </a:bodyPr>
          <a:lstStyle>
            <a:lvl1pPr lvl="0" algn="ctr">
              <a:lnSpc>
                <a:spcPct val="100000"/>
              </a:lnSpc>
              <a:spcBef>
                <a:spcPts val="0"/>
              </a:spcBef>
              <a:spcAft>
                <a:spcPts val="0"/>
              </a:spcAft>
              <a:buSzPts val="12000"/>
              <a:buNone/>
              <a:defRPr sz="12000"/>
            </a:lvl1pPr>
            <a:lvl2pPr lvl="1" algn="ctr">
              <a:lnSpc>
                <a:spcPct val="100000"/>
              </a:lnSpc>
              <a:spcBef>
                <a:spcPts val="0"/>
              </a:spcBef>
              <a:spcAft>
                <a:spcPts val="0"/>
              </a:spcAft>
              <a:buSzPts val="12000"/>
              <a:buNone/>
              <a:defRPr sz="12000"/>
            </a:lvl2pPr>
            <a:lvl3pPr lvl="2" algn="ctr">
              <a:lnSpc>
                <a:spcPct val="100000"/>
              </a:lnSpc>
              <a:spcBef>
                <a:spcPts val="0"/>
              </a:spcBef>
              <a:spcAft>
                <a:spcPts val="0"/>
              </a:spcAft>
              <a:buSzPts val="12000"/>
              <a:buNone/>
              <a:defRPr sz="12000"/>
            </a:lvl3pPr>
            <a:lvl4pPr lvl="3" algn="ctr">
              <a:lnSpc>
                <a:spcPct val="100000"/>
              </a:lnSpc>
              <a:spcBef>
                <a:spcPts val="0"/>
              </a:spcBef>
              <a:spcAft>
                <a:spcPts val="0"/>
              </a:spcAft>
              <a:buSzPts val="12000"/>
              <a:buNone/>
              <a:defRPr sz="12000"/>
            </a:lvl4pPr>
            <a:lvl5pPr lvl="4" algn="ctr">
              <a:lnSpc>
                <a:spcPct val="100000"/>
              </a:lnSpc>
              <a:spcBef>
                <a:spcPts val="0"/>
              </a:spcBef>
              <a:spcAft>
                <a:spcPts val="0"/>
              </a:spcAft>
              <a:buSzPts val="12000"/>
              <a:buNone/>
              <a:defRPr sz="12000"/>
            </a:lvl5pPr>
            <a:lvl6pPr lvl="5" algn="ctr">
              <a:lnSpc>
                <a:spcPct val="100000"/>
              </a:lnSpc>
              <a:spcBef>
                <a:spcPts val="0"/>
              </a:spcBef>
              <a:spcAft>
                <a:spcPts val="0"/>
              </a:spcAft>
              <a:buSzPts val="12000"/>
              <a:buNone/>
              <a:defRPr sz="12000"/>
            </a:lvl6pPr>
            <a:lvl7pPr lvl="6" algn="ctr">
              <a:lnSpc>
                <a:spcPct val="100000"/>
              </a:lnSpc>
              <a:spcBef>
                <a:spcPts val="0"/>
              </a:spcBef>
              <a:spcAft>
                <a:spcPts val="0"/>
              </a:spcAft>
              <a:buSzPts val="12000"/>
              <a:buNone/>
              <a:defRPr sz="12000"/>
            </a:lvl7pPr>
            <a:lvl8pPr lvl="7" algn="ctr">
              <a:lnSpc>
                <a:spcPct val="100000"/>
              </a:lnSpc>
              <a:spcBef>
                <a:spcPts val="0"/>
              </a:spcBef>
              <a:spcAft>
                <a:spcPts val="0"/>
              </a:spcAft>
              <a:buSzPts val="12000"/>
              <a:buNone/>
              <a:defRPr sz="12000"/>
            </a:lvl8pPr>
            <a:lvl9pPr lvl="8" algn="ctr">
              <a:lnSpc>
                <a:spcPct val="100000"/>
              </a:lnSpc>
              <a:spcBef>
                <a:spcPts val="0"/>
              </a:spcBef>
              <a:spcAft>
                <a:spcPts val="0"/>
              </a:spcAft>
              <a:buSzPts val="12000"/>
              <a:buNone/>
              <a:defRPr sz="12000"/>
            </a:lvl9pPr>
          </a:lstStyle>
          <a:p>
            <a:r>
              <a:t>xx%</a:t>
            </a:r>
          </a:p>
        </p:txBody>
      </p:sp>
      <p:sp>
        <p:nvSpPr>
          <p:cNvPr id="93" name="Google Shape;93;p24"/>
          <p:cNvSpPr txBox="1"/>
          <p:nvPr>
            <p:ph idx="1" type="body"/>
          </p:nvPr>
        </p:nvSpPr>
        <p:spPr>
          <a:xfrm>
            <a:off x="311700" y="3152225"/>
            <a:ext cx="8520600" cy="1300800"/>
          </a:xfrm>
          <a:prstGeom prst="rect">
            <a:avLst/>
          </a:prstGeom>
          <a:noFill/>
          <a:ln>
            <a:noFill/>
          </a:ln>
        </p:spPr>
        <p:txBody>
          <a:bodyPr anchorCtr="0" anchor="t" bIns="91425" lIns="91425" spcFirstLastPara="1" rIns="91425" wrap="square" tIns="91425">
            <a:normAutofit/>
          </a:bodyPr>
          <a:lstStyle>
            <a:lvl1pPr indent="-342900" lvl="0" marL="457200" algn="ctr">
              <a:lnSpc>
                <a:spcPct val="115000"/>
              </a:lnSpc>
              <a:spcBef>
                <a:spcPts val="0"/>
              </a:spcBef>
              <a:spcAft>
                <a:spcPts val="0"/>
              </a:spcAft>
              <a:buSzPts val="1800"/>
              <a:buChar char="●"/>
              <a:defRPr/>
            </a:lvl1pPr>
            <a:lvl2pPr indent="-317500" lvl="1" marL="914400" algn="ctr">
              <a:lnSpc>
                <a:spcPct val="115000"/>
              </a:lnSpc>
              <a:spcBef>
                <a:spcPts val="0"/>
              </a:spcBef>
              <a:spcAft>
                <a:spcPts val="0"/>
              </a:spcAft>
              <a:buSzPts val="1400"/>
              <a:buChar char="○"/>
              <a:defRPr/>
            </a:lvl2pPr>
            <a:lvl3pPr indent="-317500" lvl="2" marL="1371600" algn="ctr">
              <a:lnSpc>
                <a:spcPct val="115000"/>
              </a:lnSpc>
              <a:spcBef>
                <a:spcPts val="0"/>
              </a:spcBef>
              <a:spcAft>
                <a:spcPts val="0"/>
              </a:spcAft>
              <a:buSzPts val="1400"/>
              <a:buChar char="■"/>
              <a:defRPr/>
            </a:lvl3pPr>
            <a:lvl4pPr indent="-317500" lvl="3" marL="1828800" algn="ctr">
              <a:lnSpc>
                <a:spcPct val="115000"/>
              </a:lnSpc>
              <a:spcBef>
                <a:spcPts val="0"/>
              </a:spcBef>
              <a:spcAft>
                <a:spcPts val="0"/>
              </a:spcAft>
              <a:buSzPts val="1400"/>
              <a:buChar char="●"/>
              <a:defRPr/>
            </a:lvl4pPr>
            <a:lvl5pPr indent="-317500" lvl="4" marL="2286000" algn="ctr">
              <a:lnSpc>
                <a:spcPct val="115000"/>
              </a:lnSpc>
              <a:spcBef>
                <a:spcPts val="0"/>
              </a:spcBef>
              <a:spcAft>
                <a:spcPts val="0"/>
              </a:spcAft>
              <a:buSzPts val="1400"/>
              <a:buChar char="○"/>
              <a:defRPr/>
            </a:lvl5pPr>
            <a:lvl6pPr indent="-317500" lvl="5" marL="2743200" algn="ctr">
              <a:lnSpc>
                <a:spcPct val="115000"/>
              </a:lnSpc>
              <a:spcBef>
                <a:spcPts val="0"/>
              </a:spcBef>
              <a:spcAft>
                <a:spcPts val="0"/>
              </a:spcAft>
              <a:buSzPts val="1400"/>
              <a:buChar char="■"/>
              <a:defRPr/>
            </a:lvl6pPr>
            <a:lvl7pPr indent="-317500" lvl="6" marL="3200400" algn="ctr">
              <a:lnSpc>
                <a:spcPct val="115000"/>
              </a:lnSpc>
              <a:spcBef>
                <a:spcPts val="0"/>
              </a:spcBef>
              <a:spcAft>
                <a:spcPts val="0"/>
              </a:spcAft>
              <a:buSzPts val="1400"/>
              <a:buChar char="●"/>
              <a:defRPr/>
            </a:lvl7pPr>
            <a:lvl8pPr indent="-317500" lvl="7" marL="3657600" algn="ctr">
              <a:lnSpc>
                <a:spcPct val="115000"/>
              </a:lnSpc>
              <a:spcBef>
                <a:spcPts val="0"/>
              </a:spcBef>
              <a:spcAft>
                <a:spcPts val="0"/>
              </a:spcAft>
              <a:buSzPts val="1400"/>
              <a:buChar char="○"/>
              <a:defRPr/>
            </a:lvl8pPr>
            <a:lvl9pPr indent="-317500" lvl="8" marL="4114800" algn="ctr">
              <a:lnSpc>
                <a:spcPct val="115000"/>
              </a:lnSpc>
              <a:spcBef>
                <a:spcPts val="0"/>
              </a:spcBef>
              <a:spcAft>
                <a:spcPts val="0"/>
              </a:spcAft>
              <a:buSzPts val="1400"/>
              <a:buChar char="■"/>
              <a:defRPr/>
            </a:lvl9pPr>
          </a:lstStyle>
          <a:p/>
        </p:txBody>
      </p:sp>
      <p:sp>
        <p:nvSpPr>
          <p:cNvPr id="94" name="Google Shape;94;p24"/>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1.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slideLayout" Target="../slideLayouts/slideLayout13.xml"/><Relationship Id="rId3" Type="http://schemas.openxmlformats.org/officeDocument/2006/relationships/slideLayout" Target="../slideLayouts/slideLayout14.xml"/><Relationship Id="rId4" Type="http://schemas.openxmlformats.org/officeDocument/2006/relationships/slideLayout" Target="../slideLayouts/slideLayout15.xml"/><Relationship Id="rId11" Type="http://schemas.openxmlformats.org/officeDocument/2006/relationships/slideLayout" Target="../slideLayouts/slideLayout22.xml"/><Relationship Id="rId10" Type="http://schemas.openxmlformats.org/officeDocument/2006/relationships/slideLayout" Target="../slideLayouts/slideLayout21.xml"/><Relationship Id="rId12" Type="http://schemas.openxmlformats.org/officeDocument/2006/relationships/theme" Target="../theme/theme3.xml"/><Relationship Id="rId9" Type="http://schemas.openxmlformats.org/officeDocument/2006/relationships/slideLayout" Target="../slideLayouts/slideLayout20.xml"/><Relationship Id="rId5" Type="http://schemas.openxmlformats.org/officeDocument/2006/relationships/slideLayout" Target="../slideLayouts/slideLayout16.xml"/><Relationship Id="rId6" Type="http://schemas.openxmlformats.org/officeDocument/2006/relationships/slideLayout" Target="../slideLayouts/slideLayout17.xml"/><Relationship Id="rId7" Type="http://schemas.openxmlformats.org/officeDocument/2006/relationships/slideLayout" Target="../slideLayouts/slideLayout18.xml"/><Relationship Id="rId8" Type="http://schemas.openxmlformats.org/officeDocument/2006/relationships/slideLayout" Target="../slideLayouts/slideLayout19.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0" name="Shape 50"/>
        <p:cNvGrpSpPr/>
        <p:nvPr/>
      </p:nvGrpSpPr>
      <p:grpSpPr>
        <a:xfrm>
          <a:off x="0" y="0"/>
          <a:ext cx="0" cy="0"/>
          <a:chOff x="0" y="0"/>
          <a:chExt cx="0" cy="0"/>
        </a:xfrm>
      </p:grpSpPr>
      <p:sp>
        <p:nvSpPr>
          <p:cNvPr id="51" name="Google Shape;51;p13"/>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Clr>
                <a:schemeClr val="dk1"/>
              </a:buClr>
              <a:buSzPts val="2800"/>
              <a:buFont typeface="Arial"/>
              <a:buNone/>
              <a:defRPr b="0" i="0" sz="2800" u="none" cap="none" strike="noStrike">
                <a:solidFill>
                  <a:schemeClr val="dk1"/>
                </a:solidFill>
                <a:latin typeface="Arial"/>
                <a:ea typeface="Arial"/>
                <a:cs typeface="Arial"/>
                <a:sym typeface="Arial"/>
              </a:defRPr>
            </a:lvl9pPr>
          </a:lstStyle>
          <a:p/>
        </p:txBody>
      </p:sp>
      <p:sp>
        <p:nvSpPr>
          <p:cNvPr id="52" name="Google Shape;52;p13"/>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marR="0" rtl="0" algn="l">
              <a:lnSpc>
                <a:spcPct val="115000"/>
              </a:lnSpc>
              <a:spcBef>
                <a:spcPts val="0"/>
              </a:spcBef>
              <a:spcAft>
                <a:spcPts val="0"/>
              </a:spcAft>
              <a:buClr>
                <a:schemeClr val="dk2"/>
              </a:buClr>
              <a:buSzPts val="1800"/>
              <a:buFont typeface="Arial"/>
              <a:buChar char="●"/>
              <a:defRPr b="0" i="0" sz="1800" u="none" cap="none" strike="noStrike">
                <a:solidFill>
                  <a:schemeClr val="dk2"/>
                </a:solidFill>
                <a:latin typeface="Arial"/>
                <a:ea typeface="Arial"/>
                <a:cs typeface="Arial"/>
                <a:sym typeface="Arial"/>
              </a:defRPr>
            </a:lvl1pPr>
            <a:lvl2pPr indent="-317500" lvl="1" marL="914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2pPr>
            <a:lvl3pPr indent="-317500" lvl="2" marL="1371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3pPr>
            <a:lvl4pPr indent="-317500" lvl="3" marL="1828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4pPr>
            <a:lvl5pPr indent="-317500" lvl="4" marL="22860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5pPr>
            <a:lvl6pPr indent="-317500" lvl="5" marL="27432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6pPr>
            <a:lvl7pPr indent="-317500" lvl="6" marL="32004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7pPr>
            <a:lvl8pPr indent="-317500" lvl="7" marL="36576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8pPr>
            <a:lvl9pPr indent="-317500" lvl="8" marL="4114800" marR="0" rtl="0" algn="l">
              <a:lnSpc>
                <a:spcPct val="115000"/>
              </a:lnSpc>
              <a:spcBef>
                <a:spcPts val="0"/>
              </a:spcBef>
              <a:spcAft>
                <a:spcPts val="0"/>
              </a:spcAft>
              <a:buClr>
                <a:schemeClr val="dk2"/>
              </a:buClr>
              <a:buSzPts val="1400"/>
              <a:buFont typeface="Arial"/>
              <a:buChar char="■"/>
              <a:defRPr b="0" i="0" sz="1400" u="none" cap="none" strike="noStrike">
                <a:solidFill>
                  <a:schemeClr val="dk2"/>
                </a:solidFill>
                <a:latin typeface="Arial"/>
                <a:ea typeface="Arial"/>
                <a:cs typeface="Arial"/>
                <a:sym typeface="Arial"/>
              </a:defRPr>
            </a:lvl9pPr>
          </a:lstStyle>
          <a:p/>
        </p:txBody>
      </p:sp>
      <p:sp>
        <p:nvSpPr>
          <p:cNvPr id="53" name="Google Shape;53;p13"/>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indent="0" lvl="0"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1pPr>
            <a:lvl2pPr indent="0" lvl="1"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2pPr>
            <a:lvl3pPr indent="0" lvl="2"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3pPr>
            <a:lvl4pPr indent="0" lvl="3"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4pPr>
            <a:lvl5pPr indent="0" lvl="4"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5pPr>
            <a:lvl6pPr indent="0" lvl="5"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6pPr>
            <a:lvl7pPr indent="0" lvl="6"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7pPr>
            <a:lvl8pPr indent="0" lvl="7"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8pPr>
            <a:lvl9pPr indent="0" lvl="8" marL="0" marR="0" rtl="0" algn="r">
              <a:lnSpc>
                <a:spcPct val="100000"/>
              </a:lnSpc>
              <a:spcBef>
                <a:spcPts val="0"/>
              </a:spcBef>
              <a:spcAft>
                <a:spcPts val="0"/>
              </a:spcAft>
              <a:buClr>
                <a:srgbClr val="000000"/>
              </a:buClr>
              <a:buSzPts val="1000"/>
              <a:buFont typeface="Arial"/>
              <a:buNone/>
              <a:defRPr b="0" i="0" sz="1000" u="none" cap="none" strike="noStrike">
                <a:solidFill>
                  <a:schemeClr val="dk2"/>
                </a:solidFill>
                <a:latin typeface="Arial"/>
                <a:ea typeface="Arial"/>
                <a:cs typeface="Arial"/>
                <a:sym typeface="Arial"/>
              </a:defRPr>
            </a:lvl9pPr>
          </a:lstStyle>
          <a:p>
            <a:pPr indent="0" lvl="0" marL="0" rtl="0" algn="r">
              <a:spcBef>
                <a:spcPts val="0"/>
              </a:spcBef>
              <a:spcAft>
                <a:spcPts val="0"/>
              </a:spcAft>
              <a:buNone/>
            </a:pPr>
            <a:fld id="{00000000-1234-1234-1234-123412341234}" type="slidenum">
              <a:rPr lang="ko"/>
              <a:t>‹#›</a:t>
            </a:fld>
            <a:endParaRPr/>
          </a:p>
        </p:txBody>
      </p:sp>
    </p:spTree>
  </p:cSld>
  <p:clrMap accent1="accent1" accent2="accent2" accent3="accent3" accent4="accent4" accent5="accent5" accent6="accent6" bg1="lt1" bg2="dk2" tx1="dk1" tx2="lt2" folHlink="folHlink" hlink="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Lst>
  <p:hf dt="0" ftr="0" hdr="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8.png"/><Relationship Id="rId5" Type="http://schemas.openxmlformats.org/officeDocument/2006/relationships/image" Target="../media/image3.png"/><Relationship Id="rId6" Type="http://schemas.openxmlformats.org/officeDocument/2006/relationships/image" Target="../media/image2.png"/><Relationship Id="rId7" Type="http://schemas.openxmlformats.org/officeDocument/2006/relationships/image" Target="../media/image5.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3.xml"/><Relationship Id="rId3" Type="http://schemas.openxmlformats.org/officeDocument/2006/relationships/image" Target="../media/image8.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0.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xml"/><Relationship Id="rId3" Type="http://schemas.openxmlformats.org/officeDocument/2006/relationships/image" Target="../media/image12.png"/><Relationship Id="rId4" Type="http://schemas.openxmlformats.org/officeDocument/2006/relationships/image" Target="../media/image9.png"/><Relationship Id="rId5" Type="http://schemas.openxmlformats.org/officeDocument/2006/relationships/image" Target="../media/image7.png"/><Relationship Id="rId6" Type="http://schemas.openxmlformats.org/officeDocument/2006/relationships/image" Target="../media/image6.png"/><Relationship Id="rId7" Type="http://schemas.openxmlformats.org/officeDocument/2006/relationships/image" Target="../media/image11.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5.xml"/><Relationship Id="rId3" Type="http://schemas.openxmlformats.org/officeDocument/2006/relationships/image" Target="../media/image17.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6.xml"/><Relationship Id="rId3" Type="http://schemas.openxmlformats.org/officeDocument/2006/relationships/image" Target="../media/image16.png"/><Relationship Id="rId4" Type="http://schemas.openxmlformats.org/officeDocument/2006/relationships/image" Target="../media/image15.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7.xml"/><Relationship Id="rId3" Type="http://schemas.openxmlformats.org/officeDocument/2006/relationships/image" Target="../media/image8.png"/><Relationship Id="rId4" Type="http://schemas.openxmlformats.org/officeDocument/2006/relationships/image" Target="../media/image18.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8.xml"/><Relationship Id="rId3" Type="http://schemas.openxmlformats.org/officeDocument/2006/relationships/image" Target="../media/image19.png"/><Relationship Id="rId4" Type="http://schemas.openxmlformats.org/officeDocument/2006/relationships/image" Target="../media/image2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9.xml"/><Relationship Id="rId3" Type="http://schemas.openxmlformats.org/officeDocument/2006/relationships/image" Target="../media/image24.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0.xml"/><Relationship Id="rId3" Type="http://schemas.openxmlformats.org/officeDocument/2006/relationships/image" Target="../media/image20.png"/><Relationship Id="rId4" Type="http://schemas.openxmlformats.org/officeDocument/2006/relationships/image" Target="../media/image2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1.xml"/><Relationship Id="rId3" Type="http://schemas.openxmlformats.org/officeDocument/2006/relationships/image" Target="../media/image22.png"/><Relationship Id="rId4" Type="http://schemas.openxmlformats.org/officeDocument/2006/relationships/image" Target="../media/image3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2.xml"/><Relationship Id="rId3" Type="http://schemas.openxmlformats.org/officeDocument/2006/relationships/image" Target="../media/image23.png"/><Relationship Id="rId4" Type="http://schemas.openxmlformats.org/officeDocument/2006/relationships/image" Target="../media/image28.png"/><Relationship Id="rId5" Type="http://schemas.openxmlformats.org/officeDocument/2006/relationships/image" Target="../media/image34.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3.xml"/><Relationship Id="rId3" Type="http://schemas.openxmlformats.org/officeDocument/2006/relationships/image" Target="../media/image21.png"/><Relationship Id="rId4" Type="http://schemas.openxmlformats.org/officeDocument/2006/relationships/image" Target="../media/image31.png"/><Relationship Id="rId5" Type="http://schemas.openxmlformats.org/officeDocument/2006/relationships/image" Target="../media/image29.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14.xml"/><Relationship Id="rId3" Type="http://schemas.openxmlformats.org/officeDocument/2006/relationships/image" Target="../media/image19.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5.xml"/><Relationship Id="rId3" Type="http://schemas.openxmlformats.org/officeDocument/2006/relationships/image" Target="../media/image27.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6.xml"/><Relationship Id="rId3" Type="http://schemas.openxmlformats.org/officeDocument/2006/relationships/image" Target="../media/image35.png"/><Relationship Id="rId4" Type="http://schemas.openxmlformats.org/officeDocument/2006/relationships/image" Target="../media/image39.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7.xml"/><Relationship Id="rId3" Type="http://schemas.openxmlformats.org/officeDocument/2006/relationships/image" Target="../media/image37.png"/><Relationship Id="rId4" Type="http://schemas.openxmlformats.org/officeDocument/2006/relationships/image" Target="../media/image3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8.xml"/><Relationship Id="rId3" Type="http://schemas.openxmlformats.org/officeDocument/2006/relationships/image" Target="../media/image38.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19.xml"/><Relationship Id="rId3" Type="http://schemas.openxmlformats.org/officeDocument/2006/relationships/image" Target="../media/image40.png"/><Relationship Id="rId4" Type="http://schemas.openxmlformats.org/officeDocument/2006/relationships/image" Target="../media/image41.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1.xml"/><Relationship Id="rId2" Type="http://schemas.openxmlformats.org/officeDocument/2006/relationships/notesSlide" Target="../notesSlides/notesSlide20.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sp>
        <p:nvSpPr>
          <p:cNvPr id="99" name="Google Shape;99;p25"/>
          <p:cNvSpPr txBox="1"/>
          <p:nvPr/>
        </p:nvSpPr>
        <p:spPr>
          <a:xfrm>
            <a:off x="531089" y="1183411"/>
            <a:ext cx="8018400" cy="1385400"/>
          </a:xfrm>
          <a:prstGeom prst="rect">
            <a:avLst/>
          </a:prstGeom>
          <a:noFill/>
          <a:ln>
            <a:noFill/>
          </a:ln>
        </p:spPr>
        <p:txBody>
          <a:bodyPr anchorCtr="0" anchor="ctr" bIns="91425" lIns="91425" spcFirstLastPara="1" rIns="91425" wrap="square" tIns="91425">
            <a:noAutofit/>
          </a:bodyPr>
          <a:lstStyle/>
          <a:p>
            <a:pPr indent="0" lvl="0" marL="0" rtl="0" algn="ctr">
              <a:lnSpc>
                <a:spcPct val="150000"/>
              </a:lnSpc>
              <a:spcBef>
                <a:spcPts val="0"/>
              </a:spcBef>
              <a:spcAft>
                <a:spcPts val="0"/>
              </a:spcAft>
              <a:buNone/>
            </a:pPr>
            <a:r>
              <a:rPr b="1" lang="ko" sz="2200">
                <a:solidFill>
                  <a:schemeClr val="dk1"/>
                </a:solidFill>
                <a:latin typeface="Noto Sans KR"/>
                <a:ea typeface="Noto Sans KR"/>
                <a:cs typeface="Noto Sans KR"/>
                <a:sym typeface="Noto Sans KR"/>
              </a:rPr>
              <a:t>Privacy-Preserving Face Recognition Using Trainable Feature Subtraction</a:t>
            </a:r>
            <a:endParaRPr b="1" sz="2200">
              <a:solidFill>
                <a:schemeClr val="dk1"/>
              </a:solidFill>
              <a:latin typeface="Noto Sans KR"/>
              <a:ea typeface="Noto Sans KR"/>
              <a:cs typeface="Noto Sans KR"/>
              <a:sym typeface="Noto Sans KR"/>
            </a:endParaRPr>
          </a:p>
        </p:txBody>
      </p:sp>
      <p:sp>
        <p:nvSpPr>
          <p:cNvPr id="100" name="Google Shape;100;p25"/>
          <p:cNvSpPr txBox="1"/>
          <p:nvPr/>
        </p:nvSpPr>
        <p:spPr>
          <a:xfrm>
            <a:off x="6540509" y="4435236"/>
            <a:ext cx="2372700" cy="608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Clr>
                <a:schemeClr val="dk1"/>
              </a:buClr>
              <a:buSzPts val="1100"/>
              <a:buFont typeface="Arial"/>
              <a:buNone/>
            </a:pPr>
            <a:r>
              <a:rPr b="1" lang="ko" sz="1100">
                <a:solidFill>
                  <a:schemeClr val="dk1"/>
                </a:solidFill>
                <a:latin typeface="Noto Sans KR"/>
                <a:ea typeface="Noto Sans KR"/>
                <a:cs typeface="Noto Sans KR"/>
                <a:sym typeface="Noto Sans KR"/>
              </a:rPr>
              <a:t>Shannon Henry, Le Quoc Cu</a:t>
            </a:r>
            <a:endParaRPr b="1" sz="1100">
              <a:solidFill>
                <a:schemeClr val="dk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100">
                <a:solidFill>
                  <a:schemeClr val="dk1"/>
                </a:solidFill>
                <a:latin typeface="Noto Sans KR"/>
                <a:ea typeface="Noto Sans KR"/>
                <a:cs typeface="Noto Sans KR"/>
                <a:sym typeface="Noto Sans KR"/>
              </a:rPr>
              <a:t>Ali Raza, </a:t>
            </a:r>
            <a:r>
              <a:rPr b="1" lang="ko" sz="1100">
                <a:solidFill>
                  <a:schemeClr val="dk1"/>
                </a:solidFill>
                <a:latin typeface="Noto Sans KR"/>
                <a:ea typeface="Noto Sans KR"/>
                <a:cs typeface="Noto Sans KR"/>
                <a:sym typeface="Noto Sans KR"/>
              </a:rPr>
              <a:t>Yakhyokhuja</a:t>
            </a:r>
            <a:endParaRPr b="1" sz="1100">
              <a:solidFill>
                <a:schemeClr val="dk1"/>
              </a:solidFill>
              <a:latin typeface="Noto Sans KR"/>
              <a:ea typeface="Noto Sans KR"/>
              <a:cs typeface="Noto Sans KR"/>
              <a:sym typeface="Noto Sans KR"/>
            </a:endParaRPr>
          </a:p>
        </p:txBody>
      </p:sp>
      <p:sp>
        <p:nvSpPr>
          <p:cNvPr id="101" name="Google Shape;101;p25"/>
          <p:cNvSpPr/>
          <p:nvPr/>
        </p:nvSpPr>
        <p:spPr>
          <a:xfrm>
            <a:off x="394050" y="2516902"/>
            <a:ext cx="8355900" cy="348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pic>
        <p:nvPicPr>
          <p:cNvPr id="102" name="Google Shape;102;p25"/>
          <p:cNvPicPr preferRelativeResize="0"/>
          <p:nvPr/>
        </p:nvPicPr>
        <p:blipFill>
          <a:blip r:embed="rId3">
            <a:alphaModFix/>
          </a:blip>
          <a:stretch>
            <a:fillRect/>
          </a:stretch>
        </p:blipFill>
        <p:spPr>
          <a:xfrm>
            <a:off x="1293325" y="2737050"/>
            <a:ext cx="6493950" cy="15299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sp>
        <p:nvSpPr>
          <p:cNvPr id="107" name="Google Shape;107;p26"/>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08" name="Google Shape;108;p26"/>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3000"/>
              <a:buFont typeface="Arial"/>
              <a:buNone/>
            </a:pPr>
            <a:r>
              <a:rPr b="1" i="0" lang="ko" sz="3000" u="none" cap="none" strike="noStrike">
                <a:solidFill>
                  <a:schemeClr val="dk1"/>
                </a:solidFill>
                <a:latin typeface="Noto Sans KR"/>
                <a:ea typeface="Noto Sans KR"/>
                <a:cs typeface="Noto Sans KR"/>
                <a:sym typeface="Noto Sans KR"/>
              </a:rPr>
              <a:t>Introduction</a:t>
            </a:r>
            <a:endParaRPr b="1" i="0" sz="3000" u="none" cap="none" strike="noStrike">
              <a:solidFill>
                <a:schemeClr val="dk1"/>
              </a:solidFill>
              <a:latin typeface="Noto Sans KR"/>
              <a:ea typeface="Noto Sans KR"/>
              <a:cs typeface="Noto Sans KR"/>
              <a:sym typeface="Noto Sans KR"/>
            </a:endParaRPr>
          </a:p>
        </p:txBody>
      </p:sp>
      <p:sp>
        <p:nvSpPr>
          <p:cNvPr id="109" name="Google Shape;109;p26"/>
          <p:cNvSpPr txBox="1"/>
          <p:nvPr/>
        </p:nvSpPr>
        <p:spPr>
          <a:xfrm>
            <a:off x="333756" y="987552"/>
            <a:ext cx="8476488"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900" u="none" cap="none" strike="noStrike">
                <a:solidFill>
                  <a:srgbClr val="1F2937"/>
                </a:solidFill>
                <a:latin typeface="Noto Sans KR"/>
                <a:ea typeface="Noto Sans KR"/>
                <a:cs typeface="Noto Sans KR"/>
                <a:sym typeface="Noto Sans KR"/>
              </a:rPr>
              <a:t>Why privacy-preserving face recognition?</a:t>
            </a:r>
            <a:endParaRPr/>
          </a:p>
        </p:txBody>
      </p:sp>
      <p:sp>
        <p:nvSpPr>
          <p:cNvPr id="110" name="Google Shape;110;p26"/>
          <p:cNvSpPr/>
          <p:nvPr/>
        </p:nvSpPr>
        <p:spPr>
          <a:xfrm>
            <a:off x="981837" y="1874519"/>
            <a:ext cx="822960" cy="82296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camera_w.png" id="111" name="Google Shape;111;p26"/>
          <p:cNvPicPr preferRelativeResize="0"/>
          <p:nvPr/>
        </p:nvPicPr>
        <p:blipFill rotWithShape="1">
          <a:blip r:embed="rId3">
            <a:alphaModFix/>
          </a:blip>
          <a:srcRect b="0" l="0" r="0" t="0"/>
          <a:stretch/>
        </p:blipFill>
        <p:spPr>
          <a:xfrm>
            <a:off x="1167003" y="2059686"/>
            <a:ext cx="452628" cy="452628"/>
          </a:xfrm>
          <a:prstGeom prst="rect">
            <a:avLst/>
          </a:prstGeom>
          <a:noFill/>
          <a:ln>
            <a:noFill/>
          </a:ln>
        </p:spPr>
      </p:pic>
      <p:pic>
        <p:nvPicPr>
          <p:cNvPr descr="Face image (from Fig. 1)" id="112" name="Google Shape;112;p26"/>
          <p:cNvPicPr preferRelativeResize="0"/>
          <p:nvPr/>
        </p:nvPicPr>
        <p:blipFill rotWithShape="1">
          <a:blip r:embed="rId4">
            <a:alphaModFix/>
          </a:blip>
          <a:srcRect b="0" l="0" r="0" t="0"/>
          <a:stretch/>
        </p:blipFill>
        <p:spPr>
          <a:xfrm>
            <a:off x="3100958" y="1874519"/>
            <a:ext cx="822960" cy="822960"/>
          </a:xfrm>
          <a:prstGeom prst="rect">
            <a:avLst/>
          </a:prstGeom>
          <a:noFill/>
          <a:ln>
            <a:noFill/>
          </a:ln>
        </p:spPr>
      </p:pic>
      <p:sp>
        <p:nvSpPr>
          <p:cNvPr id="113" name="Google Shape;113;p26"/>
          <p:cNvSpPr/>
          <p:nvPr/>
        </p:nvSpPr>
        <p:spPr>
          <a:xfrm>
            <a:off x="5220080" y="1874519"/>
            <a:ext cx="822960" cy="82296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cloud_w.png" id="114" name="Google Shape;114;p26"/>
          <p:cNvPicPr preferRelativeResize="0"/>
          <p:nvPr/>
        </p:nvPicPr>
        <p:blipFill rotWithShape="1">
          <a:blip r:embed="rId5">
            <a:alphaModFix/>
          </a:blip>
          <a:srcRect b="0" l="0" r="0" t="0"/>
          <a:stretch/>
        </p:blipFill>
        <p:spPr>
          <a:xfrm>
            <a:off x="5405247" y="2059686"/>
            <a:ext cx="452628" cy="452628"/>
          </a:xfrm>
          <a:prstGeom prst="rect">
            <a:avLst/>
          </a:prstGeom>
          <a:noFill/>
          <a:ln>
            <a:noFill/>
          </a:ln>
        </p:spPr>
      </p:pic>
      <p:sp>
        <p:nvSpPr>
          <p:cNvPr id="115" name="Google Shape;115;p26"/>
          <p:cNvSpPr/>
          <p:nvPr/>
        </p:nvSpPr>
        <p:spPr>
          <a:xfrm>
            <a:off x="7339203" y="1874519"/>
            <a:ext cx="822960" cy="82296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server_w.png" id="116" name="Google Shape;116;p26"/>
          <p:cNvPicPr preferRelativeResize="0"/>
          <p:nvPr/>
        </p:nvPicPr>
        <p:blipFill rotWithShape="1">
          <a:blip r:embed="rId6">
            <a:alphaModFix/>
          </a:blip>
          <a:srcRect b="0" l="0" r="0" t="0"/>
          <a:stretch/>
        </p:blipFill>
        <p:spPr>
          <a:xfrm>
            <a:off x="7524369" y="2059686"/>
            <a:ext cx="452628" cy="452628"/>
          </a:xfrm>
          <a:prstGeom prst="rect">
            <a:avLst/>
          </a:prstGeom>
          <a:noFill/>
          <a:ln>
            <a:noFill/>
          </a:ln>
        </p:spPr>
      </p:pic>
      <p:sp>
        <p:nvSpPr>
          <p:cNvPr id="117" name="Google Shape;117;p26"/>
          <p:cNvSpPr txBox="1"/>
          <p:nvPr/>
        </p:nvSpPr>
        <p:spPr>
          <a:xfrm>
            <a:off x="478916" y="2788920"/>
            <a:ext cx="182880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1F2937"/>
                </a:solidFill>
                <a:latin typeface="Noto Sans KR"/>
                <a:ea typeface="Noto Sans KR"/>
                <a:cs typeface="Noto Sans KR"/>
                <a:sym typeface="Noto Sans KR"/>
              </a:rPr>
              <a:t>Client / Camera</a:t>
            </a:r>
            <a:endParaRPr/>
          </a:p>
        </p:txBody>
      </p:sp>
      <p:sp>
        <p:nvSpPr>
          <p:cNvPr id="118" name="Google Shape;118;p26"/>
          <p:cNvSpPr txBox="1"/>
          <p:nvPr/>
        </p:nvSpPr>
        <p:spPr>
          <a:xfrm>
            <a:off x="2598038" y="2788920"/>
            <a:ext cx="182880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1F2937"/>
                </a:solidFill>
                <a:latin typeface="Noto Sans KR"/>
                <a:ea typeface="Noto Sans KR"/>
                <a:cs typeface="Noto Sans KR"/>
                <a:sym typeface="Noto Sans KR"/>
              </a:rPr>
              <a:t>Face image</a:t>
            </a:r>
            <a:endParaRPr/>
          </a:p>
        </p:txBody>
      </p:sp>
      <p:sp>
        <p:nvSpPr>
          <p:cNvPr id="119" name="Google Shape;119;p26"/>
          <p:cNvSpPr txBox="1"/>
          <p:nvPr/>
        </p:nvSpPr>
        <p:spPr>
          <a:xfrm>
            <a:off x="4717161" y="2788920"/>
            <a:ext cx="182880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1F2937"/>
                </a:solidFill>
                <a:latin typeface="Noto Sans KR"/>
                <a:ea typeface="Noto Sans KR"/>
                <a:cs typeface="Noto Sans KR"/>
                <a:sym typeface="Noto Sans KR"/>
              </a:rPr>
              <a:t>Internet</a:t>
            </a:r>
            <a:endParaRPr/>
          </a:p>
        </p:txBody>
      </p:sp>
      <p:sp>
        <p:nvSpPr>
          <p:cNvPr id="120" name="Google Shape;120;p26"/>
          <p:cNvSpPr txBox="1"/>
          <p:nvPr/>
        </p:nvSpPr>
        <p:spPr>
          <a:xfrm>
            <a:off x="6836283" y="2788920"/>
            <a:ext cx="1828800"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1F2937"/>
                </a:solidFill>
                <a:latin typeface="Noto Sans KR"/>
                <a:ea typeface="Noto Sans KR"/>
                <a:cs typeface="Noto Sans KR"/>
                <a:sym typeface="Noto Sans KR"/>
              </a:rPr>
              <a:t>FR service</a:t>
            </a:r>
            <a:endParaRPr/>
          </a:p>
        </p:txBody>
      </p:sp>
      <p:cxnSp>
        <p:nvCxnSpPr>
          <p:cNvPr id="121" name="Google Shape;121;p26"/>
          <p:cNvCxnSpPr/>
          <p:nvPr/>
        </p:nvCxnSpPr>
        <p:spPr>
          <a:xfrm>
            <a:off x="1914525" y="2286000"/>
            <a:ext cx="1076705" cy="0"/>
          </a:xfrm>
          <a:prstGeom prst="straightConnector1">
            <a:avLst/>
          </a:prstGeom>
          <a:noFill/>
          <a:ln cap="flat" cmpd="sng" w="19050">
            <a:solidFill>
              <a:srgbClr val="6B7280"/>
            </a:solidFill>
            <a:prstDash val="solid"/>
            <a:round/>
            <a:headEnd len="sm" w="sm" type="none"/>
            <a:tailEnd len="med" w="med" type="triangle"/>
          </a:ln>
        </p:spPr>
      </p:cxnSp>
      <p:cxnSp>
        <p:nvCxnSpPr>
          <p:cNvPr id="122" name="Google Shape;122;p26"/>
          <p:cNvCxnSpPr/>
          <p:nvPr/>
        </p:nvCxnSpPr>
        <p:spPr>
          <a:xfrm>
            <a:off x="4033647" y="2286000"/>
            <a:ext cx="1076705" cy="0"/>
          </a:xfrm>
          <a:prstGeom prst="straightConnector1">
            <a:avLst/>
          </a:prstGeom>
          <a:noFill/>
          <a:ln cap="flat" cmpd="sng" w="25400">
            <a:solidFill>
              <a:srgbClr val="D64545"/>
            </a:solidFill>
            <a:prstDash val="dash"/>
            <a:round/>
            <a:headEnd len="sm" w="sm" type="none"/>
            <a:tailEnd len="med" w="med" type="triangle"/>
          </a:ln>
        </p:spPr>
      </p:cxnSp>
      <p:cxnSp>
        <p:nvCxnSpPr>
          <p:cNvPr id="123" name="Google Shape;123;p26"/>
          <p:cNvCxnSpPr/>
          <p:nvPr/>
        </p:nvCxnSpPr>
        <p:spPr>
          <a:xfrm>
            <a:off x="6152769" y="2286000"/>
            <a:ext cx="1076706" cy="0"/>
          </a:xfrm>
          <a:prstGeom prst="straightConnector1">
            <a:avLst/>
          </a:prstGeom>
          <a:noFill/>
          <a:ln cap="flat" cmpd="sng" w="25400">
            <a:solidFill>
              <a:srgbClr val="D64545"/>
            </a:solidFill>
            <a:prstDash val="dash"/>
            <a:round/>
            <a:headEnd len="sm" w="sm" type="none"/>
            <a:tailEnd len="med" w="med" type="triangle"/>
          </a:ln>
        </p:spPr>
      </p:cxnSp>
      <p:pic>
        <p:nvPicPr>
          <p:cNvPr descr="Warning icon" id="124" name="Google Shape;124;p26"/>
          <p:cNvPicPr preferRelativeResize="0"/>
          <p:nvPr/>
        </p:nvPicPr>
        <p:blipFill rotWithShape="1">
          <a:blip r:embed="rId7">
            <a:alphaModFix/>
          </a:blip>
          <a:srcRect b="0" l="0" r="0" t="0"/>
          <a:stretch/>
        </p:blipFill>
        <p:spPr>
          <a:xfrm>
            <a:off x="4831461" y="1490472"/>
            <a:ext cx="256032" cy="256032"/>
          </a:xfrm>
          <a:prstGeom prst="rect">
            <a:avLst/>
          </a:prstGeom>
          <a:noFill/>
          <a:ln>
            <a:noFill/>
          </a:ln>
        </p:spPr>
      </p:pic>
      <p:sp>
        <p:nvSpPr>
          <p:cNvPr id="125" name="Google Shape;125;p26"/>
          <p:cNvSpPr txBox="1"/>
          <p:nvPr/>
        </p:nvSpPr>
        <p:spPr>
          <a:xfrm>
            <a:off x="5142356" y="1490472"/>
            <a:ext cx="1289304" cy="256032"/>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ko" sz="1250" u="none" cap="none" strike="noStrike">
                <a:solidFill>
                  <a:srgbClr val="D64545"/>
                </a:solidFill>
                <a:latin typeface="Noto Sans KR"/>
                <a:ea typeface="Noto Sans KR"/>
                <a:cs typeface="Noto Sans KR"/>
                <a:sym typeface="Noto Sans KR"/>
              </a:rPr>
              <a:t>Privacy leakage</a:t>
            </a:r>
            <a:endParaRPr/>
          </a:p>
        </p:txBody>
      </p:sp>
      <p:sp>
        <p:nvSpPr>
          <p:cNvPr id="126" name="Google Shape;126;p26"/>
          <p:cNvSpPr/>
          <p:nvPr/>
        </p:nvSpPr>
        <p:spPr>
          <a:xfrm>
            <a:off x="333756" y="3346704"/>
            <a:ext cx="91440" cy="9144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7" name="Google Shape;127;p26"/>
          <p:cNvSpPr txBox="1"/>
          <p:nvPr/>
        </p:nvSpPr>
        <p:spPr>
          <a:xfrm>
            <a:off x="534924" y="3273552"/>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Face recognition is widely used in online services.</a:t>
            </a:r>
            <a:endParaRPr/>
          </a:p>
        </p:txBody>
      </p:sp>
      <p:sp>
        <p:nvSpPr>
          <p:cNvPr id="128" name="Google Shape;128;p26"/>
          <p:cNvSpPr/>
          <p:nvPr/>
        </p:nvSpPr>
        <p:spPr>
          <a:xfrm>
            <a:off x="4663440" y="3346704"/>
            <a:ext cx="91440" cy="9144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29" name="Google Shape;129;p26"/>
          <p:cNvSpPr txBox="1"/>
          <p:nvPr/>
        </p:nvSpPr>
        <p:spPr>
          <a:xfrm>
            <a:off x="4864607" y="3273552"/>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Face images are sensitive biometric data.</a:t>
            </a:r>
            <a:endParaRPr/>
          </a:p>
        </p:txBody>
      </p:sp>
      <p:sp>
        <p:nvSpPr>
          <p:cNvPr id="130" name="Google Shape;130;p26"/>
          <p:cNvSpPr/>
          <p:nvPr/>
        </p:nvSpPr>
        <p:spPr>
          <a:xfrm>
            <a:off x="333756" y="3849624"/>
            <a:ext cx="91440" cy="9144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1" name="Google Shape;131;p26"/>
          <p:cNvSpPr txBox="1"/>
          <p:nvPr/>
        </p:nvSpPr>
        <p:spPr>
          <a:xfrm>
            <a:off x="534924" y="3776472"/>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Clients may need to send face images to remote servers.</a:t>
            </a:r>
            <a:endParaRPr/>
          </a:p>
        </p:txBody>
      </p:sp>
      <p:sp>
        <p:nvSpPr>
          <p:cNvPr id="132" name="Google Shape;132;p26"/>
          <p:cNvSpPr/>
          <p:nvPr/>
        </p:nvSpPr>
        <p:spPr>
          <a:xfrm>
            <a:off x="4663440" y="3849624"/>
            <a:ext cx="91440" cy="91440"/>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33" name="Google Shape;133;p26"/>
          <p:cNvSpPr txBox="1"/>
          <p:nvPr/>
        </p:nvSpPr>
        <p:spPr>
          <a:xfrm>
            <a:off x="4864607" y="3776472"/>
            <a:ext cx="3429000" cy="4572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Unauthorized access can expose identity and facial appearance.</a:t>
            </a:r>
            <a:endParaRPr/>
          </a:p>
        </p:txBody>
      </p:sp>
      <p:sp>
        <p:nvSpPr>
          <p:cNvPr id="134" name="Google Shape;134;p26"/>
          <p:cNvSpPr/>
          <p:nvPr/>
        </p:nvSpPr>
        <p:spPr>
          <a:xfrm>
            <a:off x="333756" y="4334256"/>
            <a:ext cx="8476488" cy="438912"/>
          </a:xfrm>
          <a:prstGeom prst="roundRect">
            <a:avLst>
              <a:gd fmla="val 20000" name="adj"/>
            </a:avLst>
          </a:prstGeom>
          <a:solidFill>
            <a:srgbClr val="EEF3FC"/>
          </a:solidFill>
          <a:ln>
            <a:noFill/>
          </a:ln>
        </p:spPr>
        <p:txBody>
          <a:bodyPr anchorCtr="0" anchor="ctr" bIns="36575" lIns="182875" spcFirstLastPara="1" rIns="182875" wrap="square" tIns="36575">
            <a:noAutofit/>
          </a:bodyPr>
          <a:lstStyle/>
          <a:p>
            <a:pPr indent="0" lvl="0" marL="0" marR="0" rtl="0" algn="l">
              <a:lnSpc>
                <a:spcPct val="100000"/>
              </a:lnSpc>
              <a:spcBef>
                <a:spcPts val="0"/>
              </a:spcBef>
              <a:spcAft>
                <a:spcPts val="0"/>
              </a:spcAft>
              <a:buNone/>
            </a:pPr>
            <a:r>
              <a:rPr b="1" i="0" lang="ko" sz="1400" u="none" cap="none" strike="noStrike">
                <a:solidFill>
                  <a:srgbClr val="2B5FB8"/>
                </a:solidFill>
                <a:latin typeface="Noto Sans KR"/>
                <a:ea typeface="Noto Sans KR"/>
                <a:cs typeface="Noto Sans KR"/>
                <a:sym typeface="Noto Sans KR"/>
              </a:rPr>
              <a:t>Goal of PPFR:  </a:t>
            </a:r>
            <a:r>
              <a:rPr b="0" i="0" lang="ko" sz="1400" u="none" cap="none" strike="noStrike">
                <a:solidFill>
                  <a:srgbClr val="1F2937"/>
                </a:solidFill>
                <a:latin typeface="Noto Sans KR"/>
                <a:ea typeface="Noto Sans KR"/>
                <a:cs typeface="Noto Sans KR"/>
                <a:sym typeface="Noto Sans KR"/>
              </a:rPr>
              <a:t>identify a person without directly exposing the original face image.</a:t>
            </a:r>
            <a:endParaRPr/>
          </a:p>
        </p:txBody>
      </p:sp>
      <p:sp>
        <p:nvSpPr>
          <p:cNvPr id="135" name="Google Shape;135;p2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9" name="Shape 139"/>
        <p:cNvGrpSpPr/>
        <p:nvPr/>
      </p:nvGrpSpPr>
      <p:grpSpPr>
        <a:xfrm>
          <a:off x="0" y="0"/>
          <a:ext cx="0" cy="0"/>
          <a:chOff x="0" y="0"/>
          <a:chExt cx="0" cy="0"/>
        </a:xfrm>
      </p:grpSpPr>
      <p:sp>
        <p:nvSpPr>
          <p:cNvPr id="140" name="Google Shape;140;p27"/>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41" name="Google Shape;141;p27"/>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3000"/>
              <a:buFont typeface="Arial"/>
              <a:buNone/>
            </a:pPr>
            <a:r>
              <a:rPr b="1" i="0" lang="ko" sz="3000" u="none" cap="none" strike="noStrike">
                <a:solidFill>
                  <a:schemeClr val="dk1"/>
                </a:solidFill>
                <a:latin typeface="Noto Sans KR"/>
                <a:ea typeface="Noto Sans KR"/>
                <a:cs typeface="Noto Sans KR"/>
                <a:sym typeface="Noto Sans KR"/>
              </a:rPr>
              <a:t>Introduction</a:t>
            </a:r>
            <a:endParaRPr b="1" i="0" sz="3000" u="none" cap="none" strike="noStrike">
              <a:solidFill>
                <a:schemeClr val="dk1"/>
              </a:solidFill>
              <a:latin typeface="Noto Sans KR"/>
              <a:ea typeface="Noto Sans KR"/>
              <a:cs typeface="Noto Sans KR"/>
              <a:sym typeface="Noto Sans KR"/>
            </a:endParaRPr>
          </a:p>
        </p:txBody>
      </p:sp>
      <p:sp>
        <p:nvSpPr>
          <p:cNvPr id="142" name="Google Shape;142;p27"/>
          <p:cNvSpPr txBox="1"/>
          <p:nvPr/>
        </p:nvSpPr>
        <p:spPr>
          <a:xfrm>
            <a:off x="333756" y="987552"/>
            <a:ext cx="8476488"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900" u="none" cap="none" strike="noStrike">
                <a:solidFill>
                  <a:srgbClr val="1F2937"/>
                </a:solidFill>
                <a:latin typeface="Noto Sans KR"/>
                <a:ea typeface="Noto Sans KR"/>
                <a:cs typeface="Noto Sans KR"/>
                <a:sym typeface="Noto Sans KR"/>
              </a:rPr>
              <a:t>The core problem: privacy vs. recognition</a:t>
            </a:r>
            <a:endParaRPr/>
          </a:p>
        </p:txBody>
      </p:sp>
      <p:pic>
        <p:nvPicPr>
          <p:cNvPr descr="Original face X" id="143" name="Google Shape;143;p27"/>
          <p:cNvPicPr preferRelativeResize="0"/>
          <p:nvPr/>
        </p:nvPicPr>
        <p:blipFill rotWithShape="1">
          <a:blip r:embed="rId3">
            <a:alphaModFix/>
          </a:blip>
          <a:srcRect b="0" l="0" r="0" t="0"/>
          <a:stretch/>
        </p:blipFill>
        <p:spPr>
          <a:xfrm>
            <a:off x="425196" y="1572768"/>
            <a:ext cx="1097280" cy="1097280"/>
          </a:xfrm>
          <a:prstGeom prst="rect">
            <a:avLst/>
          </a:prstGeom>
          <a:noFill/>
          <a:ln>
            <a:noFill/>
          </a:ln>
        </p:spPr>
      </p:pic>
      <p:sp>
        <p:nvSpPr>
          <p:cNvPr id="144" name="Google Shape;144;p27"/>
          <p:cNvSpPr txBox="1"/>
          <p:nvPr/>
        </p:nvSpPr>
        <p:spPr>
          <a:xfrm>
            <a:off x="150875" y="2761488"/>
            <a:ext cx="1645919"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Original face </a:t>
            </a:r>
            <a:r>
              <a:rPr b="1" i="1" lang="ko" sz="1200" u="none" cap="none" strike="noStrike">
                <a:solidFill>
                  <a:srgbClr val="1F2937"/>
                </a:solidFill>
                <a:latin typeface="Noto Sans KR"/>
                <a:ea typeface="Noto Sans KR"/>
                <a:cs typeface="Noto Sans KR"/>
                <a:sym typeface="Noto Sans KR"/>
              </a:rPr>
              <a:t>X</a:t>
            </a:r>
            <a:endParaRPr/>
          </a:p>
        </p:txBody>
      </p:sp>
      <p:cxnSp>
        <p:nvCxnSpPr>
          <p:cNvPr id="145" name="Google Shape;145;p27"/>
          <p:cNvCxnSpPr/>
          <p:nvPr/>
        </p:nvCxnSpPr>
        <p:spPr>
          <a:xfrm>
            <a:off x="1595628" y="2121408"/>
            <a:ext cx="256032" cy="0"/>
          </a:xfrm>
          <a:prstGeom prst="straightConnector1">
            <a:avLst/>
          </a:prstGeom>
          <a:noFill/>
          <a:ln cap="flat" cmpd="sng" w="19050">
            <a:solidFill>
              <a:srgbClr val="1F2937"/>
            </a:solidFill>
            <a:prstDash val="solid"/>
            <a:round/>
            <a:headEnd len="sm" w="sm" type="none"/>
            <a:tailEnd len="med" w="med" type="triangle"/>
          </a:ln>
        </p:spPr>
      </p:cxnSp>
      <p:sp>
        <p:nvSpPr>
          <p:cNvPr id="146" name="Google Shape;146;p27"/>
          <p:cNvSpPr/>
          <p:nvPr/>
        </p:nvSpPr>
        <p:spPr>
          <a:xfrm>
            <a:off x="1906524" y="1847088"/>
            <a:ext cx="960120" cy="548640"/>
          </a:xfrm>
          <a:prstGeom prst="roundRect">
            <a:avLst>
              <a:gd fmla="val 20000" name="adj"/>
            </a:avLst>
          </a:prstGeom>
          <a:solidFill>
            <a:srgbClr val="4A86E8"/>
          </a:solidFill>
          <a:ln>
            <a:noFill/>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None/>
            </a:pPr>
            <a:r>
              <a:rPr b="1" i="1" lang="ko" sz="1800" u="none" cap="none" strike="noStrike">
                <a:solidFill>
                  <a:srgbClr val="FFFFFF"/>
                </a:solidFill>
                <a:latin typeface="Noto Sans KR"/>
                <a:ea typeface="Noto Sans KR"/>
                <a:cs typeface="Noto Sans KR"/>
                <a:sym typeface="Noto Sans KR"/>
              </a:rPr>
              <a:t>F</a:t>
            </a:r>
            <a:r>
              <a:rPr b="1" i="0" lang="ko" sz="1800" u="none" cap="none" strike="noStrike">
                <a:solidFill>
                  <a:srgbClr val="FFFFFF"/>
                </a:solidFill>
                <a:latin typeface="Noto Sans KR"/>
                <a:ea typeface="Noto Sans KR"/>
                <a:cs typeface="Noto Sans KR"/>
                <a:sym typeface="Noto Sans KR"/>
              </a:rPr>
              <a:t>( · )</a:t>
            </a:r>
            <a:endParaRPr/>
          </a:p>
        </p:txBody>
      </p:sp>
      <p:sp>
        <p:nvSpPr>
          <p:cNvPr id="147" name="Google Shape;147;p27"/>
          <p:cNvSpPr txBox="1"/>
          <p:nvPr/>
        </p:nvSpPr>
        <p:spPr>
          <a:xfrm>
            <a:off x="1632204" y="2761488"/>
            <a:ext cx="1508760"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ko" sz="1100" u="none" cap="none" strike="noStrike">
                <a:solidFill>
                  <a:srgbClr val="6B7280"/>
                </a:solidFill>
                <a:latin typeface="Noto Sans KR"/>
                <a:ea typeface="Noto Sans KR"/>
                <a:cs typeface="Noto Sans KR"/>
                <a:sym typeface="Noto Sans KR"/>
              </a:rPr>
              <a:t>Privacy-preserving transformation</a:t>
            </a:r>
            <a:endParaRPr/>
          </a:p>
        </p:txBody>
      </p:sp>
      <p:cxnSp>
        <p:nvCxnSpPr>
          <p:cNvPr id="148" name="Google Shape;148;p27"/>
          <p:cNvCxnSpPr/>
          <p:nvPr/>
        </p:nvCxnSpPr>
        <p:spPr>
          <a:xfrm>
            <a:off x="2921508" y="2121408"/>
            <a:ext cx="256031" cy="0"/>
          </a:xfrm>
          <a:prstGeom prst="straightConnector1">
            <a:avLst/>
          </a:prstGeom>
          <a:noFill/>
          <a:ln cap="flat" cmpd="sng" w="19050">
            <a:solidFill>
              <a:srgbClr val="1F2937"/>
            </a:solidFill>
            <a:prstDash val="solid"/>
            <a:round/>
            <a:headEnd len="sm" w="sm" type="none"/>
            <a:tailEnd len="med" w="med" type="triangle"/>
          </a:ln>
        </p:spPr>
      </p:cxnSp>
      <p:pic>
        <p:nvPicPr>
          <p:cNvPr descr="Protective representation Xp" id="149" name="Google Shape;149;p27"/>
          <p:cNvPicPr preferRelativeResize="0"/>
          <p:nvPr/>
        </p:nvPicPr>
        <p:blipFill rotWithShape="1">
          <a:blip r:embed="rId4">
            <a:alphaModFix/>
          </a:blip>
          <a:srcRect b="0" l="0" r="0" t="0"/>
          <a:stretch/>
        </p:blipFill>
        <p:spPr>
          <a:xfrm>
            <a:off x="3250691" y="1572768"/>
            <a:ext cx="1097280" cy="1097280"/>
          </a:xfrm>
          <a:prstGeom prst="rect">
            <a:avLst/>
          </a:prstGeom>
          <a:noFill/>
          <a:ln>
            <a:noFill/>
          </a:ln>
        </p:spPr>
      </p:pic>
      <p:sp>
        <p:nvSpPr>
          <p:cNvPr id="150" name="Google Shape;150;p27"/>
          <p:cNvSpPr txBox="1"/>
          <p:nvPr/>
        </p:nvSpPr>
        <p:spPr>
          <a:xfrm>
            <a:off x="2930651" y="2761488"/>
            <a:ext cx="1737360" cy="4572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Protective representation</a:t>
            </a:r>
            <a:endParaRPr/>
          </a:p>
          <a:p>
            <a:pPr indent="0" lvl="0" marL="0" marR="0" rtl="0" algn="ctr">
              <a:lnSpc>
                <a:spcPct val="100000"/>
              </a:lnSpc>
              <a:spcBef>
                <a:spcPts val="0"/>
              </a:spcBef>
              <a:spcAft>
                <a:spcPts val="0"/>
              </a:spcAft>
              <a:buNone/>
            </a:pPr>
            <a:r>
              <a:rPr b="1" i="1" lang="ko" sz="1200" u="none" cap="none" strike="noStrike">
                <a:solidFill>
                  <a:srgbClr val="1F2937"/>
                </a:solidFill>
                <a:latin typeface="Noto Sans KR"/>
                <a:ea typeface="Noto Sans KR"/>
                <a:cs typeface="Noto Sans KR"/>
                <a:sym typeface="Noto Sans KR"/>
              </a:rPr>
              <a:t>X</a:t>
            </a:r>
            <a:r>
              <a:rPr b="1" baseline="-25000" i="1" lang="ko" sz="1200" u="none" cap="none" strike="noStrike">
                <a:solidFill>
                  <a:srgbClr val="1F2937"/>
                </a:solidFill>
                <a:latin typeface="Noto Sans KR"/>
                <a:ea typeface="Noto Sans KR"/>
                <a:cs typeface="Noto Sans KR"/>
                <a:sym typeface="Noto Sans KR"/>
              </a:rPr>
              <a:t>p</a:t>
            </a:r>
            <a:r>
              <a:rPr b="0" i="0" lang="ko" sz="1200" u="none" cap="none" strike="noStrike">
                <a:solidFill>
                  <a:srgbClr val="1F2937"/>
                </a:solidFill>
                <a:latin typeface="Noto Sans KR"/>
                <a:ea typeface="Noto Sans KR"/>
                <a:cs typeface="Noto Sans KR"/>
                <a:sym typeface="Noto Sans KR"/>
              </a:rPr>
              <a:t>  =  </a:t>
            </a:r>
            <a:r>
              <a:rPr b="0" i="1" lang="ko" sz="1200" u="none" cap="none" strike="noStrike">
                <a:solidFill>
                  <a:srgbClr val="1F2937"/>
                </a:solidFill>
                <a:latin typeface="Noto Sans KR"/>
                <a:ea typeface="Noto Sans KR"/>
                <a:cs typeface="Noto Sans KR"/>
                <a:sym typeface="Noto Sans KR"/>
              </a:rPr>
              <a:t>F</a:t>
            </a:r>
            <a:r>
              <a:rPr b="0" i="0" lang="ko" sz="1200" u="none" cap="none" strike="noStrike">
                <a:solidFill>
                  <a:srgbClr val="1F2937"/>
                </a:solidFill>
                <a:latin typeface="Noto Sans KR"/>
                <a:ea typeface="Noto Sans KR"/>
                <a:cs typeface="Noto Sans KR"/>
                <a:sym typeface="Noto Sans KR"/>
              </a:rPr>
              <a:t>(</a:t>
            </a:r>
            <a:r>
              <a:rPr b="0" i="1" lang="ko" sz="1200" u="none" cap="none" strike="noStrike">
                <a:solidFill>
                  <a:srgbClr val="1F2937"/>
                </a:solidFill>
                <a:latin typeface="Noto Sans KR"/>
                <a:ea typeface="Noto Sans KR"/>
                <a:cs typeface="Noto Sans KR"/>
                <a:sym typeface="Noto Sans KR"/>
              </a:rPr>
              <a:t>X</a:t>
            </a:r>
            <a:r>
              <a:rPr b="0" i="0" lang="ko" sz="1200" u="none" cap="none" strike="noStrike">
                <a:solidFill>
                  <a:srgbClr val="1F2937"/>
                </a:solidFill>
                <a:latin typeface="Noto Sans KR"/>
                <a:ea typeface="Noto Sans KR"/>
                <a:cs typeface="Noto Sans KR"/>
                <a:sym typeface="Noto Sans KR"/>
              </a:rPr>
              <a:t>)</a:t>
            </a:r>
            <a:endParaRPr/>
          </a:p>
        </p:txBody>
      </p:sp>
      <p:sp>
        <p:nvSpPr>
          <p:cNvPr id="151" name="Google Shape;151;p27"/>
          <p:cNvSpPr/>
          <p:nvPr/>
        </p:nvSpPr>
        <p:spPr>
          <a:xfrm>
            <a:off x="5074920" y="1536192"/>
            <a:ext cx="3735324" cy="786384"/>
          </a:xfrm>
          <a:prstGeom prst="roundRect">
            <a:avLst>
              <a:gd fmla="val 15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2" name="Google Shape;152;p27"/>
          <p:cNvSpPr/>
          <p:nvPr/>
        </p:nvSpPr>
        <p:spPr>
          <a:xfrm>
            <a:off x="5248656" y="1691639"/>
            <a:ext cx="475488" cy="475488"/>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shield_w.png" id="153" name="Google Shape;153;p27"/>
          <p:cNvPicPr preferRelativeResize="0"/>
          <p:nvPr/>
        </p:nvPicPr>
        <p:blipFill rotWithShape="1">
          <a:blip r:embed="rId5">
            <a:alphaModFix/>
          </a:blip>
          <a:srcRect b="0" l="0" r="0" t="0"/>
          <a:stretch/>
        </p:blipFill>
        <p:spPr>
          <a:xfrm>
            <a:off x="5355640" y="1798624"/>
            <a:ext cx="261518" cy="261518"/>
          </a:xfrm>
          <a:prstGeom prst="rect">
            <a:avLst/>
          </a:prstGeom>
          <a:noFill/>
          <a:ln>
            <a:noFill/>
          </a:ln>
        </p:spPr>
      </p:pic>
      <p:sp>
        <p:nvSpPr>
          <p:cNvPr id="154" name="Google Shape;154;p27"/>
          <p:cNvSpPr txBox="1"/>
          <p:nvPr/>
        </p:nvSpPr>
        <p:spPr>
          <a:xfrm>
            <a:off x="5852159" y="1627632"/>
            <a:ext cx="2820924"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400" u="none" cap="none" strike="noStrike">
                <a:solidFill>
                  <a:srgbClr val="2B5FB8"/>
                </a:solidFill>
                <a:latin typeface="Noto Sans KR"/>
                <a:ea typeface="Noto Sans KR"/>
                <a:cs typeface="Noto Sans KR"/>
                <a:sym typeface="Noto Sans KR"/>
              </a:rPr>
              <a:t>Privacy</a:t>
            </a:r>
            <a:endParaRPr/>
          </a:p>
        </p:txBody>
      </p:sp>
      <p:sp>
        <p:nvSpPr>
          <p:cNvPr id="155" name="Google Shape;155;p27"/>
          <p:cNvSpPr txBox="1"/>
          <p:nvPr/>
        </p:nvSpPr>
        <p:spPr>
          <a:xfrm>
            <a:off x="5852159" y="1883664"/>
            <a:ext cx="2820924"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Hide visual appearance and resist recovery attacks.</a:t>
            </a:r>
            <a:endParaRPr/>
          </a:p>
        </p:txBody>
      </p:sp>
      <p:sp>
        <p:nvSpPr>
          <p:cNvPr id="156" name="Google Shape;156;p27"/>
          <p:cNvSpPr/>
          <p:nvPr/>
        </p:nvSpPr>
        <p:spPr>
          <a:xfrm>
            <a:off x="5074920" y="2450591"/>
            <a:ext cx="3735324" cy="786384"/>
          </a:xfrm>
          <a:prstGeom prst="roundRect">
            <a:avLst>
              <a:gd fmla="val 15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57" name="Google Shape;157;p27"/>
          <p:cNvSpPr/>
          <p:nvPr/>
        </p:nvSpPr>
        <p:spPr>
          <a:xfrm>
            <a:off x="5248656" y="2606039"/>
            <a:ext cx="475488" cy="475488"/>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idcheck_w.png" id="158" name="Google Shape;158;p27"/>
          <p:cNvPicPr preferRelativeResize="0"/>
          <p:nvPr/>
        </p:nvPicPr>
        <p:blipFill rotWithShape="1">
          <a:blip r:embed="rId6">
            <a:alphaModFix/>
          </a:blip>
          <a:srcRect b="0" l="0" r="0" t="0"/>
          <a:stretch/>
        </p:blipFill>
        <p:spPr>
          <a:xfrm>
            <a:off x="5355640" y="2713024"/>
            <a:ext cx="261518" cy="261518"/>
          </a:xfrm>
          <a:prstGeom prst="rect">
            <a:avLst/>
          </a:prstGeom>
          <a:noFill/>
          <a:ln>
            <a:noFill/>
          </a:ln>
        </p:spPr>
      </p:pic>
      <p:sp>
        <p:nvSpPr>
          <p:cNvPr id="159" name="Google Shape;159;p27"/>
          <p:cNvSpPr txBox="1"/>
          <p:nvPr/>
        </p:nvSpPr>
        <p:spPr>
          <a:xfrm>
            <a:off x="5852159" y="2542032"/>
            <a:ext cx="2820924"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400" u="none" cap="none" strike="noStrike">
                <a:solidFill>
                  <a:srgbClr val="2B5FB8"/>
                </a:solidFill>
                <a:latin typeface="Noto Sans KR"/>
                <a:ea typeface="Noto Sans KR"/>
                <a:cs typeface="Noto Sans KR"/>
                <a:sym typeface="Noto Sans KR"/>
              </a:rPr>
              <a:t>Utility</a:t>
            </a:r>
            <a:endParaRPr/>
          </a:p>
        </p:txBody>
      </p:sp>
      <p:sp>
        <p:nvSpPr>
          <p:cNvPr id="160" name="Google Shape;160;p27"/>
          <p:cNvSpPr txBox="1"/>
          <p:nvPr/>
        </p:nvSpPr>
        <p:spPr>
          <a:xfrm>
            <a:off x="5852159" y="2798063"/>
            <a:ext cx="2820924" cy="4114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Preserve identity information and maintain recognition accuracy.</a:t>
            </a:r>
            <a:endParaRPr/>
          </a:p>
        </p:txBody>
      </p:sp>
      <p:sp>
        <p:nvSpPr>
          <p:cNvPr id="161" name="Google Shape;161;p27"/>
          <p:cNvSpPr/>
          <p:nvPr/>
        </p:nvSpPr>
        <p:spPr>
          <a:xfrm>
            <a:off x="333756" y="3611880"/>
            <a:ext cx="8476488" cy="1143000"/>
          </a:xfrm>
          <a:prstGeom prst="roundRect">
            <a:avLst>
              <a:gd fmla="val 12000" name="adj"/>
            </a:avLst>
          </a:prstGeom>
          <a:solidFill>
            <a:srgbClr val="EEF3FC"/>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62" name="Google Shape;162;p27"/>
          <p:cNvSpPr txBox="1"/>
          <p:nvPr/>
        </p:nvSpPr>
        <p:spPr>
          <a:xfrm>
            <a:off x="562356" y="3758184"/>
            <a:ext cx="2103120"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400" u="none" cap="none" strike="noStrike">
                <a:solidFill>
                  <a:srgbClr val="2B5FB8"/>
                </a:solidFill>
                <a:latin typeface="Noto Sans KR"/>
                <a:ea typeface="Noto Sans KR"/>
                <a:cs typeface="Noto Sans KR"/>
                <a:sym typeface="Noto Sans KR"/>
              </a:rPr>
              <a:t>Privacy  ↑</a:t>
            </a:r>
            <a:endParaRPr/>
          </a:p>
        </p:txBody>
      </p:sp>
      <p:sp>
        <p:nvSpPr>
          <p:cNvPr id="163" name="Google Shape;163;p27"/>
          <p:cNvSpPr txBox="1"/>
          <p:nvPr/>
        </p:nvSpPr>
        <p:spPr>
          <a:xfrm>
            <a:off x="562356" y="4014216"/>
            <a:ext cx="210312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100" u="none" cap="none" strike="noStrike">
                <a:solidFill>
                  <a:srgbClr val="6B7280"/>
                </a:solidFill>
                <a:latin typeface="Noto Sans KR"/>
                <a:ea typeface="Noto Sans KR"/>
                <a:cs typeface="Noto Sans KR"/>
                <a:sym typeface="Noto Sans KR"/>
              </a:rPr>
              <a:t>remove more information</a:t>
            </a:r>
            <a:endParaRPr/>
          </a:p>
        </p:txBody>
      </p:sp>
      <p:sp>
        <p:nvSpPr>
          <p:cNvPr id="164" name="Google Shape;164;p27"/>
          <p:cNvSpPr txBox="1"/>
          <p:nvPr/>
        </p:nvSpPr>
        <p:spPr>
          <a:xfrm>
            <a:off x="5838444" y="3758184"/>
            <a:ext cx="2743200" cy="27432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1" i="0" lang="ko" sz="1400" u="none" cap="none" strike="noStrike">
                <a:solidFill>
                  <a:srgbClr val="2B5FB8"/>
                </a:solidFill>
                <a:latin typeface="Noto Sans KR"/>
                <a:ea typeface="Noto Sans KR"/>
                <a:cs typeface="Noto Sans KR"/>
                <a:sym typeface="Noto Sans KR"/>
              </a:rPr>
              <a:t>Recognition accuracy  ↑</a:t>
            </a:r>
            <a:endParaRPr/>
          </a:p>
        </p:txBody>
      </p:sp>
      <p:sp>
        <p:nvSpPr>
          <p:cNvPr id="165" name="Google Shape;165;p27"/>
          <p:cNvSpPr txBox="1"/>
          <p:nvPr/>
        </p:nvSpPr>
        <p:spPr>
          <a:xfrm>
            <a:off x="5838444" y="4014216"/>
            <a:ext cx="2743200" cy="228600"/>
          </a:xfrm>
          <a:prstGeom prst="rect">
            <a:avLst/>
          </a:prstGeom>
          <a:noFill/>
          <a:ln>
            <a:noFill/>
          </a:ln>
        </p:spPr>
        <p:txBody>
          <a:bodyPr anchorCtr="0" anchor="t" bIns="0" lIns="0" spcFirstLastPara="1" rIns="0" wrap="square" tIns="0">
            <a:noAutofit/>
          </a:bodyPr>
          <a:lstStyle/>
          <a:p>
            <a:pPr indent="0" lvl="0" marL="0" marR="0" rtl="0" algn="r">
              <a:lnSpc>
                <a:spcPct val="100000"/>
              </a:lnSpc>
              <a:spcBef>
                <a:spcPts val="0"/>
              </a:spcBef>
              <a:spcAft>
                <a:spcPts val="0"/>
              </a:spcAft>
              <a:buNone/>
            </a:pPr>
            <a:r>
              <a:rPr b="0" i="0" lang="ko" sz="1100" u="none" cap="none" strike="noStrike">
                <a:solidFill>
                  <a:srgbClr val="6B7280"/>
                </a:solidFill>
                <a:latin typeface="Noto Sans KR"/>
                <a:ea typeface="Noto Sans KR"/>
                <a:cs typeface="Noto Sans KR"/>
                <a:sym typeface="Noto Sans KR"/>
              </a:rPr>
              <a:t>keep more information</a:t>
            </a:r>
            <a:endParaRPr/>
          </a:p>
        </p:txBody>
      </p:sp>
      <p:cxnSp>
        <p:nvCxnSpPr>
          <p:cNvPr id="166" name="Google Shape;166;p27"/>
          <p:cNvCxnSpPr/>
          <p:nvPr/>
        </p:nvCxnSpPr>
        <p:spPr>
          <a:xfrm>
            <a:off x="1933956" y="3941064"/>
            <a:ext cx="4133088" cy="0"/>
          </a:xfrm>
          <a:prstGeom prst="straightConnector1">
            <a:avLst/>
          </a:prstGeom>
          <a:noFill/>
          <a:ln cap="flat" cmpd="sng" w="25400">
            <a:solidFill>
              <a:srgbClr val="2B5FB8"/>
            </a:solidFill>
            <a:prstDash val="solid"/>
            <a:round/>
            <a:headEnd len="med" w="med" type="triangle"/>
            <a:tailEnd len="med" w="med" type="triangle"/>
          </a:ln>
        </p:spPr>
      </p:cxnSp>
      <p:sp>
        <p:nvSpPr>
          <p:cNvPr id="167" name="Google Shape;167;p27"/>
          <p:cNvSpPr txBox="1"/>
          <p:nvPr/>
        </p:nvSpPr>
        <p:spPr>
          <a:xfrm>
            <a:off x="3086100" y="3666744"/>
            <a:ext cx="182880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100" u="none" cap="none" strike="noStrike">
                <a:solidFill>
                  <a:srgbClr val="2B5FB8"/>
                </a:solidFill>
                <a:latin typeface="Noto Sans KR"/>
                <a:ea typeface="Noto Sans KR"/>
                <a:cs typeface="Noto Sans KR"/>
                <a:sym typeface="Noto Sans KR"/>
              </a:rPr>
              <a:t>trade-off</a:t>
            </a:r>
            <a:endParaRPr/>
          </a:p>
        </p:txBody>
      </p:sp>
      <p:sp>
        <p:nvSpPr>
          <p:cNvPr id="168" name="Google Shape;168;p27"/>
          <p:cNvSpPr txBox="1"/>
          <p:nvPr/>
        </p:nvSpPr>
        <p:spPr>
          <a:xfrm>
            <a:off x="562356" y="4361688"/>
            <a:ext cx="8019288" cy="27432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D64545"/>
                </a:solidFill>
                <a:latin typeface="Noto Sans KR"/>
                <a:ea typeface="Noto Sans KR"/>
                <a:cs typeface="Noto Sans KR"/>
                <a:sym typeface="Noto Sans KR"/>
              </a:rPr>
              <a:t>Challenge:  </a:t>
            </a:r>
            <a:r>
              <a:rPr b="0" i="0" lang="ko" sz="1300" u="none" cap="none" strike="noStrike">
                <a:solidFill>
                  <a:srgbClr val="1F2937"/>
                </a:solidFill>
                <a:latin typeface="Noto Sans KR"/>
                <a:ea typeface="Noto Sans KR"/>
                <a:cs typeface="Noto Sans KR"/>
                <a:sym typeface="Noto Sans KR"/>
              </a:rPr>
              <a:t>identity features and visual features are closely intertwined.</a:t>
            </a:r>
            <a:endParaRPr/>
          </a:p>
        </p:txBody>
      </p:sp>
      <p:sp>
        <p:nvSpPr>
          <p:cNvPr id="169" name="Google Shape;169;p2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3" name="Shape 173"/>
        <p:cNvGrpSpPr/>
        <p:nvPr/>
      </p:nvGrpSpPr>
      <p:grpSpPr>
        <a:xfrm>
          <a:off x="0" y="0"/>
          <a:ext cx="0" cy="0"/>
          <a:chOff x="0" y="0"/>
          <a:chExt cx="0" cy="0"/>
        </a:xfrm>
      </p:grpSpPr>
      <p:sp>
        <p:nvSpPr>
          <p:cNvPr id="174" name="Google Shape;174;p28"/>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175" name="Google Shape;175;p28"/>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3000"/>
              <a:buFont typeface="Arial"/>
              <a:buNone/>
            </a:pPr>
            <a:r>
              <a:rPr b="1" i="0" lang="ko" sz="3000" u="none" cap="none" strike="noStrike">
                <a:solidFill>
                  <a:schemeClr val="dk1"/>
                </a:solidFill>
                <a:latin typeface="Noto Sans KR"/>
                <a:ea typeface="Noto Sans KR"/>
                <a:cs typeface="Noto Sans KR"/>
                <a:sym typeface="Noto Sans KR"/>
              </a:rPr>
              <a:t>Related Work</a:t>
            </a:r>
            <a:endParaRPr b="1" i="0" sz="3000" u="none" cap="none" strike="noStrike">
              <a:solidFill>
                <a:schemeClr val="dk1"/>
              </a:solidFill>
              <a:latin typeface="Noto Sans KR"/>
              <a:ea typeface="Noto Sans KR"/>
              <a:cs typeface="Noto Sans KR"/>
              <a:sym typeface="Noto Sans KR"/>
            </a:endParaRPr>
          </a:p>
        </p:txBody>
      </p:sp>
      <p:sp>
        <p:nvSpPr>
          <p:cNvPr id="176" name="Google Shape;176;p28"/>
          <p:cNvSpPr txBox="1"/>
          <p:nvPr/>
        </p:nvSpPr>
        <p:spPr>
          <a:xfrm>
            <a:off x="333756" y="987552"/>
            <a:ext cx="8476488"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900" u="none" cap="none" strike="noStrike">
                <a:solidFill>
                  <a:srgbClr val="1F2937"/>
                </a:solidFill>
                <a:latin typeface="Noto Sans KR"/>
                <a:ea typeface="Noto Sans KR"/>
                <a:cs typeface="Noto Sans KR"/>
                <a:sym typeface="Noto Sans KR"/>
              </a:rPr>
              <a:t>Existing PPFR approaches: two main families</a:t>
            </a:r>
            <a:endParaRPr/>
          </a:p>
        </p:txBody>
      </p:sp>
      <p:sp>
        <p:nvSpPr>
          <p:cNvPr id="177" name="Google Shape;177;p28"/>
          <p:cNvSpPr/>
          <p:nvPr/>
        </p:nvSpPr>
        <p:spPr>
          <a:xfrm>
            <a:off x="333756" y="1536192"/>
            <a:ext cx="4101083" cy="2487168"/>
          </a:xfrm>
          <a:prstGeom prst="roundRect">
            <a:avLst>
              <a:gd fmla="val 8000" name="adj"/>
            </a:avLst>
          </a:prstGeom>
          <a:solidFill>
            <a:srgbClr val="FFFFFF"/>
          </a:solidFill>
          <a:ln cap="flat" cmpd="sng" w="12700">
            <a:solidFill>
              <a:srgbClr val="D9DEE7"/>
            </a:solidFill>
            <a:prstDash val="solid"/>
            <a:round/>
            <a:headEnd len="sm" w="sm" type="none"/>
            <a:tailEnd len="sm" w="sm" type="none"/>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78" name="Google Shape;178;p28"/>
          <p:cNvSpPr/>
          <p:nvPr/>
        </p:nvSpPr>
        <p:spPr>
          <a:xfrm>
            <a:off x="534924" y="1691639"/>
            <a:ext cx="512064" cy="512064"/>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lock_w.png" id="179" name="Google Shape;179;p28"/>
          <p:cNvPicPr preferRelativeResize="0"/>
          <p:nvPr/>
        </p:nvPicPr>
        <p:blipFill rotWithShape="1">
          <a:blip r:embed="rId3">
            <a:alphaModFix/>
          </a:blip>
          <a:srcRect b="0" l="0" r="0" t="0"/>
          <a:stretch/>
        </p:blipFill>
        <p:spPr>
          <a:xfrm>
            <a:off x="650138" y="1806854"/>
            <a:ext cx="281635" cy="281635"/>
          </a:xfrm>
          <a:prstGeom prst="rect">
            <a:avLst/>
          </a:prstGeom>
          <a:noFill/>
          <a:ln>
            <a:noFill/>
          </a:ln>
        </p:spPr>
      </p:pic>
      <p:sp>
        <p:nvSpPr>
          <p:cNvPr id="180" name="Google Shape;180;p28"/>
          <p:cNvSpPr txBox="1"/>
          <p:nvPr/>
        </p:nvSpPr>
        <p:spPr>
          <a:xfrm>
            <a:off x="1202436" y="1783080"/>
            <a:ext cx="3095243"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ko" sz="1600" u="none" cap="none" strike="noStrike">
                <a:solidFill>
                  <a:srgbClr val="1F2937"/>
                </a:solidFill>
                <a:latin typeface="Noto Sans KR"/>
                <a:ea typeface="Noto Sans KR"/>
                <a:cs typeface="Noto Sans KR"/>
                <a:sym typeface="Noto Sans KR"/>
              </a:rPr>
              <a:t>Cryptographic methods</a:t>
            </a:r>
            <a:endParaRPr/>
          </a:p>
        </p:txBody>
      </p:sp>
      <p:sp>
        <p:nvSpPr>
          <p:cNvPr id="181" name="Google Shape;181;p28"/>
          <p:cNvSpPr/>
          <p:nvPr/>
        </p:nvSpPr>
        <p:spPr>
          <a:xfrm>
            <a:off x="608076" y="2478024"/>
            <a:ext cx="73152" cy="73152"/>
          </a:xfrm>
          <a:prstGeom prst="ellipse">
            <a:avLst/>
          </a:prstGeom>
          <a:solidFill>
            <a:srgbClr val="6B72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2" name="Google Shape;182;p28"/>
          <p:cNvSpPr txBox="1"/>
          <p:nvPr/>
        </p:nvSpPr>
        <p:spPr>
          <a:xfrm>
            <a:off x="790956" y="2404872"/>
            <a:ext cx="3461003"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Homomorphic encryption</a:t>
            </a:r>
            <a:endParaRPr/>
          </a:p>
        </p:txBody>
      </p:sp>
      <p:sp>
        <p:nvSpPr>
          <p:cNvPr id="183" name="Google Shape;183;p28"/>
          <p:cNvSpPr/>
          <p:nvPr/>
        </p:nvSpPr>
        <p:spPr>
          <a:xfrm>
            <a:off x="608076" y="2779776"/>
            <a:ext cx="73152" cy="73152"/>
          </a:xfrm>
          <a:prstGeom prst="ellipse">
            <a:avLst/>
          </a:prstGeom>
          <a:solidFill>
            <a:srgbClr val="6B72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84" name="Google Shape;184;p28"/>
          <p:cNvSpPr txBox="1"/>
          <p:nvPr/>
        </p:nvSpPr>
        <p:spPr>
          <a:xfrm>
            <a:off x="790956" y="2706624"/>
            <a:ext cx="3461003"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Secure multi-party computation</a:t>
            </a:r>
            <a:endParaRPr/>
          </a:p>
        </p:txBody>
      </p:sp>
      <p:cxnSp>
        <p:nvCxnSpPr>
          <p:cNvPr id="185" name="Google Shape;185;p28"/>
          <p:cNvCxnSpPr/>
          <p:nvPr/>
        </p:nvCxnSpPr>
        <p:spPr>
          <a:xfrm>
            <a:off x="608076" y="3346704"/>
            <a:ext cx="3552444" cy="0"/>
          </a:xfrm>
          <a:prstGeom prst="straightConnector1">
            <a:avLst/>
          </a:prstGeom>
          <a:noFill/>
          <a:ln cap="flat" cmpd="sng" w="12700">
            <a:solidFill>
              <a:srgbClr val="D9DEE7"/>
            </a:solidFill>
            <a:prstDash val="solid"/>
            <a:round/>
            <a:headEnd len="sm" w="sm" type="none"/>
            <a:tailEnd len="sm" w="sm" type="none"/>
          </a:ln>
        </p:spPr>
      </p:cxnSp>
      <p:sp>
        <p:nvSpPr>
          <p:cNvPr id="186" name="Google Shape;186;p28"/>
          <p:cNvSpPr/>
          <p:nvPr/>
        </p:nvSpPr>
        <p:spPr>
          <a:xfrm>
            <a:off x="608075" y="3474720"/>
            <a:ext cx="219456" cy="219456"/>
          </a:xfrm>
          <a:prstGeom prst="ellipse">
            <a:avLst/>
          </a:prstGeom>
          <a:solidFill>
            <a:srgbClr val="2E9E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check_w.png" id="187" name="Google Shape;187;p28"/>
          <p:cNvPicPr preferRelativeResize="0"/>
          <p:nvPr/>
        </p:nvPicPr>
        <p:blipFill rotWithShape="1">
          <a:blip r:embed="rId4">
            <a:alphaModFix/>
          </a:blip>
          <a:srcRect b="0" l="0" r="0" t="0"/>
          <a:stretch/>
        </p:blipFill>
        <p:spPr>
          <a:xfrm>
            <a:off x="651967" y="3518611"/>
            <a:ext cx="131673" cy="131673"/>
          </a:xfrm>
          <a:prstGeom prst="rect">
            <a:avLst/>
          </a:prstGeom>
          <a:noFill/>
          <a:ln>
            <a:noFill/>
          </a:ln>
        </p:spPr>
      </p:pic>
      <p:sp>
        <p:nvSpPr>
          <p:cNvPr id="188" name="Google Shape;188;p28"/>
          <p:cNvSpPr txBox="1"/>
          <p:nvPr/>
        </p:nvSpPr>
        <p:spPr>
          <a:xfrm>
            <a:off x="928116" y="3474720"/>
            <a:ext cx="3278123"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50" u="none" cap="none" strike="noStrike">
                <a:solidFill>
                  <a:srgbClr val="1F2937"/>
                </a:solidFill>
                <a:latin typeface="Noto Sans KR"/>
                <a:ea typeface="Noto Sans KR"/>
                <a:cs typeface="Noto Sans KR"/>
                <a:sym typeface="Noto Sans KR"/>
              </a:rPr>
              <a:t>Strong privacy protection</a:t>
            </a:r>
            <a:endParaRPr/>
          </a:p>
        </p:txBody>
      </p:sp>
      <p:sp>
        <p:nvSpPr>
          <p:cNvPr id="189" name="Google Shape;189;p28"/>
          <p:cNvSpPr/>
          <p:nvPr/>
        </p:nvSpPr>
        <p:spPr>
          <a:xfrm>
            <a:off x="608075" y="3730752"/>
            <a:ext cx="219456" cy="219456"/>
          </a:xfrm>
          <a:prstGeom prst="ellipse">
            <a:avLst/>
          </a:prstGeom>
          <a:solidFill>
            <a:srgbClr val="D6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cross_w.png" id="190" name="Google Shape;190;p28"/>
          <p:cNvPicPr preferRelativeResize="0"/>
          <p:nvPr/>
        </p:nvPicPr>
        <p:blipFill rotWithShape="1">
          <a:blip r:embed="rId5">
            <a:alphaModFix/>
          </a:blip>
          <a:srcRect b="0" l="0" r="0" t="0"/>
          <a:stretch/>
        </p:blipFill>
        <p:spPr>
          <a:xfrm>
            <a:off x="651967" y="3774643"/>
            <a:ext cx="131673" cy="131673"/>
          </a:xfrm>
          <a:prstGeom prst="rect">
            <a:avLst/>
          </a:prstGeom>
          <a:noFill/>
          <a:ln>
            <a:noFill/>
          </a:ln>
        </p:spPr>
      </p:pic>
      <p:sp>
        <p:nvSpPr>
          <p:cNvPr id="191" name="Google Shape;191;p28"/>
          <p:cNvSpPr txBox="1"/>
          <p:nvPr/>
        </p:nvSpPr>
        <p:spPr>
          <a:xfrm>
            <a:off x="928116" y="3730752"/>
            <a:ext cx="3278123"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250" u="none" cap="none" strike="noStrike">
                <a:solidFill>
                  <a:srgbClr val="D64545"/>
                </a:solidFill>
                <a:latin typeface="Noto Sans KR"/>
                <a:ea typeface="Noto Sans KR"/>
                <a:cs typeface="Noto Sans KR"/>
                <a:sym typeface="Noto Sans KR"/>
              </a:rPr>
              <a:t>High computation and latency</a:t>
            </a:r>
            <a:endParaRPr/>
          </a:p>
        </p:txBody>
      </p:sp>
      <p:sp>
        <p:nvSpPr>
          <p:cNvPr id="192" name="Google Shape;192;p28"/>
          <p:cNvSpPr/>
          <p:nvPr/>
        </p:nvSpPr>
        <p:spPr>
          <a:xfrm>
            <a:off x="4709159" y="1536192"/>
            <a:ext cx="4101083" cy="2487168"/>
          </a:xfrm>
          <a:prstGeom prst="roundRect">
            <a:avLst>
              <a:gd fmla="val 8000" name="adj"/>
            </a:avLst>
          </a:prstGeom>
          <a:solidFill>
            <a:srgbClr val="FFFFFF"/>
          </a:solidFill>
          <a:ln cap="flat" cmpd="sng" w="12700">
            <a:solidFill>
              <a:srgbClr val="D9DEE7"/>
            </a:solidFill>
            <a:prstDash val="solid"/>
            <a:round/>
            <a:headEnd len="sm" w="sm" type="none"/>
            <a:tailEnd len="sm" w="sm" type="none"/>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3" name="Google Shape;193;p28"/>
          <p:cNvSpPr/>
          <p:nvPr/>
        </p:nvSpPr>
        <p:spPr>
          <a:xfrm>
            <a:off x="4910327" y="1691639"/>
            <a:ext cx="512064" cy="512064"/>
          </a:xfrm>
          <a:prstGeom prst="ellipse">
            <a:avLst/>
          </a:prstGeom>
          <a:solidFill>
            <a:srgbClr val="4A86E8"/>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wand_w.png" id="194" name="Google Shape;194;p28"/>
          <p:cNvPicPr preferRelativeResize="0"/>
          <p:nvPr/>
        </p:nvPicPr>
        <p:blipFill rotWithShape="1">
          <a:blip r:embed="rId6">
            <a:alphaModFix/>
          </a:blip>
          <a:srcRect b="0" l="0" r="0" t="0"/>
          <a:stretch/>
        </p:blipFill>
        <p:spPr>
          <a:xfrm>
            <a:off x="5025542" y="1806854"/>
            <a:ext cx="281635" cy="281635"/>
          </a:xfrm>
          <a:prstGeom prst="rect">
            <a:avLst/>
          </a:prstGeom>
          <a:noFill/>
          <a:ln>
            <a:noFill/>
          </a:ln>
        </p:spPr>
      </p:pic>
      <p:sp>
        <p:nvSpPr>
          <p:cNvPr id="195" name="Google Shape;195;p28"/>
          <p:cNvSpPr txBox="1"/>
          <p:nvPr/>
        </p:nvSpPr>
        <p:spPr>
          <a:xfrm>
            <a:off x="5577840" y="1783080"/>
            <a:ext cx="3095243" cy="329184"/>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ko" sz="1600" u="none" cap="none" strike="noStrike">
                <a:solidFill>
                  <a:srgbClr val="1F2937"/>
                </a:solidFill>
                <a:latin typeface="Noto Sans KR"/>
                <a:ea typeface="Noto Sans KR"/>
                <a:cs typeface="Noto Sans KR"/>
                <a:sym typeface="Noto Sans KR"/>
              </a:rPr>
              <a:t>Transform-based methods</a:t>
            </a:r>
            <a:endParaRPr/>
          </a:p>
        </p:txBody>
      </p:sp>
      <p:sp>
        <p:nvSpPr>
          <p:cNvPr id="196" name="Google Shape;196;p28"/>
          <p:cNvSpPr/>
          <p:nvPr/>
        </p:nvSpPr>
        <p:spPr>
          <a:xfrm>
            <a:off x="4983479" y="2478024"/>
            <a:ext cx="73152" cy="73152"/>
          </a:xfrm>
          <a:prstGeom prst="ellipse">
            <a:avLst/>
          </a:prstGeom>
          <a:solidFill>
            <a:srgbClr val="6B72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7" name="Google Shape;197;p28"/>
          <p:cNvSpPr txBox="1"/>
          <p:nvPr/>
        </p:nvSpPr>
        <p:spPr>
          <a:xfrm>
            <a:off x="5166359" y="2404872"/>
            <a:ext cx="3461003"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Noise or image transformation</a:t>
            </a:r>
            <a:endParaRPr/>
          </a:p>
        </p:txBody>
      </p:sp>
      <p:sp>
        <p:nvSpPr>
          <p:cNvPr id="198" name="Google Shape;198;p28"/>
          <p:cNvSpPr/>
          <p:nvPr/>
        </p:nvSpPr>
        <p:spPr>
          <a:xfrm>
            <a:off x="4983479" y="2779776"/>
            <a:ext cx="73152" cy="73152"/>
          </a:xfrm>
          <a:prstGeom prst="ellipse">
            <a:avLst/>
          </a:prstGeom>
          <a:solidFill>
            <a:srgbClr val="6B72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199" name="Google Shape;199;p28"/>
          <p:cNvSpPr txBox="1"/>
          <p:nvPr/>
        </p:nvSpPr>
        <p:spPr>
          <a:xfrm>
            <a:off x="5166359" y="2706624"/>
            <a:ext cx="3461003"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Frequency-domain feature removal</a:t>
            </a:r>
            <a:endParaRPr/>
          </a:p>
        </p:txBody>
      </p:sp>
      <p:sp>
        <p:nvSpPr>
          <p:cNvPr id="200" name="Google Shape;200;p28"/>
          <p:cNvSpPr/>
          <p:nvPr/>
        </p:nvSpPr>
        <p:spPr>
          <a:xfrm>
            <a:off x="4983479" y="3081528"/>
            <a:ext cx="73152" cy="73152"/>
          </a:xfrm>
          <a:prstGeom prst="ellipse">
            <a:avLst/>
          </a:prstGeom>
          <a:solidFill>
            <a:srgbClr val="6B7280"/>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01" name="Google Shape;201;p28"/>
          <p:cNvSpPr txBox="1"/>
          <p:nvPr/>
        </p:nvSpPr>
        <p:spPr>
          <a:xfrm>
            <a:off x="5166359" y="3008376"/>
            <a:ext cx="3461003" cy="27432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300" u="none" cap="none" strike="noStrike">
                <a:solidFill>
                  <a:srgbClr val="1F2937"/>
                </a:solidFill>
                <a:latin typeface="Noto Sans KR"/>
                <a:ea typeface="Noto Sans KR"/>
                <a:cs typeface="Noto Sans KR"/>
                <a:sym typeface="Noto Sans KR"/>
              </a:rPr>
              <a:t>Steganography / adversarial perturbation</a:t>
            </a:r>
            <a:endParaRPr/>
          </a:p>
        </p:txBody>
      </p:sp>
      <p:cxnSp>
        <p:nvCxnSpPr>
          <p:cNvPr id="202" name="Google Shape;202;p28"/>
          <p:cNvCxnSpPr/>
          <p:nvPr/>
        </p:nvCxnSpPr>
        <p:spPr>
          <a:xfrm>
            <a:off x="4983479" y="3346704"/>
            <a:ext cx="3552444" cy="0"/>
          </a:xfrm>
          <a:prstGeom prst="straightConnector1">
            <a:avLst/>
          </a:prstGeom>
          <a:noFill/>
          <a:ln cap="flat" cmpd="sng" w="12700">
            <a:solidFill>
              <a:srgbClr val="D9DEE7"/>
            </a:solidFill>
            <a:prstDash val="solid"/>
            <a:round/>
            <a:headEnd len="sm" w="sm" type="none"/>
            <a:tailEnd len="sm" w="sm" type="none"/>
          </a:ln>
        </p:spPr>
      </p:cxnSp>
      <p:sp>
        <p:nvSpPr>
          <p:cNvPr id="203" name="Google Shape;203;p28"/>
          <p:cNvSpPr/>
          <p:nvPr/>
        </p:nvSpPr>
        <p:spPr>
          <a:xfrm>
            <a:off x="4983479" y="3474720"/>
            <a:ext cx="219456" cy="219456"/>
          </a:xfrm>
          <a:prstGeom prst="ellipse">
            <a:avLst/>
          </a:prstGeom>
          <a:solidFill>
            <a:srgbClr val="2E9E6A"/>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check_w.png" id="204" name="Google Shape;204;p28"/>
          <p:cNvPicPr preferRelativeResize="0"/>
          <p:nvPr/>
        </p:nvPicPr>
        <p:blipFill rotWithShape="1">
          <a:blip r:embed="rId4">
            <a:alphaModFix/>
          </a:blip>
          <a:srcRect b="0" l="0" r="0" t="0"/>
          <a:stretch/>
        </p:blipFill>
        <p:spPr>
          <a:xfrm>
            <a:off x="5027371" y="3518611"/>
            <a:ext cx="131673" cy="131673"/>
          </a:xfrm>
          <a:prstGeom prst="rect">
            <a:avLst/>
          </a:prstGeom>
          <a:noFill/>
          <a:ln>
            <a:noFill/>
          </a:ln>
        </p:spPr>
      </p:pic>
      <p:sp>
        <p:nvSpPr>
          <p:cNvPr id="205" name="Google Shape;205;p28"/>
          <p:cNvSpPr txBox="1"/>
          <p:nvPr/>
        </p:nvSpPr>
        <p:spPr>
          <a:xfrm>
            <a:off x="5303520" y="3474720"/>
            <a:ext cx="3278123"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50" u="none" cap="none" strike="noStrike">
                <a:solidFill>
                  <a:srgbClr val="1F2937"/>
                </a:solidFill>
                <a:latin typeface="Noto Sans KR"/>
                <a:ea typeface="Noto Sans KR"/>
                <a:cs typeface="Noto Sans KR"/>
                <a:sym typeface="Noto Sans KR"/>
              </a:rPr>
              <a:t>Lower computation and latency</a:t>
            </a:r>
            <a:endParaRPr/>
          </a:p>
        </p:txBody>
      </p:sp>
      <p:sp>
        <p:nvSpPr>
          <p:cNvPr id="206" name="Google Shape;206;p28"/>
          <p:cNvSpPr/>
          <p:nvPr/>
        </p:nvSpPr>
        <p:spPr>
          <a:xfrm>
            <a:off x="4983479" y="3730752"/>
            <a:ext cx="219456" cy="219456"/>
          </a:xfrm>
          <a:prstGeom prst="ellipse">
            <a:avLst/>
          </a:prstGeom>
          <a:solidFill>
            <a:srgbClr val="D64545"/>
          </a:solid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pic>
        <p:nvPicPr>
          <p:cNvPr descr="ic_warn_w.png" id="207" name="Google Shape;207;p28"/>
          <p:cNvPicPr preferRelativeResize="0"/>
          <p:nvPr/>
        </p:nvPicPr>
        <p:blipFill rotWithShape="1">
          <a:blip r:embed="rId7">
            <a:alphaModFix/>
          </a:blip>
          <a:srcRect b="0" l="0" r="0" t="0"/>
          <a:stretch/>
        </p:blipFill>
        <p:spPr>
          <a:xfrm>
            <a:off x="5027371" y="3774643"/>
            <a:ext cx="131673" cy="131673"/>
          </a:xfrm>
          <a:prstGeom prst="rect">
            <a:avLst/>
          </a:prstGeom>
          <a:noFill/>
          <a:ln>
            <a:noFill/>
          </a:ln>
        </p:spPr>
      </p:pic>
      <p:sp>
        <p:nvSpPr>
          <p:cNvPr id="208" name="Google Shape;208;p28"/>
          <p:cNvSpPr txBox="1"/>
          <p:nvPr/>
        </p:nvSpPr>
        <p:spPr>
          <a:xfrm>
            <a:off x="5303520" y="3730752"/>
            <a:ext cx="3278123" cy="237744"/>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250" u="none" cap="none" strike="noStrike">
                <a:solidFill>
                  <a:srgbClr val="D64545"/>
                </a:solidFill>
                <a:latin typeface="Noto Sans KR"/>
                <a:ea typeface="Noto Sans KR"/>
                <a:cs typeface="Noto Sans KR"/>
                <a:sym typeface="Noto Sans KR"/>
              </a:rPr>
              <a:t>Privacy remains challenging</a:t>
            </a:r>
            <a:endParaRPr/>
          </a:p>
        </p:txBody>
      </p:sp>
      <p:sp>
        <p:nvSpPr>
          <p:cNvPr id="209" name="Google Shape;209;p28"/>
          <p:cNvSpPr/>
          <p:nvPr/>
        </p:nvSpPr>
        <p:spPr>
          <a:xfrm>
            <a:off x="333756" y="4224528"/>
            <a:ext cx="8476488" cy="475488"/>
          </a:xfrm>
          <a:prstGeom prst="roundRect">
            <a:avLst>
              <a:gd fmla="val 20000" name="adj"/>
            </a:avLst>
          </a:prstGeom>
          <a:solidFill>
            <a:srgbClr val="4A86E8"/>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rPr b="1" i="0" lang="ko" sz="1450" u="none" cap="none" strike="noStrike">
                <a:solidFill>
                  <a:srgbClr val="FFFFFF"/>
                </a:solidFill>
                <a:latin typeface="Noto Sans KR"/>
                <a:ea typeface="Noto Sans KR"/>
                <a:cs typeface="Noto Sans KR"/>
                <a:sym typeface="Noto Sans KR"/>
              </a:rPr>
              <a:t>Transform-based methods are practical, but privacy remains challenging.</a:t>
            </a:r>
            <a:endParaRPr/>
          </a:p>
        </p:txBody>
      </p:sp>
      <p:sp>
        <p:nvSpPr>
          <p:cNvPr id="210" name="Google Shape;210;p2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sp>
        <p:nvSpPr>
          <p:cNvPr id="215" name="Google Shape;215;p29"/>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16" name="Google Shape;216;p29"/>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3000"/>
              <a:buFont typeface="Arial"/>
              <a:buNone/>
            </a:pPr>
            <a:r>
              <a:rPr b="1" i="0" lang="ko" sz="3000" u="none" cap="none" strike="noStrike">
                <a:solidFill>
                  <a:schemeClr val="dk1"/>
                </a:solidFill>
                <a:latin typeface="Noto Sans KR"/>
                <a:ea typeface="Noto Sans KR"/>
                <a:cs typeface="Noto Sans KR"/>
                <a:sym typeface="Noto Sans KR"/>
              </a:rPr>
              <a:t>Related Work</a:t>
            </a:r>
            <a:endParaRPr b="1" i="0" sz="3000" u="none" cap="none" strike="noStrike">
              <a:solidFill>
                <a:schemeClr val="dk1"/>
              </a:solidFill>
              <a:latin typeface="Noto Sans KR"/>
              <a:ea typeface="Noto Sans KR"/>
              <a:cs typeface="Noto Sans KR"/>
              <a:sym typeface="Noto Sans KR"/>
            </a:endParaRPr>
          </a:p>
        </p:txBody>
      </p:sp>
      <p:sp>
        <p:nvSpPr>
          <p:cNvPr id="217" name="Google Shape;217;p29"/>
          <p:cNvSpPr txBox="1"/>
          <p:nvPr/>
        </p:nvSpPr>
        <p:spPr>
          <a:xfrm>
            <a:off x="333756" y="987552"/>
            <a:ext cx="8476488"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900" u="none" cap="none" strike="noStrike">
                <a:solidFill>
                  <a:srgbClr val="1F2937"/>
                </a:solidFill>
                <a:latin typeface="Noto Sans KR"/>
                <a:ea typeface="Noto Sans KR"/>
                <a:cs typeface="Noto Sans KR"/>
                <a:sym typeface="Noto Sans KR"/>
              </a:rPr>
              <a:t>Hidden does not mean secure</a:t>
            </a:r>
            <a:endParaRPr/>
          </a:p>
        </p:txBody>
      </p:sp>
      <p:pic>
        <p:nvPicPr>
          <p:cNvPr descr="Figure 1: Comparison between SOTAs and MinusFace" id="218" name="Google Shape;218;p29"/>
          <p:cNvPicPr preferRelativeResize="0"/>
          <p:nvPr/>
        </p:nvPicPr>
        <p:blipFill rotWithShape="1">
          <a:blip r:embed="rId3">
            <a:alphaModFix/>
          </a:blip>
          <a:srcRect b="0" l="0" r="0" t="0"/>
          <a:stretch/>
        </p:blipFill>
        <p:spPr>
          <a:xfrm>
            <a:off x="333756" y="1517904"/>
            <a:ext cx="5029200" cy="2296535"/>
          </a:xfrm>
          <a:prstGeom prst="rect">
            <a:avLst/>
          </a:prstGeom>
          <a:noFill/>
          <a:ln>
            <a:noFill/>
          </a:ln>
        </p:spPr>
      </p:pic>
      <p:sp>
        <p:nvSpPr>
          <p:cNvPr id="219" name="Google Shape;219;p29"/>
          <p:cNvSpPr txBox="1"/>
          <p:nvPr/>
        </p:nvSpPr>
        <p:spPr>
          <a:xfrm>
            <a:off x="333756" y="3887591"/>
            <a:ext cx="5029200" cy="22860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000" u="none" cap="none" strike="noStrike">
                <a:solidFill>
                  <a:srgbClr val="6B7280"/>
                </a:solidFill>
                <a:latin typeface="Noto Sans KR"/>
                <a:ea typeface="Noto Sans KR"/>
                <a:cs typeface="Noto Sans KR"/>
                <a:sym typeface="Noto Sans KR"/>
              </a:rPr>
              <a:t>Figure 1. </a:t>
            </a:r>
            <a:r>
              <a:rPr b="0" i="0" lang="ko" sz="1000" u="none" cap="none" strike="noStrike">
                <a:solidFill>
                  <a:srgbClr val="6B7280"/>
                </a:solidFill>
                <a:latin typeface="Noto Sans KR"/>
                <a:ea typeface="Noto Sans KR"/>
                <a:cs typeface="Noto Sans KR"/>
                <a:sym typeface="Noto Sans KR"/>
              </a:rPr>
              <a:t>(a) prior PPFR arts vs. (b) MinusFace  ·  Mi et al., CVPR 2024</a:t>
            </a:r>
            <a:endParaRPr/>
          </a:p>
        </p:txBody>
      </p:sp>
      <p:sp>
        <p:nvSpPr>
          <p:cNvPr id="220" name="Google Shape;220;p29"/>
          <p:cNvSpPr/>
          <p:nvPr/>
        </p:nvSpPr>
        <p:spPr>
          <a:xfrm>
            <a:off x="5715000" y="1536192"/>
            <a:ext cx="310896" cy="310896"/>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1</a:t>
            </a:r>
            <a:endParaRPr/>
          </a:p>
        </p:txBody>
      </p:sp>
      <p:sp>
        <p:nvSpPr>
          <p:cNvPr id="221" name="Google Shape;221;p29"/>
          <p:cNvSpPr txBox="1"/>
          <p:nvPr/>
        </p:nvSpPr>
        <p:spPr>
          <a:xfrm>
            <a:off x="6172200" y="1536192"/>
            <a:ext cx="2638044"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50" u="none" cap="none" strike="noStrike">
                <a:solidFill>
                  <a:srgbClr val="1F2937"/>
                </a:solidFill>
                <a:latin typeface="Noto Sans KR"/>
                <a:ea typeface="Noto Sans KR"/>
                <a:cs typeface="Noto Sans KR"/>
                <a:sym typeface="Noto Sans KR"/>
              </a:rPr>
              <a:t>Existing methods remove visually informative features.</a:t>
            </a:r>
            <a:endParaRPr/>
          </a:p>
        </p:txBody>
      </p:sp>
      <p:sp>
        <p:nvSpPr>
          <p:cNvPr id="222" name="Google Shape;222;p29"/>
          <p:cNvSpPr/>
          <p:nvPr/>
        </p:nvSpPr>
        <p:spPr>
          <a:xfrm>
            <a:off x="5715000" y="2139696"/>
            <a:ext cx="310896" cy="310896"/>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2</a:t>
            </a:r>
            <a:endParaRPr/>
          </a:p>
        </p:txBody>
      </p:sp>
      <p:sp>
        <p:nvSpPr>
          <p:cNvPr id="223" name="Google Shape;223;p29"/>
          <p:cNvSpPr txBox="1"/>
          <p:nvPr/>
        </p:nvSpPr>
        <p:spPr>
          <a:xfrm>
            <a:off x="6172200" y="2139696"/>
            <a:ext cx="2638044"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50" u="none" cap="none" strike="noStrike">
                <a:solidFill>
                  <a:srgbClr val="1F2937"/>
                </a:solidFill>
                <a:latin typeface="Noto Sans KR"/>
                <a:ea typeface="Noto Sans KR"/>
                <a:cs typeface="Noto Sans KR"/>
                <a:sym typeface="Noto Sans KR"/>
              </a:rPr>
              <a:t>Some subtle information may still remain.</a:t>
            </a:r>
            <a:endParaRPr/>
          </a:p>
        </p:txBody>
      </p:sp>
      <p:sp>
        <p:nvSpPr>
          <p:cNvPr id="224" name="Google Shape;224;p29"/>
          <p:cNvSpPr/>
          <p:nvPr/>
        </p:nvSpPr>
        <p:spPr>
          <a:xfrm>
            <a:off x="5715000" y="2743200"/>
            <a:ext cx="310896" cy="310896"/>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3</a:t>
            </a:r>
            <a:endParaRPr/>
          </a:p>
        </p:txBody>
      </p:sp>
      <p:sp>
        <p:nvSpPr>
          <p:cNvPr id="225" name="Google Shape;225;p29"/>
          <p:cNvSpPr txBox="1"/>
          <p:nvPr/>
        </p:nvSpPr>
        <p:spPr>
          <a:xfrm>
            <a:off x="6172200" y="2743200"/>
            <a:ext cx="2638044"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50" u="none" cap="none" strike="noStrike">
                <a:solidFill>
                  <a:srgbClr val="1F2937"/>
                </a:solidFill>
                <a:latin typeface="Noto Sans KR"/>
                <a:ea typeface="Noto Sans KR"/>
                <a:cs typeface="Noto Sans KR"/>
                <a:sym typeface="Noto Sans KR"/>
              </a:rPr>
              <a:t>A recovery model can exploit these remaining clues.</a:t>
            </a:r>
            <a:endParaRPr/>
          </a:p>
        </p:txBody>
      </p:sp>
      <p:sp>
        <p:nvSpPr>
          <p:cNvPr id="226" name="Google Shape;226;p29"/>
          <p:cNvSpPr/>
          <p:nvPr/>
        </p:nvSpPr>
        <p:spPr>
          <a:xfrm>
            <a:off x="5715000" y="3346704"/>
            <a:ext cx="310896" cy="310896"/>
          </a:xfrm>
          <a:prstGeom prst="ellipse">
            <a:avLst/>
          </a:prstGeom>
          <a:solidFill>
            <a:srgbClr val="D64545"/>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4</a:t>
            </a:r>
            <a:endParaRPr/>
          </a:p>
        </p:txBody>
      </p:sp>
      <p:sp>
        <p:nvSpPr>
          <p:cNvPr id="227" name="Google Shape;227;p29"/>
          <p:cNvSpPr txBox="1"/>
          <p:nvPr/>
        </p:nvSpPr>
        <p:spPr>
          <a:xfrm>
            <a:off x="6172200" y="3346704"/>
            <a:ext cx="2638044" cy="54864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250" u="none" cap="none" strike="noStrike">
                <a:solidFill>
                  <a:srgbClr val="D64545"/>
                </a:solidFill>
                <a:latin typeface="Noto Sans KR"/>
                <a:ea typeface="Noto Sans KR"/>
                <a:cs typeface="Noto Sans KR"/>
                <a:sym typeface="Noto Sans KR"/>
              </a:rPr>
              <a:t>A face can be visually hidden but still recoverable by a neural network.</a:t>
            </a:r>
            <a:endParaRPr/>
          </a:p>
        </p:txBody>
      </p:sp>
      <p:sp>
        <p:nvSpPr>
          <p:cNvPr id="228" name="Google Shape;228;p29"/>
          <p:cNvSpPr/>
          <p:nvPr/>
        </p:nvSpPr>
        <p:spPr>
          <a:xfrm>
            <a:off x="333756" y="4224528"/>
            <a:ext cx="8476488" cy="475488"/>
          </a:xfrm>
          <a:prstGeom prst="roundRect">
            <a:avLst>
              <a:gd fmla="val 20000" name="adj"/>
            </a:avLst>
          </a:prstGeom>
          <a:solidFill>
            <a:srgbClr val="FDEEEE"/>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rPr b="0" i="0" lang="ko" sz="1500" u="none" cap="none" strike="noStrike">
                <a:solidFill>
                  <a:srgbClr val="D64545"/>
                </a:solidFill>
                <a:latin typeface="Noto Sans KR"/>
                <a:ea typeface="Noto Sans KR"/>
                <a:cs typeface="Noto Sans KR"/>
                <a:sym typeface="Noto Sans KR"/>
              </a:rPr>
              <a:t>Visually hidden </a:t>
            </a:r>
            <a:r>
              <a:rPr b="1" i="0" lang="ko" sz="1500" u="none" cap="none" strike="noStrike">
                <a:solidFill>
                  <a:srgbClr val="D64545"/>
                </a:solidFill>
                <a:latin typeface="Noto Sans KR"/>
                <a:ea typeface="Noto Sans KR"/>
                <a:cs typeface="Noto Sans KR"/>
                <a:sym typeface="Noto Sans KR"/>
              </a:rPr>
              <a:t>does not always mean secure.</a:t>
            </a:r>
            <a:endParaRPr/>
          </a:p>
        </p:txBody>
      </p:sp>
      <p:sp>
        <p:nvSpPr>
          <p:cNvPr id="229" name="Google Shape;229;p2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sp>
        <p:nvSpPr>
          <p:cNvPr id="234" name="Google Shape;234;p30"/>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35" name="Google Shape;235;p30"/>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3000"/>
              <a:buFont typeface="Arial"/>
              <a:buNone/>
            </a:pPr>
            <a:r>
              <a:rPr b="1" i="0" lang="ko" sz="3000" u="none" cap="none" strike="noStrike">
                <a:solidFill>
                  <a:schemeClr val="dk1"/>
                </a:solidFill>
                <a:latin typeface="Noto Sans KR"/>
                <a:ea typeface="Noto Sans KR"/>
                <a:cs typeface="Noto Sans KR"/>
                <a:sym typeface="Noto Sans KR"/>
              </a:rPr>
              <a:t>Motivation</a:t>
            </a:r>
            <a:endParaRPr b="1" i="0" sz="3000" u="none" cap="none" strike="noStrike">
              <a:solidFill>
                <a:schemeClr val="dk1"/>
              </a:solidFill>
              <a:latin typeface="Noto Sans KR"/>
              <a:ea typeface="Noto Sans KR"/>
              <a:cs typeface="Noto Sans KR"/>
              <a:sym typeface="Noto Sans KR"/>
            </a:endParaRPr>
          </a:p>
        </p:txBody>
      </p:sp>
      <p:sp>
        <p:nvSpPr>
          <p:cNvPr id="236" name="Google Shape;236;p30"/>
          <p:cNvSpPr txBox="1"/>
          <p:nvPr/>
        </p:nvSpPr>
        <p:spPr>
          <a:xfrm>
            <a:off x="333756" y="987552"/>
            <a:ext cx="8476488"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900" u="none" cap="none" strike="noStrike">
                <a:solidFill>
                  <a:srgbClr val="1F2937"/>
                </a:solidFill>
                <a:latin typeface="Noto Sans KR"/>
                <a:ea typeface="Noto Sans KR"/>
                <a:cs typeface="Noto Sans KR"/>
                <a:sym typeface="Noto Sans KR"/>
              </a:rPr>
              <a:t>Key insight: learning from image compression</a:t>
            </a:r>
            <a:endParaRPr/>
          </a:p>
        </p:txBody>
      </p:sp>
      <p:pic>
        <p:nvPicPr>
          <p:cNvPr descr="Figure 2: Examples of image compression" id="237" name="Google Shape;237;p30"/>
          <p:cNvPicPr preferRelativeResize="0"/>
          <p:nvPr/>
        </p:nvPicPr>
        <p:blipFill rotWithShape="1">
          <a:blip r:embed="rId3">
            <a:alphaModFix/>
          </a:blip>
          <a:srcRect b="0" l="0" r="0" t="0"/>
          <a:stretch/>
        </p:blipFill>
        <p:spPr>
          <a:xfrm>
            <a:off x="1645919" y="1481328"/>
            <a:ext cx="5852160" cy="1272516"/>
          </a:xfrm>
          <a:prstGeom prst="rect">
            <a:avLst/>
          </a:prstGeom>
          <a:noFill/>
          <a:ln>
            <a:noFill/>
          </a:ln>
        </p:spPr>
      </p:pic>
      <p:sp>
        <p:nvSpPr>
          <p:cNvPr id="238" name="Google Shape;238;p30"/>
          <p:cNvSpPr txBox="1"/>
          <p:nvPr/>
        </p:nvSpPr>
        <p:spPr>
          <a:xfrm>
            <a:off x="1645919" y="2808708"/>
            <a:ext cx="5852160"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1" i="0" lang="ko" sz="1000" u="none" cap="none" strike="noStrike">
                <a:solidFill>
                  <a:srgbClr val="6B7280"/>
                </a:solidFill>
                <a:latin typeface="Noto Sans KR"/>
                <a:ea typeface="Noto Sans KR"/>
                <a:cs typeface="Noto Sans KR"/>
                <a:sym typeface="Noto Sans KR"/>
              </a:rPr>
              <a:t>Figure 2. </a:t>
            </a:r>
            <a:r>
              <a:rPr b="0" i="0" lang="ko" sz="1000" u="none" cap="none" strike="noStrike">
                <a:solidFill>
                  <a:srgbClr val="6B7280"/>
                </a:solidFill>
                <a:latin typeface="Noto Sans KR"/>
                <a:ea typeface="Noto Sans KR"/>
                <a:cs typeface="Noto Sans KR"/>
                <a:sym typeface="Noto Sans KR"/>
              </a:rPr>
              <a:t>Original − residual = compressed image  ·  Mi et al., CVPR 2024</a:t>
            </a:r>
            <a:endParaRPr/>
          </a:p>
        </p:txBody>
      </p:sp>
      <p:sp>
        <p:nvSpPr>
          <p:cNvPr id="239" name="Google Shape;239;p30"/>
          <p:cNvSpPr/>
          <p:nvPr/>
        </p:nvSpPr>
        <p:spPr>
          <a:xfrm>
            <a:off x="333756" y="3127248"/>
            <a:ext cx="2673096" cy="914400"/>
          </a:xfrm>
          <a:prstGeom prst="roundRect">
            <a:avLst>
              <a:gd fmla="val 12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0" name="Google Shape;240;p30"/>
          <p:cNvSpPr/>
          <p:nvPr/>
        </p:nvSpPr>
        <p:spPr>
          <a:xfrm>
            <a:off x="452628" y="3429000"/>
            <a:ext cx="310896" cy="310896"/>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1</a:t>
            </a:r>
            <a:endParaRPr/>
          </a:p>
        </p:txBody>
      </p:sp>
      <p:sp>
        <p:nvSpPr>
          <p:cNvPr id="241" name="Google Shape;241;p30"/>
          <p:cNvSpPr txBox="1"/>
          <p:nvPr/>
        </p:nvSpPr>
        <p:spPr>
          <a:xfrm>
            <a:off x="864108" y="3127248"/>
            <a:ext cx="2014727"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Compression removes subtle texture and color details.</a:t>
            </a:r>
            <a:endParaRPr/>
          </a:p>
        </p:txBody>
      </p:sp>
      <p:sp>
        <p:nvSpPr>
          <p:cNvPr id="242" name="Google Shape;242;p30"/>
          <p:cNvSpPr/>
          <p:nvPr/>
        </p:nvSpPr>
        <p:spPr>
          <a:xfrm>
            <a:off x="3235452" y="3127248"/>
            <a:ext cx="2673096" cy="914400"/>
          </a:xfrm>
          <a:prstGeom prst="roundRect">
            <a:avLst>
              <a:gd fmla="val 12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3" name="Google Shape;243;p30"/>
          <p:cNvSpPr/>
          <p:nvPr/>
        </p:nvSpPr>
        <p:spPr>
          <a:xfrm>
            <a:off x="3354323" y="3429000"/>
            <a:ext cx="310896" cy="310896"/>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2</a:t>
            </a:r>
            <a:endParaRPr/>
          </a:p>
        </p:txBody>
      </p:sp>
      <p:sp>
        <p:nvSpPr>
          <p:cNvPr id="244" name="Google Shape;244;p30"/>
          <p:cNvSpPr txBox="1"/>
          <p:nvPr/>
        </p:nvSpPr>
        <p:spPr>
          <a:xfrm>
            <a:off x="3765804" y="3127248"/>
            <a:ext cx="2014727"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The discarded residue is visually uninformative.</a:t>
            </a:r>
            <a:endParaRPr/>
          </a:p>
        </p:txBody>
      </p:sp>
      <p:sp>
        <p:nvSpPr>
          <p:cNvPr id="245" name="Google Shape;245;p30"/>
          <p:cNvSpPr/>
          <p:nvPr/>
        </p:nvSpPr>
        <p:spPr>
          <a:xfrm>
            <a:off x="6137148" y="3127248"/>
            <a:ext cx="2673096" cy="914400"/>
          </a:xfrm>
          <a:prstGeom prst="roundRect">
            <a:avLst>
              <a:gd fmla="val 12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46" name="Google Shape;246;p30"/>
          <p:cNvSpPr/>
          <p:nvPr/>
        </p:nvSpPr>
        <p:spPr>
          <a:xfrm>
            <a:off x="6256020" y="3429000"/>
            <a:ext cx="310896" cy="310896"/>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200" u="none" cap="none" strike="noStrike">
                <a:solidFill>
                  <a:srgbClr val="FFFFFF"/>
                </a:solidFill>
                <a:latin typeface="Noto Sans KR"/>
                <a:ea typeface="Noto Sans KR"/>
                <a:cs typeface="Noto Sans KR"/>
                <a:sym typeface="Noto Sans KR"/>
              </a:rPr>
              <a:t>3</a:t>
            </a:r>
            <a:endParaRPr/>
          </a:p>
        </p:txBody>
      </p:sp>
      <p:sp>
        <p:nvSpPr>
          <p:cNvPr id="247" name="Google Shape;247;p30"/>
          <p:cNvSpPr txBox="1"/>
          <p:nvPr/>
        </p:nvSpPr>
        <p:spPr>
          <a:xfrm>
            <a:off x="6667500" y="3127248"/>
            <a:ext cx="2014727" cy="914400"/>
          </a:xfrm>
          <a:prstGeom prst="rect">
            <a:avLst/>
          </a:prstGeom>
          <a:noFill/>
          <a:ln>
            <a:noFill/>
          </a:ln>
        </p:spPr>
        <p:txBody>
          <a:bodyPr anchorCtr="0" anchor="ctr" bIns="0" lIns="0" spcFirstLastPara="1" rIns="0" wrap="square" tIns="0">
            <a:noAutofit/>
          </a:bodyPr>
          <a:lstStyle/>
          <a:p>
            <a:pPr indent="0" lvl="0" marL="0" marR="0" rtl="0" algn="l">
              <a:lnSpc>
                <a:spcPct val="100000"/>
              </a:lnSpc>
              <a:spcBef>
                <a:spcPts val="0"/>
              </a:spcBef>
              <a:spcAft>
                <a:spcPts val="0"/>
              </a:spcAft>
              <a:buNone/>
            </a:pPr>
            <a:r>
              <a:rPr b="1" i="0" lang="ko" sz="1200" u="none" cap="none" strike="noStrike">
                <a:solidFill>
                  <a:srgbClr val="1F2937"/>
                </a:solidFill>
                <a:latin typeface="Noto Sans KR"/>
                <a:ea typeface="Noto Sans KR"/>
                <a:cs typeface="Noto Sans KR"/>
                <a:sym typeface="Noto Sans KR"/>
              </a:rPr>
              <a:t>But the residue still contains descriptive information from the original image.</a:t>
            </a:r>
            <a:endParaRPr/>
          </a:p>
        </p:txBody>
      </p:sp>
      <p:sp>
        <p:nvSpPr>
          <p:cNvPr id="248" name="Google Shape;248;p30"/>
          <p:cNvSpPr/>
          <p:nvPr/>
        </p:nvSpPr>
        <p:spPr>
          <a:xfrm>
            <a:off x="333756" y="4206240"/>
            <a:ext cx="8476488" cy="530352"/>
          </a:xfrm>
          <a:prstGeom prst="roundRect">
            <a:avLst>
              <a:gd fmla="val 20000" name="adj"/>
            </a:avLst>
          </a:prstGeom>
          <a:solidFill>
            <a:srgbClr val="4A86E8"/>
          </a:solidFill>
          <a:ln>
            <a:noFill/>
          </a:ln>
        </p:spPr>
        <p:txBody>
          <a:bodyPr anchorCtr="0" anchor="ctr" bIns="36575" lIns="182875" spcFirstLastPara="1" rIns="182875" wrap="square" tIns="36575">
            <a:noAutofit/>
          </a:bodyPr>
          <a:lstStyle/>
          <a:p>
            <a:pPr indent="0" lvl="0" marL="0" marR="0" rtl="0" algn="ctr">
              <a:lnSpc>
                <a:spcPct val="100000"/>
              </a:lnSpc>
              <a:spcBef>
                <a:spcPts val="0"/>
              </a:spcBef>
              <a:spcAft>
                <a:spcPts val="0"/>
              </a:spcAft>
              <a:buNone/>
            </a:pPr>
            <a:r>
              <a:rPr b="1" i="0" lang="ko" sz="1500" u="none" cap="none" strike="noStrike">
                <a:solidFill>
                  <a:srgbClr val="FFFFFF"/>
                </a:solidFill>
                <a:latin typeface="Noto Sans KR"/>
                <a:ea typeface="Noto Sans KR"/>
                <a:cs typeface="Noto Sans KR"/>
                <a:sym typeface="Noto Sans KR"/>
              </a:rPr>
              <a:t>Can we learn a residue that hides appearance but preserves identity?</a:t>
            </a:r>
            <a:endParaRPr/>
          </a:p>
        </p:txBody>
      </p:sp>
      <p:pic>
        <p:nvPicPr>
          <p:cNvPr descr="Idea icon" id="249" name="Google Shape;249;p30"/>
          <p:cNvPicPr preferRelativeResize="0"/>
          <p:nvPr/>
        </p:nvPicPr>
        <p:blipFill rotWithShape="1">
          <a:blip r:embed="rId4">
            <a:alphaModFix/>
          </a:blip>
          <a:srcRect b="0" l="0" r="0" t="0"/>
          <a:stretch/>
        </p:blipFill>
        <p:spPr>
          <a:xfrm>
            <a:off x="534924" y="4315968"/>
            <a:ext cx="310896" cy="310896"/>
          </a:xfrm>
          <a:prstGeom prst="rect">
            <a:avLst/>
          </a:prstGeom>
          <a:noFill/>
          <a:ln>
            <a:noFill/>
          </a:ln>
        </p:spPr>
      </p:pic>
      <p:sp>
        <p:nvSpPr>
          <p:cNvPr id="250" name="Google Shape;250;p3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4" name="Shape 254"/>
        <p:cNvGrpSpPr/>
        <p:nvPr/>
      </p:nvGrpSpPr>
      <p:grpSpPr>
        <a:xfrm>
          <a:off x="0" y="0"/>
          <a:ext cx="0" cy="0"/>
          <a:chOff x="0" y="0"/>
          <a:chExt cx="0" cy="0"/>
        </a:xfrm>
      </p:grpSpPr>
      <p:sp>
        <p:nvSpPr>
          <p:cNvPr id="255" name="Google Shape;255;p31"/>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Arial"/>
              <a:ea typeface="Arial"/>
              <a:cs typeface="Arial"/>
              <a:sym typeface="Arial"/>
            </a:endParaRPr>
          </a:p>
        </p:txBody>
      </p:sp>
      <p:sp>
        <p:nvSpPr>
          <p:cNvPr id="256" name="Google Shape;256;p31"/>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marR="0" rtl="0" algn="l">
              <a:lnSpc>
                <a:spcPct val="150000"/>
              </a:lnSpc>
              <a:spcBef>
                <a:spcPts val="0"/>
              </a:spcBef>
              <a:spcAft>
                <a:spcPts val="0"/>
              </a:spcAft>
              <a:buClr>
                <a:srgbClr val="000000"/>
              </a:buClr>
              <a:buSzPts val="3000"/>
              <a:buFont typeface="Arial"/>
              <a:buNone/>
            </a:pPr>
            <a:r>
              <a:rPr b="1" i="0" lang="ko" sz="3000" u="none" cap="none" strike="noStrike">
                <a:solidFill>
                  <a:schemeClr val="dk1"/>
                </a:solidFill>
                <a:latin typeface="Noto Sans KR"/>
                <a:ea typeface="Noto Sans KR"/>
                <a:cs typeface="Noto Sans KR"/>
                <a:sym typeface="Noto Sans KR"/>
              </a:rPr>
              <a:t>Contributions</a:t>
            </a:r>
            <a:endParaRPr b="1" i="0" sz="3000" u="none" cap="none" strike="noStrike">
              <a:solidFill>
                <a:schemeClr val="dk1"/>
              </a:solidFill>
              <a:latin typeface="Noto Sans KR"/>
              <a:ea typeface="Noto Sans KR"/>
              <a:cs typeface="Noto Sans KR"/>
              <a:sym typeface="Noto Sans KR"/>
            </a:endParaRPr>
          </a:p>
        </p:txBody>
      </p:sp>
      <p:sp>
        <p:nvSpPr>
          <p:cNvPr id="257" name="Google Shape;257;p31"/>
          <p:cNvSpPr txBox="1"/>
          <p:nvPr/>
        </p:nvSpPr>
        <p:spPr>
          <a:xfrm>
            <a:off x="333756" y="987552"/>
            <a:ext cx="8476488" cy="384048"/>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900" u="none" cap="none" strike="noStrike">
                <a:solidFill>
                  <a:srgbClr val="1F2937"/>
                </a:solidFill>
                <a:latin typeface="Noto Sans KR"/>
                <a:ea typeface="Noto Sans KR"/>
                <a:cs typeface="Noto Sans KR"/>
                <a:sym typeface="Noto Sans KR"/>
              </a:rPr>
              <a:t>MinusFace: main idea and contributions</a:t>
            </a:r>
            <a:endParaRPr/>
          </a:p>
        </p:txBody>
      </p:sp>
      <p:pic>
        <p:nvPicPr>
          <p:cNvPr descr="Original face" id="258" name="Google Shape;258;p31"/>
          <p:cNvPicPr preferRelativeResize="0"/>
          <p:nvPr/>
        </p:nvPicPr>
        <p:blipFill rotWithShape="1">
          <a:blip r:embed="rId3">
            <a:alphaModFix/>
          </a:blip>
          <a:srcRect b="0" l="0" r="0" t="0"/>
          <a:stretch/>
        </p:blipFill>
        <p:spPr>
          <a:xfrm>
            <a:off x="333756" y="1517904"/>
            <a:ext cx="768096" cy="768096"/>
          </a:xfrm>
          <a:prstGeom prst="rect">
            <a:avLst/>
          </a:prstGeom>
          <a:noFill/>
          <a:ln>
            <a:noFill/>
          </a:ln>
        </p:spPr>
      </p:pic>
      <p:sp>
        <p:nvSpPr>
          <p:cNvPr id="259" name="Google Shape;259;p31"/>
          <p:cNvSpPr txBox="1"/>
          <p:nvPr/>
        </p:nvSpPr>
        <p:spPr>
          <a:xfrm>
            <a:off x="59436" y="2340864"/>
            <a:ext cx="1316736"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ko" sz="1050" u="none" cap="none" strike="noStrike">
                <a:solidFill>
                  <a:srgbClr val="6B7280"/>
                </a:solidFill>
                <a:latin typeface="Noto Sans KR"/>
                <a:ea typeface="Noto Sans KR"/>
                <a:cs typeface="Noto Sans KR"/>
                <a:sym typeface="Noto Sans KR"/>
              </a:rPr>
              <a:t>Original face</a:t>
            </a:r>
            <a:endParaRPr/>
          </a:p>
        </p:txBody>
      </p:sp>
      <p:cxnSp>
        <p:nvCxnSpPr>
          <p:cNvPr id="260" name="Google Shape;260;p31"/>
          <p:cNvCxnSpPr/>
          <p:nvPr/>
        </p:nvCxnSpPr>
        <p:spPr>
          <a:xfrm>
            <a:off x="1138428" y="1901952"/>
            <a:ext cx="129844" cy="0"/>
          </a:xfrm>
          <a:prstGeom prst="straightConnector1">
            <a:avLst/>
          </a:prstGeom>
          <a:noFill/>
          <a:ln cap="flat" cmpd="sng" w="15875">
            <a:solidFill>
              <a:srgbClr val="6B7280"/>
            </a:solidFill>
            <a:prstDash val="solid"/>
            <a:round/>
            <a:headEnd len="sm" w="sm" type="none"/>
            <a:tailEnd len="med" w="med" type="triangle"/>
          </a:ln>
        </p:spPr>
      </p:cxnSp>
      <p:sp>
        <p:nvSpPr>
          <p:cNvPr id="261" name="Google Shape;261;p31"/>
          <p:cNvSpPr/>
          <p:nvPr/>
        </p:nvSpPr>
        <p:spPr>
          <a:xfrm>
            <a:off x="1304848" y="1517904"/>
            <a:ext cx="1481328" cy="768096"/>
          </a:xfrm>
          <a:prstGeom prst="roundRect">
            <a:avLst>
              <a:gd fmla="val 15000" name="adj"/>
            </a:avLst>
          </a:prstGeom>
          <a:solidFill>
            <a:srgbClr val="EEF3FC"/>
          </a:solidFill>
          <a:ln>
            <a:noFill/>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None/>
            </a:pPr>
            <a:r>
              <a:rPr b="1" i="0" lang="ko" sz="1100" u="none" cap="none" strike="noStrike">
                <a:solidFill>
                  <a:srgbClr val="2B5FB8"/>
                </a:solidFill>
                <a:latin typeface="Noto Sans KR"/>
                <a:ea typeface="Noto Sans KR"/>
                <a:cs typeface="Noto Sans KR"/>
                <a:sym typeface="Noto Sans KR"/>
              </a:rPr>
              <a:t>High-dimensional</a:t>
            </a:r>
            <a:endParaRPr/>
          </a:p>
          <a:p>
            <a:pPr indent="0" lvl="0" marL="0" marR="0" rtl="0" algn="ctr">
              <a:lnSpc>
                <a:spcPct val="100000"/>
              </a:lnSpc>
              <a:spcBef>
                <a:spcPts val="0"/>
              </a:spcBef>
              <a:spcAft>
                <a:spcPts val="0"/>
              </a:spcAft>
              <a:buNone/>
            </a:pPr>
            <a:r>
              <a:rPr b="1" i="0" lang="ko" sz="1100" u="none" cap="none" strike="noStrike">
                <a:solidFill>
                  <a:srgbClr val="2B5FB8"/>
                </a:solidFill>
                <a:latin typeface="Noto Sans KR"/>
                <a:ea typeface="Noto Sans KR"/>
                <a:cs typeface="Noto Sans KR"/>
                <a:sym typeface="Noto Sans KR"/>
              </a:rPr>
              <a:t>representation</a:t>
            </a:r>
            <a:endParaRPr/>
          </a:p>
        </p:txBody>
      </p:sp>
      <p:cxnSp>
        <p:nvCxnSpPr>
          <p:cNvPr id="262" name="Google Shape;262;p31"/>
          <p:cNvCxnSpPr/>
          <p:nvPr/>
        </p:nvCxnSpPr>
        <p:spPr>
          <a:xfrm>
            <a:off x="2822752" y="1901952"/>
            <a:ext cx="129845" cy="0"/>
          </a:xfrm>
          <a:prstGeom prst="straightConnector1">
            <a:avLst/>
          </a:prstGeom>
          <a:noFill/>
          <a:ln cap="flat" cmpd="sng" w="15875">
            <a:solidFill>
              <a:srgbClr val="6B7280"/>
            </a:solidFill>
            <a:prstDash val="solid"/>
            <a:round/>
            <a:headEnd len="sm" w="sm" type="none"/>
            <a:tailEnd len="med" w="med" type="triangle"/>
          </a:ln>
        </p:spPr>
      </p:cxnSp>
      <p:sp>
        <p:nvSpPr>
          <p:cNvPr id="263" name="Google Shape;263;p31"/>
          <p:cNvSpPr/>
          <p:nvPr/>
        </p:nvSpPr>
        <p:spPr>
          <a:xfrm>
            <a:off x="2989173" y="1517904"/>
            <a:ext cx="1481328" cy="768096"/>
          </a:xfrm>
          <a:prstGeom prst="roundRect">
            <a:avLst>
              <a:gd fmla="val 15000" name="adj"/>
            </a:avLst>
          </a:prstGeom>
          <a:solidFill>
            <a:srgbClr val="4A86E8"/>
          </a:solidFill>
          <a:ln>
            <a:noFill/>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None/>
            </a:pPr>
            <a:r>
              <a:rPr b="1" i="0" lang="ko" sz="1100" u="none" cap="none" strike="noStrike">
                <a:solidFill>
                  <a:srgbClr val="FFFFFF"/>
                </a:solidFill>
                <a:latin typeface="Noto Sans KR"/>
                <a:ea typeface="Noto Sans KR"/>
                <a:cs typeface="Noto Sans KR"/>
                <a:sym typeface="Noto Sans KR"/>
              </a:rPr>
              <a:t>Feature</a:t>
            </a:r>
            <a:endParaRPr/>
          </a:p>
          <a:p>
            <a:pPr indent="0" lvl="0" marL="0" marR="0" rtl="0" algn="ctr">
              <a:lnSpc>
                <a:spcPct val="100000"/>
              </a:lnSpc>
              <a:spcBef>
                <a:spcPts val="0"/>
              </a:spcBef>
              <a:spcAft>
                <a:spcPts val="0"/>
              </a:spcAft>
              <a:buNone/>
            </a:pPr>
            <a:r>
              <a:rPr b="1" i="0" lang="ko" sz="1100" u="none" cap="none" strike="noStrike">
                <a:solidFill>
                  <a:srgbClr val="FFFFFF"/>
                </a:solidFill>
                <a:latin typeface="Noto Sans KR"/>
                <a:ea typeface="Noto Sans KR"/>
                <a:cs typeface="Noto Sans KR"/>
                <a:sym typeface="Noto Sans KR"/>
              </a:rPr>
              <a:t>subtraction</a:t>
            </a:r>
            <a:endParaRPr/>
          </a:p>
        </p:txBody>
      </p:sp>
      <p:cxnSp>
        <p:nvCxnSpPr>
          <p:cNvPr id="264" name="Google Shape;264;p31"/>
          <p:cNvCxnSpPr/>
          <p:nvPr/>
        </p:nvCxnSpPr>
        <p:spPr>
          <a:xfrm>
            <a:off x="4507077" y="1901952"/>
            <a:ext cx="129845" cy="0"/>
          </a:xfrm>
          <a:prstGeom prst="straightConnector1">
            <a:avLst/>
          </a:prstGeom>
          <a:noFill/>
          <a:ln cap="flat" cmpd="sng" w="15875">
            <a:solidFill>
              <a:srgbClr val="6B7280"/>
            </a:solidFill>
            <a:prstDash val="solid"/>
            <a:round/>
            <a:headEnd len="sm" w="sm" type="none"/>
            <a:tailEnd len="med" w="med" type="triangle"/>
          </a:ln>
        </p:spPr>
      </p:cxnSp>
      <p:sp>
        <p:nvSpPr>
          <p:cNvPr id="265" name="Google Shape;265;p31"/>
          <p:cNvSpPr/>
          <p:nvPr/>
        </p:nvSpPr>
        <p:spPr>
          <a:xfrm>
            <a:off x="4673498" y="1517904"/>
            <a:ext cx="1481328" cy="768096"/>
          </a:xfrm>
          <a:prstGeom prst="roundRect">
            <a:avLst>
              <a:gd fmla="val 15000" name="adj"/>
            </a:avLst>
          </a:prstGeom>
          <a:solidFill>
            <a:srgbClr val="EEF3FC"/>
          </a:solidFill>
          <a:ln>
            <a:noFill/>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None/>
            </a:pPr>
            <a:r>
              <a:rPr b="1" i="0" lang="ko" sz="1100" u="none" cap="none" strike="noStrike">
                <a:solidFill>
                  <a:srgbClr val="2B5FB8"/>
                </a:solidFill>
                <a:latin typeface="Noto Sans KR"/>
                <a:ea typeface="Noto Sans KR"/>
                <a:cs typeface="Noto Sans KR"/>
                <a:sym typeface="Noto Sans KR"/>
              </a:rPr>
              <a:t>Identity-preserving</a:t>
            </a:r>
            <a:endParaRPr/>
          </a:p>
          <a:p>
            <a:pPr indent="0" lvl="0" marL="0" marR="0" rtl="0" algn="ctr">
              <a:lnSpc>
                <a:spcPct val="100000"/>
              </a:lnSpc>
              <a:spcBef>
                <a:spcPts val="0"/>
              </a:spcBef>
              <a:spcAft>
                <a:spcPts val="0"/>
              </a:spcAft>
              <a:buNone/>
            </a:pPr>
            <a:r>
              <a:rPr b="1" i="0" lang="ko" sz="1100" u="none" cap="none" strike="noStrike">
                <a:solidFill>
                  <a:srgbClr val="2B5FB8"/>
                </a:solidFill>
                <a:latin typeface="Noto Sans KR"/>
                <a:ea typeface="Noto Sans KR"/>
                <a:cs typeface="Noto Sans KR"/>
                <a:sym typeface="Noto Sans KR"/>
              </a:rPr>
              <a:t>residue</a:t>
            </a:r>
            <a:endParaRPr/>
          </a:p>
        </p:txBody>
      </p:sp>
      <p:cxnSp>
        <p:nvCxnSpPr>
          <p:cNvPr id="266" name="Google Shape;266;p31"/>
          <p:cNvCxnSpPr/>
          <p:nvPr/>
        </p:nvCxnSpPr>
        <p:spPr>
          <a:xfrm>
            <a:off x="6191402" y="1901952"/>
            <a:ext cx="129845" cy="0"/>
          </a:xfrm>
          <a:prstGeom prst="straightConnector1">
            <a:avLst/>
          </a:prstGeom>
          <a:noFill/>
          <a:ln cap="flat" cmpd="sng" w="15875">
            <a:solidFill>
              <a:srgbClr val="6B7280"/>
            </a:solidFill>
            <a:prstDash val="solid"/>
            <a:round/>
            <a:headEnd len="sm" w="sm" type="none"/>
            <a:tailEnd len="med" w="med" type="triangle"/>
          </a:ln>
        </p:spPr>
      </p:cxnSp>
      <p:sp>
        <p:nvSpPr>
          <p:cNvPr id="267" name="Google Shape;267;p31"/>
          <p:cNvSpPr/>
          <p:nvPr/>
        </p:nvSpPr>
        <p:spPr>
          <a:xfrm>
            <a:off x="6357823" y="1517904"/>
            <a:ext cx="1481328" cy="768096"/>
          </a:xfrm>
          <a:prstGeom prst="roundRect">
            <a:avLst>
              <a:gd fmla="val 15000" name="adj"/>
            </a:avLst>
          </a:prstGeom>
          <a:solidFill>
            <a:srgbClr val="4A86E8"/>
          </a:solidFill>
          <a:ln>
            <a:noFill/>
          </a:ln>
        </p:spPr>
        <p:txBody>
          <a:bodyPr anchorCtr="0" anchor="ctr" bIns="36575" lIns="18275" spcFirstLastPara="1" rIns="18275" wrap="square" tIns="36575">
            <a:noAutofit/>
          </a:bodyPr>
          <a:lstStyle/>
          <a:p>
            <a:pPr indent="0" lvl="0" marL="0" marR="0" rtl="0" algn="ctr">
              <a:lnSpc>
                <a:spcPct val="100000"/>
              </a:lnSpc>
              <a:spcBef>
                <a:spcPts val="0"/>
              </a:spcBef>
              <a:spcAft>
                <a:spcPts val="0"/>
              </a:spcAft>
              <a:buNone/>
            </a:pPr>
            <a:r>
              <a:rPr b="1" i="0" lang="ko" sz="1100" u="none" cap="none" strike="noStrike">
                <a:solidFill>
                  <a:srgbClr val="FFFFFF"/>
                </a:solidFill>
                <a:latin typeface="Noto Sans KR"/>
                <a:ea typeface="Noto Sans KR"/>
                <a:cs typeface="Noto Sans KR"/>
                <a:sym typeface="Noto Sans KR"/>
              </a:rPr>
              <a:t>Random channel</a:t>
            </a:r>
            <a:endParaRPr/>
          </a:p>
          <a:p>
            <a:pPr indent="0" lvl="0" marL="0" marR="0" rtl="0" algn="ctr">
              <a:lnSpc>
                <a:spcPct val="100000"/>
              </a:lnSpc>
              <a:spcBef>
                <a:spcPts val="0"/>
              </a:spcBef>
              <a:spcAft>
                <a:spcPts val="0"/>
              </a:spcAft>
              <a:buNone/>
            </a:pPr>
            <a:r>
              <a:rPr b="1" i="0" lang="ko" sz="1100" u="none" cap="none" strike="noStrike">
                <a:solidFill>
                  <a:srgbClr val="FFFFFF"/>
                </a:solidFill>
                <a:latin typeface="Noto Sans KR"/>
                <a:ea typeface="Noto Sans KR"/>
                <a:cs typeface="Noto Sans KR"/>
                <a:sym typeface="Noto Sans KR"/>
              </a:rPr>
              <a:t>shuffling</a:t>
            </a:r>
            <a:endParaRPr/>
          </a:p>
        </p:txBody>
      </p:sp>
      <p:cxnSp>
        <p:nvCxnSpPr>
          <p:cNvPr id="268" name="Google Shape;268;p31"/>
          <p:cNvCxnSpPr/>
          <p:nvPr/>
        </p:nvCxnSpPr>
        <p:spPr>
          <a:xfrm>
            <a:off x="7875727" y="1901952"/>
            <a:ext cx="129845" cy="0"/>
          </a:xfrm>
          <a:prstGeom prst="straightConnector1">
            <a:avLst/>
          </a:prstGeom>
          <a:noFill/>
          <a:ln cap="flat" cmpd="sng" w="15875">
            <a:solidFill>
              <a:srgbClr val="6B7280"/>
            </a:solidFill>
            <a:prstDash val="solid"/>
            <a:round/>
            <a:headEnd len="sm" w="sm" type="none"/>
            <a:tailEnd len="med" w="med" type="triangle"/>
          </a:ln>
        </p:spPr>
      </p:cxnSp>
      <p:pic>
        <p:nvPicPr>
          <p:cNvPr descr="Protective face" id="269" name="Google Shape;269;p31"/>
          <p:cNvPicPr preferRelativeResize="0"/>
          <p:nvPr/>
        </p:nvPicPr>
        <p:blipFill rotWithShape="1">
          <a:blip r:embed="rId4">
            <a:alphaModFix/>
          </a:blip>
          <a:srcRect b="0" l="0" r="0" t="0"/>
          <a:stretch/>
        </p:blipFill>
        <p:spPr>
          <a:xfrm>
            <a:off x="8042148" y="1517904"/>
            <a:ext cx="768096" cy="768096"/>
          </a:xfrm>
          <a:prstGeom prst="rect">
            <a:avLst/>
          </a:prstGeom>
          <a:noFill/>
          <a:ln>
            <a:noFill/>
          </a:ln>
        </p:spPr>
      </p:pic>
      <p:sp>
        <p:nvSpPr>
          <p:cNvPr id="270" name="Google Shape;270;p31"/>
          <p:cNvSpPr txBox="1"/>
          <p:nvPr/>
        </p:nvSpPr>
        <p:spPr>
          <a:xfrm>
            <a:off x="7767827" y="2340864"/>
            <a:ext cx="1316736" cy="2286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None/>
            </a:pPr>
            <a:r>
              <a:rPr b="0" i="0" lang="ko" sz="1050" u="none" cap="none" strike="noStrike">
                <a:solidFill>
                  <a:srgbClr val="6B7280"/>
                </a:solidFill>
                <a:latin typeface="Noto Sans KR"/>
                <a:ea typeface="Noto Sans KR"/>
                <a:cs typeface="Noto Sans KR"/>
                <a:sym typeface="Noto Sans KR"/>
              </a:rPr>
              <a:t>Protective face</a:t>
            </a:r>
            <a:endParaRPr/>
          </a:p>
        </p:txBody>
      </p:sp>
      <p:sp>
        <p:nvSpPr>
          <p:cNvPr id="271" name="Google Shape;271;p31"/>
          <p:cNvSpPr/>
          <p:nvPr/>
        </p:nvSpPr>
        <p:spPr>
          <a:xfrm>
            <a:off x="333756" y="2743200"/>
            <a:ext cx="2673096" cy="1993392"/>
          </a:xfrm>
          <a:prstGeom prst="roundRect">
            <a:avLst>
              <a:gd fmla="val 8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2" name="Google Shape;272;p31"/>
          <p:cNvSpPr/>
          <p:nvPr/>
        </p:nvSpPr>
        <p:spPr>
          <a:xfrm>
            <a:off x="498347" y="2889503"/>
            <a:ext cx="365760" cy="365760"/>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FFFFFF"/>
                </a:solidFill>
                <a:latin typeface="Noto Sans KR"/>
                <a:ea typeface="Noto Sans KR"/>
                <a:cs typeface="Noto Sans KR"/>
                <a:sym typeface="Noto Sans KR"/>
              </a:rPr>
              <a:t>1</a:t>
            </a:r>
            <a:endParaRPr/>
          </a:p>
        </p:txBody>
      </p:sp>
      <p:sp>
        <p:nvSpPr>
          <p:cNvPr id="273" name="Google Shape;273;p31"/>
          <p:cNvSpPr txBox="1"/>
          <p:nvPr/>
        </p:nvSpPr>
        <p:spPr>
          <a:xfrm>
            <a:off x="516635" y="3364992"/>
            <a:ext cx="230733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300" u="none" cap="none" strike="noStrike">
                <a:solidFill>
                  <a:srgbClr val="2B5FB8"/>
                </a:solidFill>
                <a:latin typeface="Noto Sans KR"/>
                <a:ea typeface="Noto Sans KR"/>
                <a:cs typeface="Noto Sans KR"/>
                <a:sym typeface="Noto Sans KR"/>
              </a:rPr>
              <a:t>Trainable feature subtraction</a:t>
            </a:r>
            <a:endParaRPr/>
          </a:p>
        </p:txBody>
      </p:sp>
      <p:sp>
        <p:nvSpPr>
          <p:cNvPr id="274" name="Google Shape;274;p31"/>
          <p:cNvSpPr txBox="1"/>
          <p:nvPr/>
        </p:nvSpPr>
        <p:spPr>
          <a:xfrm>
            <a:off x="516635" y="4041648"/>
            <a:ext cx="230733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Learn a residue between the original face and its regeneration.</a:t>
            </a:r>
            <a:endParaRPr/>
          </a:p>
        </p:txBody>
      </p:sp>
      <p:sp>
        <p:nvSpPr>
          <p:cNvPr id="275" name="Google Shape;275;p31"/>
          <p:cNvSpPr/>
          <p:nvPr/>
        </p:nvSpPr>
        <p:spPr>
          <a:xfrm>
            <a:off x="3235452" y="2743200"/>
            <a:ext cx="2673096" cy="1993392"/>
          </a:xfrm>
          <a:prstGeom prst="roundRect">
            <a:avLst>
              <a:gd fmla="val 8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76" name="Google Shape;276;p31"/>
          <p:cNvSpPr/>
          <p:nvPr/>
        </p:nvSpPr>
        <p:spPr>
          <a:xfrm>
            <a:off x="3400043" y="2889503"/>
            <a:ext cx="365760" cy="365760"/>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FFFFFF"/>
                </a:solidFill>
                <a:latin typeface="Noto Sans KR"/>
                <a:ea typeface="Noto Sans KR"/>
                <a:cs typeface="Noto Sans KR"/>
                <a:sym typeface="Noto Sans KR"/>
              </a:rPr>
              <a:t>2</a:t>
            </a:r>
            <a:endParaRPr/>
          </a:p>
        </p:txBody>
      </p:sp>
      <p:sp>
        <p:nvSpPr>
          <p:cNvPr id="277" name="Google Shape;277;p31"/>
          <p:cNvSpPr txBox="1"/>
          <p:nvPr/>
        </p:nvSpPr>
        <p:spPr>
          <a:xfrm>
            <a:off x="3418332" y="3364992"/>
            <a:ext cx="230733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300" u="none" cap="none" strike="noStrike">
                <a:solidFill>
                  <a:srgbClr val="2B5FB8"/>
                </a:solidFill>
                <a:latin typeface="Noto Sans KR"/>
                <a:ea typeface="Noto Sans KR"/>
                <a:cs typeface="Noto Sans KR"/>
                <a:sym typeface="Noto Sans KR"/>
              </a:rPr>
              <a:t>High-dimensional representation + random channel shuffling</a:t>
            </a:r>
            <a:endParaRPr/>
          </a:p>
        </p:txBody>
      </p:sp>
      <p:sp>
        <p:nvSpPr>
          <p:cNvPr id="278" name="Google Shape;278;p31"/>
          <p:cNvSpPr txBox="1"/>
          <p:nvPr/>
        </p:nvSpPr>
        <p:spPr>
          <a:xfrm>
            <a:off x="3418332" y="4041648"/>
            <a:ext cx="230733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Preserve identity while improving privacy.</a:t>
            </a:r>
            <a:endParaRPr/>
          </a:p>
        </p:txBody>
      </p:sp>
      <p:sp>
        <p:nvSpPr>
          <p:cNvPr id="279" name="Google Shape;279;p31"/>
          <p:cNvSpPr/>
          <p:nvPr/>
        </p:nvSpPr>
        <p:spPr>
          <a:xfrm>
            <a:off x="6137148" y="2743200"/>
            <a:ext cx="2673096" cy="1993392"/>
          </a:xfrm>
          <a:prstGeom prst="roundRect">
            <a:avLst>
              <a:gd fmla="val 8000" name="adj"/>
            </a:avLst>
          </a:prstGeom>
          <a:solidFill>
            <a:srgbClr val="F5F7FB"/>
          </a:solidFill>
          <a:ln>
            <a:noFill/>
          </a:ln>
        </p:spPr>
        <p:txBody>
          <a:bodyPr anchorCtr="0" anchor="ctr" bIns="36575" lIns="109725" spcFirstLastPara="1" rIns="109725" wrap="square" tIns="36575">
            <a:noAutofit/>
          </a:bodyPr>
          <a:lstStyle/>
          <a:p>
            <a:pPr indent="0" lvl="0" marL="0" marR="0" rtl="0" algn="ctr">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280" name="Google Shape;280;p31"/>
          <p:cNvSpPr/>
          <p:nvPr/>
        </p:nvSpPr>
        <p:spPr>
          <a:xfrm>
            <a:off x="6301740" y="2889503"/>
            <a:ext cx="365760" cy="365760"/>
          </a:xfrm>
          <a:prstGeom prst="ellipse">
            <a:avLst/>
          </a:prstGeom>
          <a:solidFill>
            <a:srgbClr val="4A86E8"/>
          </a:solidFill>
          <a:ln>
            <a:noFill/>
          </a:ln>
        </p:spPr>
        <p:txBody>
          <a:bodyPr anchorCtr="0" anchor="ctr" bIns="0" lIns="0" spcFirstLastPara="1" rIns="0" wrap="square" tIns="0">
            <a:noAutofit/>
          </a:bodyPr>
          <a:lstStyle/>
          <a:p>
            <a:pPr indent="0" lvl="0" marL="0" marR="0" rtl="0" algn="ctr">
              <a:lnSpc>
                <a:spcPct val="100000"/>
              </a:lnSpc>
              <a:spcBef>
                <a:spcPts val="0"/>
              </a:spcBef>
              <a:spcAft>
                <a:spcPts val="0"/>
              </a:spcAft>
              <a:buNone/>
            </a:pPr>
            <a:r>
              <a:rPr b="1" i="0" lang="ko" sz="1300" u="none" cap="none" strike="noStrike">
                <a:solidFill>
                  <a:srgbClr val="FFFFFF"/>
                </a:solidFill>
                <a:latin typeface="Noto Sans KR"/>
                <a:ea typeface="Noto Sans KR"/>
                <a:cs typeface="Noto Sans KR"/>
                <a:sym typeface="Noto Sans KR"/>
              </a:rPr>
              <a:t>3</a:t>
            </a:r>
            <a:endParaRPr/>
          </a:p>
        </p:txBody>
      </p:sp>
      <p:sp>
        <p:nvSpPr>
          <p:cNvPr id="281" name="Google Shape;281;p31"/>
          <p:cNvSpPr txBox="1"/>
          <p:nvPr/>
        </p:nvSpPr>
        <p:spPr>
          <a:xfrm>
            <a:off x="6320028" y="3364992"/>
            <a:ext cx="230733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1" i="0" lang="ko" sz="1300" u="none" cap="none" strike="noStrike">
                <a:solidFill>
                  <a:srgbClr val="2B5FB8"/>
                </a:solidFill>
                <a:latin typeface="Noto Sans KR"/>
                <a:ea typeface="Noto Sans KR"/>
                <a:cs typeface="Noto Sans KR"/>
                <a:sym typeface="Noto Sans KR"/>
              </a:rPr>
              <a:t>MinusFace framework</a:t>
            </a:r>
            <a:endParaRPr/>
          </a:p>
        </p:txBody>
      </p:sp>
      <p:sp>
        <p:nvSpPr>
          <p:cNvPr id="282" name="Google Shape;282;p31"/>
          <p:cNvSpPr txBox="1"/>
          <p:nvPr/>
        </p:nvSpPr>
        <p:spPr>
          <a:xfrm>
            <a:off x="6320028" y="4041648"/>
            <a:ext cx="2307336" cy="640080"/>
          </a:xfrm>
          <a:prstGeom prst="rect">
            <a:avLst/>
          </a:prstGeom>
          <a:no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rPr b="0" i="0" lang="ko" sz="1200" u="none" cap="none" strike="noStrike">
                <a:solidFill>
                  <a:srgbClr val="1F2937"/>
                </a:solidFill>
                <a:latin typeface="Noto Sans KR"/>
                <a:ea typeface="Noto Sans KR"/>
                <a:cs typeface="Noto Sans KR"/>
                <a:sym typeface="Noto Sans KR"/>
              </a:rPr>
              <a:t>High recognition accuracy with stronger protection against recovery attacks.</a:t>
            </a:r>
            <a:endParaRPr/>
          </a:p>
        </p:txBody>
      </p:sp>
      <p:sp>
        <p:nvSpPr>
          <p:cNvPr id="283" name="Google Shape;283;p3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288" name="Shape 288"/>
        <p:cNvGrpSpPr/>
        <p:nvPr/>
      </p:nvGrpSpPr>
      <p:grpSpPr>
        <a:xfrm>
          <a:off x="0" y="0"/>
          <a:ext cx="0" cy="0"/>
          <a:chOff x="0" y="0"/>
          <a:chExt cx="0" cy="0"/>
        </a:xfrm>
      </p:grpSpPr>
      <p:sp>
        <p:nvSpPr>
          <p:cNvPr id="289" name="Google Shape;289;p32"/>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290" name="Google Shape;290;p32"/>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91" name="Google Shape;291;p32"/>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Steps 1–5: encoding, reconstruction, and residual</a:t>
            </a:r>
            <a:endParaRPr/>
          </a:p>
        </p:txBody>
      </p:sp>
      <p:sp>
        <p:nvSpPr>
          <p:cNvPr id="292" name="Google Shape;292;p32"/>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293" name="Google Shape;293;p32"/>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1</a:t>
            </a:r>
            <a:endParaRPr/>
          </a:p>
        </p:txBody>
      </p:sp>
      <p:pic>
        <p:nvPicPr>
          <p:cNvPr id="294" name="Google Shape;294;p32"/>
          <p:cNvPicPr preferRelativeResize="0"/>
          <p:nvPr/>
        </p:nvPicPr>
        <p:blipFill rotWithShape="1">
          <a:blip r:embed="rId3">
            <a:alphaModFix/>
          </a:blip>
          <a:srcRect b="0" l="0" r="0" t="0"/>
          <a:stretch/>
        </p:blipFill>
        <p:spPr>
          <a:xfrm>
            <a:off x="3761919" y="1332590"/>
            <a:ext cx="5286375" cy="2478321"/>
          </a:xfrm>
          <a:prstGeom prst="rect">
            <a:avLst/>
          </a:prstGeom>
          <a:noFill/>
          <a:ln>
            <a:noFill/>
          </a:ln>
        </p:spPr>
      </p:pic>
      <p:pic>
        <p:nvPicPr>
          <p:cNvPr id="295" name="Google Shape;295;p32"/>
          <p:cNvPicPr preferRelativeResize="0"/>
          <p:nvPr/>
        </p:nvPicPr>
        <p:blipFill>
          <a:blip r:embed="rId4">
            <a:alphaModFix/>
          </a:blip>
          <a:stretch>
            <a:fillRect/>
          </a:stretch>
        </p:blipFill>
        <p:spPr>
          <a:xfrm>
            <a:off x="192875" y="1300338"/>
            <a:ext cx="3374100" cy="3374100"/>
          </a:xfrm>
          <a:prstGeom prst="rect">
            <a:avLst/>
          </a:prstGeom>
          <a:noFill/>
          <a:ln>
            <a:noFill/>
          </a:ln>
        </p:spPr>
      </p:pic>
      <p:sp>
        <p:nvSpPr>
          <p:cNvPr id="296" name="Google Shape;296;p3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01" name="Shape 301"/>
        <p:cNvGrpSpPr/>
        <p:nvPr/>
      </p:nvGrpSpPr>
      <p:grpSpPr>
        <a:xfrm>
          <a:off x="0" y="0"/>
          <a:ext cx="0" cy="0"/>
          <a:chOff x="0" y="0"/>
          <a:chExt cx="0" cy="0"/>
        </a:xfrm>
      </p:grpSpPr>
      <p:sp>
        <p:nvSpPr>
          <p:cNvPr id="302" name="Google Shape;302;p33"/>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303" name="Google Shape;303;p33"/>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04" name="Google Shape;304;p33"/>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Steps 6–10: learning and deployment</a:t>
            </a:r>
            <a:endParaRPr/>
          </a:p>
        </p:txBody>
      </p:sp>
      <p:sp>
        <p:nvSpPr>
          <p:cNvPr id="305" name="Google Shape;305;p33"/>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306" name="Google Shape;306;p33"/>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2</a:t>
            </a:r>
            <a:endParaRPr/>
          </a:p>
        </p:txBody>
      </p:sp>
      <p:sp>
        <p:nvSpPr>
          <p:cNvPr id="307" name="Google Shape;307;p33"/>
          <p:cNvSpPr/>
          <p:nvPr/>
        </p:nvSpPr>
        <p:spPr>
          <a:xfrm>
            <a:off x="321469" y="4393406"/>
            <a:ext cx="8215200" cy="39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462" u="none" cap="none" strike="noStrike">
                <a:solidFill>
                  <a:srgbClr val="4A86E8"/>
                </a:solidFill>
                <a:latin typeface="Noto Sans KR"/>
                <a:ea typeface="Noto Sans KR"/>
                <a:cs typeface="Noto Sans KR"/>
                <a:sym typeface="Noto Sans KR"/>
              </a:rPr>
              <a:t>Two objectives: close reconstruction and useful identity clues</a:t>
            </a:r>
            <a:endParaRPr/>
          </a:p>
        </p:txBody>
      </p:sp>
      <p:pic>
        <p:nvPicPr>
          <p:cNvPr id="308" name="Google Shape;308;p33"/>
          <p:cNvPicPr preferRelativeResize="0"/>
          <p:nvPr/>
        </p:nvPicPr>
        <p:blipFill>
          <a:blip r:embed="rId3">
            <a:alphaModFix/>
          </a:blip>
          <a:stretch>
            <a:fillRect/>
          </a:stretch>
        </p:blipFill>
        <p:spPr>
          <a:xfrm>
            <a:off x="511150" y="1250300"/>
            <a:ext cx="3204299" cy="3204299"/>
          </a:xfrm>
          <a:prstGeom prst="rect">
            <a:avLst/>
          </a:prstGeom>
          <a:noFill/>
          <a:ln>
            <a:noFill/>
          </a:ln>
        </p:spPr>
      </p:pic>
      <p:sp>
        <p:nvSpPr>
          <p:cNvPr id="309" name="Google Shape;309;p3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14" name="Shape 314"/>
        <p:cNvGrpSpPr/>
        <p:nvPr/>
      </p:nvGrpSpPr>
      <p:grpSpPr>
        <a:xfrm>
          <a:off x="0" y="0"/>
          <a:ext cx="0" cy="0"/>
          <a:chOff x="0" y="0"/>
          <a:chExt cx="0" cy="0"/>
        </a:xfrm>
      </p:grpSpPr>
      <p:sp>
        <p:nvSpPr>
          <p:cNvPr id="315" name="Google Shape;315;p34"/>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316" name="Google Shape;316;p34"/>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7" name="Google Shape;317;p34"/>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Steps 1–3: encode and reconstruct</a:t>
            </a:r>
            <a:endParaRPr/>
          </a:p>
        </p:txBody>
      </p:sp>
      <p:sp>
        <p:nvSpPr>
          <p:cNvPr id="318" name="Google Shape;318;p34"/>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319" name="Google Shape;319;p34"/>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3</a:t>
            </a:r>
            <a:endParaRPr/>
          </a:p>
        </p:txBody>
      </p:sp>
      <p:pic>
        <p:nvPicPr>
          <p:cNvPr id="320" name="Google Shape;320;p34"/>
          <p:cNvPicPr preferRelativeResize="0"/>
          <p:nvPr/>
        </p:nvPicPr>
        <p:blipFill rotWithShape="1">
          <a:blip r:embed="rId3">
            <a:alphaModFix/>
          </a:blip>
          <a:srcRect b="0" l="0" r="0" t="0"/>
          <a:stretch/>
        </p:blipFill>
        <p:spPr>
          <a:xfrm>
            <a:off x="321469" y="1498714"/>
            <a:ext cx="8358188" cy="1681728"/>
          </a:xfrm>
          <a:prstGeom prst="rect">
            <a:avLst/>
          </a:prstGeom>
          <a:noFill/>
          <a:ln>
            <a:noFill/>
          </a:ln>
        </p:spPr>
      </p:pic>
      <p:sp>
        <p:nvSpPr>
          <p:cNvPr id="321" name="Google Shape;321;p34"/>
          <p:cNvSpPr/>
          <p:nvPr/>
        </p:nvSpPr>
        <p:spPr>
          <a:xfrm>
            <a:off x="321469" y="4357688"/>
            <a:ext cx="8215200" cy="42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Why: create a reconstruction whose appearance we can compare with X</a:t>
            </a:r>
            <a:endParaRPr/>
          </a:p>
        </p:txBody>
      </p:sp>
      <p:pic>
        <p:nvPicPr>
          <p:cNvPr id="322" name="Google Shape;322;p34"/>
          <p:cNvPicPr preferRelativeResize="0"/>
          <p:nvPr/>
        </p:nvPicPr>
        <p:blipFill rotWithShape="1">
          <a:blip r:embed="rId4">
            <a:alphaModFix/>
          </a:blip>
          <a:srcRect b="35036" l="0" r="0" t="34509"/>
          <a:stretch/>
        </p:blipFill>
        <p:spPr>
          <a:xfrm>
            <a:off x="0" y="3304699"/>
            <a:ext cx="9144003" cy="928750"/>
          </a:xfrm>
          <a:prstGeom prst="rect">
            <a:avLst/>
          </a:prstGeom>
          <a:noFill/>
          <a:ln>
            <a:noFill/>
          </a:ln>
        </p:spPr>
      </p:pic>
      <p:sp>
        <p:nvSpPr>
          <p:cNvPr id="323" name="Google Shape;323;p3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28" name="Shape 328"/>
        <p:cNvGrpSpPr/>
        <p:nvPr/>
      </p:nvGrpSpPr>
      <p:grpSpPr>
        <a:xfrm>
          <a:off x="0" y="0"/>
          <a:ext cx="0" cy="0"/>
          <a:chOff x="0" y="0"/>
          <a:chExt cx="0" cy="0"/>
        </a:xfrm>
      </p:grpSpPr>
      <p:sp>
        <p:nvSpPr>
          <p:cNvPr id="329" name="Google Shape;329;p35"/>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330" name="Google Shape;330;p35"/>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1" name="Google Shape;331;p35"/>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 4: subtraction and the residual</a:t>
            </a:r>
            <a:endParaRPr/>
          </a:p>
        </p:txBody>
      </p:sp>
      <p:sp>
        <p:nvSpPr>
          <p:cNvPr id="332" name="Google Shape;332;p35"/>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333" name="Google Shape;333;p35"/>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4</a:t>
            </a:r>
            <a:endParaRPr/>
          </a:p>
        </p:txBody>
      </p:sp>
      <p:pic>
        <p:nvPicPr>
          <p:cNvPr id="334" name="Google Shape;334;p35"/>
          <p:cNvPicPr preferRelativeResize="0"/>
          <p:nvPr/>
        </p:nvPicPr>
        <p:blipFill rotWithShape="1">
          <a:blip r:embed="rId3">
            <a:alphaModFix/>
          </a:blip>
          <a:srcRect b="0" l="0" r="0" t="0"/>
          <a:stretch/>
        </p:blipFill>
        <p:spPr>
          <a:xfrm>
            <a:off x="321469" y="1458597"/>
            <a:ext cx="4643438" cy="2226306"/>
          </a:xfrm>
          <a:prstGeom prst="rect">
            <a:avLst/>
          </a:prstGeom>
          <a:noFill/>
          <a:ln>
            <a:noFill/>
          </a:ln>
        </p:spPr>
      </p:pic>
      <p:sp>
        <p:nvSpPr>
          <p:cNvPr id="335" name="Google Shape;335;p35"/>
          <p:cNvSpPr/>
          <p:nvPr/>
        </p:nvSpPr>
        <p:spPr>
          <a:xfrm>
            <a:off x="5357812" y="2178844"/>
            <a:ext cx="3143400" cy="16431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Residual r: 192-channel differences</a:t>
            </a:r>
            <a:endParaRPr/>
          </a:p>
          <a:p>
            <a:pPr indent="0" lvl="0" marL="0" marR="0" rtl="0" algn="l">
              <a:lnSpc>
                <a:spcPct val="100000"/>
              </a:lnSpc>
              <a:spcBef>
                <a:spcPts val="0"/>
              </a:spcBef>
              <a:spcAft>
                <a:spcPts val="0"/>
              </a:spcAft>
              <a:buNone/>
            </a:pPr>
            <a:r>
              <a:t/>
            </a:r>
            <a:endParaRPr b="0" i="0" spc="0" sz="1406" u="none" cap="none" strike="noStrike">
              <a:solidFill>
                <a:srgbClr val="243B49"/>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R′ = d(r) = X − X′</a:t>
            </a:r>
            <a:endParaRPr/>
          </a:p>
          <a:p>
            <a:pPr indent="0" lvl="0" marL="0" marR="0" rtl="0" algn="l">
              <a:lnSpc>
                <a:spcPct val="100000"/>
              </a:lnSpc>
              <a:spcBef>
                <a:spcPts val="0"/>
              </a:spcBef>
              <a:spcAft>
                <a:spcPts val="0"/>
              </a:spcAft>
              <a:buNone/>
            </a:pPr>
            <a:r>
              <a:t/>
            </a:r>
            <a:endParaRPr b="0" i="0" spc="0" sz="1406" u="none" cap="none" strike="noStrike">
              <a:solidFill>
                <a:srgbClr val="243B49"/>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Encoded identity clues can remain while decoded appearance is nearly blank</a:t>
            </a:r>
            <a:endParaRPr/>
          </a:p>
        </p:txBody>
      </p:sp>
      <p:sp>
        <p:nvSpPr>
          <p:cNvPr id="336" name="Google Shape;336;p35"/>
          <p:cNvSpPr/>
          <p:nvPr/>
        </p:nvSpPr>
        <p:spPr>
          <a:xfrm>
            <a:off x="321469" y="4357688"/>
            <a:ext cx="8143800" cy="4287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519" u="none" cap="none" strike="noStrike">
                <a:solidFill>
                  <a:srgbClr val="243B49"/>
                </a:solidFill>
                <a:latin typeface="Noto Sans KR"/>
                <a:ea typeface="Noto Sans KR"/>
                <a:cs typeface="Noto Sans KR"/>
                <a:sym typeface="Noto Sans KR"/>
              </a:rPr>
              <a:t>Why: retain useful recognition information in the leftover</a:t>
            </a:r>
            <a:endParaRPr/>
          </a:p>
        </p:txBody>
      </p:sp>
      <p:pic>
        <p:nvPicPr>
          <p:cNvPr id="337" name="Google Shape;337;p35"/>
          <p:cNvPicPr preferRelativeResize="0"/>
          <p:nvPr/>
        </p:nvPicPr>
        <p:blipFill rotWithShape="1">
          <a:blip r:embed="rId4">
            <a:alphaModFix/>
          </a:blip>
          <a:srcRect b="22822" l="12583" r="13920" t="26997"/>
          <a:stretch/>
        </p:blipFill>
        <p:spPr>
          <a:xfrm>
            <a:off x="5154925" y="1250300"/>
            <a:ext cx="3817324" cy="869199"/>
          </a:xfrm>
          <a:prstGeom prst="rect">
            <a:avLst/>
          </a:prstGeom>
          <a:noFill/>
          <a:ln>
            <a:noFill/>
          </a:ln>
        </p:spPr>
      </p:pic>
      <p:sp>
        <p:nvSpPr>
          <p:cNvPr id="338" name="Google Shape;338;p3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43" name="Shape 343"/>
        <p:cNvGrpSpPr/>
        <p:nvPr/>
      </p:nvGrpSpPr>
      <p:grpSpPr>
        <a:xfrm>
          <a:off x="0" y="0"/>
          <a:ext cx="0" cy="0"/>
          <a:chOff x="0" y="0"/>
          <a:chExt cx="0" cy="0"/>
        </a:xfrm>
      </p:grpSpPr>
      <p:sp>
        <p:nvSpPr>
          <p:cNvPr id="344" name="Google Shape;344;p36"/>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345" name="Google Shape;345;p36"/>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6" name="Google Shape;346;p36"/>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Steps 5–7: the training objectives</a:t>
            </a:r>
            <a:endParaRPr/>
          </a:p>
        </p:txBody>
      </p:sp>
      <p:sp>
        <p:nvSpPr>
          <p:cNvPr id="347" name="Google Shape;347;p36"/>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348" name="Google Shape;348;p36"/>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5</a:t>
            </a:r>
            <a:endParaRPr/>
          </a:p>
        </p:txBody>
      </p:sp>
      <p:sp>
        <p:nvSpPr>
          <p:cNvPr id="349" name="Google Shape;349;p36"/>
          <p:cNvSpPr/>
          <p:nvPr/>
        </p:nvSpPr>
        <p:spPr>
          <a:xfrm>
            <a:off x="321469" y="1357312"/>
            <a:ext cx="39291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Reconstruction</a:t>
            </a:r>
            <a:endParaRPr/>
          </a:p>
        </p:txBody>
      </p:sp>
      <p:sp>
        <p:nvSpPr>
          <p:cNvPr id="350" name="Google Shape;350;p36"/>
          <p:cNvSpPr/>
          <p:nvPr/>
        </p:nvSpPr>
        <p:spPr>
          <a:xfrm>
            <a:off x="321469" y="2607469"/>
            <a:ext cx="39291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519" u="none" cap="none" strike="noStrike">
                <a:solidFill>
                  <a:srgbClr val="243B49"/>
                </a:solidFill>
                <a:latin typeface="Noto Sans KR"/>
                <a:ea typeface="Noto Sans KR"/>
                <a:cs typeface="Noto Sans KR"/>
                <a:sym typeface="Noto Sans KR"/>
              </a:rPr>
              <a:t>A close copy reduces</a:t>
            </a:r>
            <a:endParaRPr/>
          </a:p>
          <a:p>
            <a:pPr indent="0" lvl="0" marL="0" marR="0" rtl="0" algn="l">
              <a:lnSpc>
                <a:spcPct val="100000"/>
              </a:lnSpc>
              <a:spcBef>
                <a:spcPts val="0"/>
              </a:spcBef>
              <a:spcAft>
                <a:spcPts val="0"/>
              </a:spcAft>
              <a:buNone/>
            </a:pPr>
            <a:r>
              <a:rPr b="0" i="0" lang="ko" spc="0" sz="1519" u="none" cap="none" strike="noStrike">
                <a:solidFill>
                  <a:srgbClr val="243B49"/>
                </a:solidFill>
                <a:latin typeface="Noto Sans KR"/>
                <a:ea typeface="Noto Sans KR"/>
                <a:cs typeface="Noto Sans KR"/>
                <a:sym typeface="Noto Sans KR"/>
              </a:rPr>
              <a:t>visible image differences</a:t>
            </a:r>
            <a:endParaRPr/>
          </a:p>
        </p:txBody>
      </p:sp>
      <p:sp>
        <p:nvSpPr>
          <p:cNvPr id="351" name="Google Shape;351;p36"/>
          <p:cNvSpPr/>
          <p:nvPr/>
        </p:nvSpPr>
        <p:spPr>
          <a:xfrm>
            <a:off x="4857750" y="1357312"/>
            <a:ext cx="39291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Recognition</a:t>
            </a:r>
            <a:endParaRPr/>
          </a:p>
        </p:txBody>
      </p:sp>
      <p:sp>
        <p:nvSpPr>
          <p:cNvPr id="352" name="Google Shape;352;p36"/>
          <p:cNvSpPr/>
          <p:nvPr/>
        </p:nvSpPr>
        <p:spPr>
          <a:xfrm>
            <a:off x="4857750" y="2607469"/>
            <a:ext cx="39291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519" u="none" cap="none" strike="noStrike">
                <a:solidFill>
                  <a:srgbClr val="243B49"/>
                </a:solidFill>
                <a:latin typeface="Noto Sans KR"/>
                <a:ea typeface="Noto Sans KR"/>
                <a:cs typeface="Noto Sans KR"/>
                <a:sym typeface="Noto Sans KR"/>
              </a:rPr>
              <a:t>Correct label y trains</a:t>
            </a:r>
            <a:endParaRPr/>
          </a:p>
          <a:p>
            <a:pPr indent="0" lvl="0" marL="0" marR="0" rtl="0" algn="l">
              <a:lnSpc>
                <a:spcPct val="100000"/>
              </a:lnSpc>
              <a:spcBef>
                <a:spcPts val="0"/>
              </a:spcBef>
              <a:spcAft>
                <a:spcPts val="0"/>
              </a:spcAft>
              <a:buNone/>
            </a:pPr>
            <a:r>
              <a:rPr b="0" i="0" lang="ko" spc="0" sz="1519" u="none" cap="none" strike="noStrike">
                <a:solidFill>
                  <a:srgbClr val="243B49"/>
                </a:solidFill>
                <a:latin typeface="Noto Sans KR"/>
                <a:ea typeface="Noto Sans KR"/>
                <a:cs typeface="Noto Sans KR"/>
                <a:sym typeface="Noto Sans KR"/>
              </a:rPr>
              <a:t>identity clues in r</a:t>
            </a:r>
            <a:endParaRPr/>
          </a:p>
        </p:txBody>
      </p:sp>
      <p:sp>
        <p:nvSpPr>
          <p:cNvPr id="353" name="Google Shape;353;p36"/>
          <p:cNvSpPr/>
          <p:nvPr/>
        </p:nvSpPr>
        <p:spPr>
          <a:xfrm>
            <a:off x="321469" y="4393406"/>
            <a:ext cx="8072400" cy="39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519" u="none" cap="none" strike="noStrike">
                <a:solidFill>
                  <a:srgbClr val="243B49"/>
                </a:solidFill>
                <a:latin typeface="Noto Sans KR"/>
                <a:ea typeface="Noto Sans KR"/>
                <a:cs typeface="Noto Sans KR"/>
                <a:sym typeface="Noto Sans KR"/>
              </a:rPr>
              <a:t>Why: backpropagation balances both objectives</a:t>
            </a:r>
            <a:endParaRPr/>
          </a:p>
        </p:txBody>
      </p:sp>
      <p:pic>
        <p:nvPicPr>
          <p:cNvPr id="354" name="Google Shape;354;p36"/>
          <p:cNvPicPr preferRelativeResize="0"/>
          <p:nvPr/>
        </p:nvPicPr>
        <p:blipFill rotWithShape="1">
          <a:blip r:embed="rId3">
            <a:alphaModFix/>
          </a:blip>
          <a:srcRect b="26512" l="13462" r="14663" t="25985"/>
          <a:stretch/>
        </p:blipFill>
        <p:spPr>
          <a:xfrm>
            <a:off x="422925" y="1786037"/>
            <a:ext cx="3240607" cy="714300"/>
          </a:xfrm>
          <a:prstGeom prst="rect">
            <a:avLst/>
          </a:prstGeom>
          <a:noFill/>
          <a:ln>
            <a:noFill/>
          </a:ln>
        </p:spPr>
      </p:pic>
      <p:pic>
        <p:nvPicPr>
          <p:cNvPr id="355" name="Google Shape;355;p36"/>
          <p:cNvPicPr preferRelativeResize="0"/>
          <p:nvPr/>
        </p:nvPicPr>
        <p:blipFill rotWithShape="1">
          <a:blip r:embed="rId4">
            <a:alphaModFix/>
          </a:blip>
          <a:srcRect b="26728" l="8589" r="8022" t="21853"/>
          <a:stretch/>
        </p:blipFill>
        <p:spPr>
          <a:xfrm>
            <a:off x="4867919" y="1678901"/>
            <a:ext cx="3908756" cy="799100"/>
          </a:xfrm>
          <a:prstGeom prst="rect">
            <a:avLst/>
          </a:prstGeom>
          <a:noFill/>
          <a:ln>
            <a:noFill/>
          </a:ln>
        </p:spPr>
      </p:pic>
      <p:pic>
        <p:nvPicPr>
          <p:cNvPr id="356" name="Google Shape;356;p36"/>
          <p:cNvPicPr preferRelativeResize="0"/>
          <p:nvPr/>
        </p:nvPicPr>
        <p:blipFill rotWithShape="1">
          <a:blip r:embed="rId5">
            <a:alphaModFix/>
          </a:blip>
          <a:srcRect b="28238" l="3876" r="2500" t="28682"/>
          <a:stretch/>
        </p:blipFill>
        <p:spPr>
          <a:xfrm>
            <a:off x="1623075" y="3458037"/>
            <a:ext cx="5207644" cy="799100"/>
          </a:xfrm>
          <a:prstGeom prst="rect">
            <a:avLst/>
          </a:prstGeom>
          <a:noFill/>
          <a:ln>
            <a:noFill/>
          </a:ln>
        </p:spPr>
      </p:pic>
      <p:sp>
        <p:nvSpPr>
          <p:cNvPr id="357" name="Google Shape;357;p3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62" name="Shape 362"/>
        <p:cNvGrpSpPr/>
        <p:nvPr/>
      </p:nvGrpSpPr>
      <p:grpSpPr>
        <a:xfrm>
          <a:off x="0" y="0"/>
          <a:ext cx="0" cy="0"/>
          <a:chOff x="0" y="0"/>
          <a:chExt cx="0" cy="0"/>
        </a:xfrm>
      </p:grpSpPr>
      <p:sp>
        <p:nvSpPr>
          <p:cNvPr id="363" name="Google Shape;363;p37"/>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364" name="Google Shape;364;p37"/>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65" name="Google Shape;365;p37"/>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 8: random channel shuffling</a:t>
            </a:r>
            <a:endParaRPr/>
          </a:p>
        </p:txBody>
      </p:sp>
      <p:sp>
        <p:nvSpPr>
          <p:cNvPr id="366" name="Google Shape;366;p37"/>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367" name="Google Shape;367;p37"/>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6</a:t>
            </a:r>
            <a:endParaRPr/>
          </a:p>
        </p:txBody>
      </p:sp>
      <p:pic>
        <p:nvPicPr>
          <p:cNvPr id="368" name="Google Shape;368;p37"/>
          <p:cNvPicPr preferRelativeResize="0"/>
          <p:nvPr/>
        </p:nvPicPr>
        <p:blipFill rotWithShape="1">
          <a:blip r:embed="rId3">
            <a:alphaModFix/>
          </a:blip>
          <a:srcRect b="0" l="0" r="0" t="0"/>
          <a:stretch/>
        </p:blipFill>
        <p:spPr>
          <a:xfrm>
            <a:off x="321469" y="1500669"/>
            <a:ext cx="4036219" cy="1284911"/>
          </a:xfrm>
          <a:prstGeom prst="rect">
            <a:avLst/>
          </a:prstGeom>
          <a:noFill/>
          <a:ln>
            <a:noFill/>
          </a:ln>
        </p:spPr>
      </p:pic>
      <p:pic>
        <p:nvPicPr>
          <p:cNvPr id="369" name="Google Shape;369;p37"/>
          <p:cNvPicPr preferRelativeResize="0"/>
          <p:nvPr/>
        </p:nvPicPr>
        <p:blipFill rotWithShape="1">
          <a:blip r:embed="rId4">
            <a:alphaModFix/>
          </a:blip>
          <a:srcRect b="0" l="0" r="0" t="0"/>
          <a:stretch/>
        </p:blipFill>
        <p:spPr>
          <a:xfrm>
            <a:off x="4714875" y="1444658"/>
            <a:ext cx="4071938" cy="1539808"/>
          </a:xfrm>
          <a:prstGeom prst="rect">
            <a:avLst/>
          </a:prstGeom>
          <a:noFill/>
          <a:ln>
            <a:noFill/>
          </a:ln>
        </p:spPr>
      </p:pic>
      <p:sp>
        <p:nvSpPr>
          <p:cNvPr id="370" name="Google Shape;370;p37"/>
          <p:cNvSpPr/>
          <p:nvPr/>
        </p:nvSpPr>
        <p:spPr>
          <a:xfrm>
            <a:off x="321469" y="3250406"/>
            <a:ext cx="40362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294" u="none" cap="none" strike="noStrike">
                <a:solidFill>
                  <a:srgbClr val="243B49"/>
                </a:solidFill>
                <a:latin typeface="Noto Sans KR"/>
                <a:ea typeface="Noto Sans KR"/>
                <a:cs typeface="Noto Sans KR"/>
                <a:sym typeface="Noto Sans KR"/>
              </a:rPr>
              <a:t>Figure 4(b): shuffle and decode</a:t>
            </a:r>
            <a:endParaRPr/>
          </a:p>
        </p:txBody>
      </p:sp>
      <p:sp>
        <p:nvSpPr>
          <p:cNvPr id="371" name="Google Shape;371;p37"/>
          <p:cNvSpPr/>
          <p:nvPr/>
        </p:nvSpPr>
        <p:spPr>
          <a:xfrm>
            <a:off x="4714875" y="3250406"/>
            <a:ext cx="40719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294" u="none" cap="none" strike="noStrike">
                <a:solidFill>
                  <a:srgbClr val="243B49"/>
                </a:solidFill>
                <a:latin typeface="Noto Sans KR"/>
                <a:ea typeface="Noto Sans KR"/>
                <a:cs typeface="Noto Sans KR"/>
                <a:sym typeface="Noto Sans KR"/>
              </a:rPr>
              <a:t>Figure 5: varied protected outputs</a:t>
            </a:r>
            <a:endParaRPr/>
          </a:p>
        </p:txBody>
      </p:sp>
      <p:sp>
        <p:nvSpPr>
          <p:cNvPr id="372" name="Google Shape;372;p37"/>
          <p:cNvSpPr/>
          <p:nvPr/>
        </p:nvSpPr>
        <p:spPr>
          <a:xfrm>
            <a:off x="321469" y="4393406"/>
            <a:ext cx="8215200" cy="3930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462" u="none" cap="none" strike="noStrike">
                <a:solidFill>
                  <a:srgbClr val="243B49"/>
                </a:solidFill>
                <a:latin typeface="Noto Sans KR"/>
                <a:ea typeface="Noto Sans KR"/>
                <a:cs typeface="Noto Sans KR"/>
                <a:sym typeface="Noto Sans KR"/>
              </a:rPr>
              <a:t>Why: disrupt exposed texture and vary the protected appearance</a:t>
            </a:r>
            <a:endParaRPr/>
          </a:p>
        </p:txBody>
      </p:sp>
      <p:pic>
        <p:nvPicPr>
          <p:cNvPr id="373" name="Google Shape;373;p37"/>
          <p:cNvPicPr preferRelativeResize="0"/>
          <p:nvPr/>
        </p:nvPicPr>
        <p:blipFill rotWithShape="1">
          <a:blip r:embed="rId5">
            <a:alphaModFix/>
          </a:blip>
          <a:srcRect b="54740" l="2247" r="27086" t="11704"/>
          <a:stretch/>
        </p:blipFill>
        <p:spPr>
          <a:xfrm>
            <a:off x="2534062" y="3550473"/>
            <a:ext cx="2718716" cy="860649"/>
          </a:xfrm>
          <a:prstGeom prst="rect">
            <a:avLst/>
          </a:prstGeom>
          <a:noFill/>
          <a:ln>
            <a:noFill/>
          </a:ln>
        </p:spPr>
      </p:pic>
      <p:sp>
        <p:nvSpPr>
          <p:cNvPr id="374" name="Google Shape;374;p3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rgbClr val="FFFFFF"/>
        </a:solidFill>
      </p:bgPr>
    </p:bg>
    <p:spTree>
      <p:nvGrpSpPr>
        <p:cNvPr id="379" name="Shape 379"/>
        <p:cNvGrpSpPr/>
        <p:nvPr/>
      </p:nvGrpSpPr>
      <p:grpSpPr>
        <a:xfrm>
          <a:off x="0" y="0"/>
          <a:ext cx="0" cy="0"/>
          <a:chOff x="0" y="0"/>
          <a:chExt cx="0" cy="0"/>
        </a:xfrm>
      </p:grpSpPr>
      <p:sp>
        <p:nvSpPr>
          <p:cNvPr id="380" name="Google Shape;380;p38"/>
          <p:cNvSpPr/>
          <p:nvPr/>
        </p:nvSpPr>
        <p:spPr>
          <a:xfrm>
            <a:off x="242888" y="121444"/>
            <a:ext cx="8358300" cy="535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2981" u="none" cap="none" strike="noStrike">
                <a:solidFill>
                  <a:srgbClr val="000000"/>
                </a:solidFill>
                <a:latin typeface="Noto Sans KR"/>
                <a:ea typeface="Noto Sans KR"/>
                <a:cs typeface="Noto Sans KR"/>
                <a:sym typeface="Noto Sans KR"/>
              </a:rPr>
              <a:t>Methodology</a:t>
            </a:r>
            <a:endParaRPr/>
          </a:p>
        </p:txBody>
      </p:sp>
      <p:sp>
        <p:nvSpPr>
          <p:cNvPr id="381" name="Google Shape;381;p38"/>
          <p:cNvSpPr/>
          <p:nvPr/>
        </p:nvSpPr>
        <p:spPr>
          <a:xfrm>
            <a:off x="192881" y="842962"/>
            <a:ext cx="8715300" cy="35700"/>
          </a:xfrm>
          <a:prstGeom prst="rect">
            <a:avLst/>
          </a:prstGeom>
          <a:solidFill>
            <a:srgbClr val="4A86E8"/>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82" name="Google Shape;382;p38"/>
          <p:cNvSpPr/>
          <p:nvPr/>
        </p:nvSpPr>
        <p:spPr>
          <a:xfrm>
            <a:off x="321469" y="928688"/>
            <a:ext cx="83583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Steps 9–10: final recognition and deployment</a:t>
            </a:r>
            <a:endParaRPr/>
          </a:p>
        </p:txBody>
      </p:sp>
      <p:sp>
        <p:nvSpPr>
          <p:cNvPr id="383" name="Google Shape;383;p38"/>
          <p:cNvSpPr/>
          <p:nvPr/>
        </p:nvSpPr>
        <p:spPr>
          <a:xfrm>
            <a:off x="321469" y="4929188"/>
            <a:ext cx="7143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637984"/>
                </a:solidFill>
                <a:latin typeface="Noto Sans KR"/>
                <a:ea typeface="Noto Sans KR"/>
                <a:cs typeface="Noto Sans KR"/>
                <a:sym typeface="Noto Sans KR"/>
              </a:rPr>
              <a:t>MinusFace · Methodology</a:t>
            </a:r>
            <a:endParaRPr/>
          </a:p>
        </p:txBody>
      </p:sp>
      <p:sp>
        <p:nvSpPr>
          <p:cNvPr id="384" name="Google Shape;384;p38"/>
          <p:cNvSpPr/>
          <p:nvPr/>
        </p:nvSpPr>
        <p:spPr>
          <a:xfrm>
            <a:off x="8429625" y="4929188"/>
            <a:ext cx="285900" cy="1785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844" u="none" cap="none" strike="noStrike">
                <a:solidFill>
                  <a:srgbClr val="243B49"/>
                </a:solidFill>
                <a:latin typeface="Noto Sans KR"/>
                <a:ea typeface="Noto Sans KR"/>
                <a:cs typeface="Noto Sans KR"/>
                <a:sym typeface="Noto Sans KR"/>
              </a:rPr>
              <a:t>7</a:t>
            </a:r>
            <a:endParaRPr/>
          </a:p>
        </p:txBody>
      </p:sp>
      <p:pic>
        <p:nvPicPr>
          <p:cNvPr id="385" name="Google Shape;385;p38"/>
          <p:cNvPicPr preferRelativeResize="0"/>
          <p:nvPr/>
        </p:nvPicPr>
        <p:blipFill rotWithShape="1">
          <a:blip r:embed="rId3">
            <a:alphaModFix/>
          </a:blip>
          <a:srcRect b="0" l="0" r="0" t="0"/>
          <a:stretch/>
        </p:blipFill>
        <p:spPr>
          <a:xfrm>
            <a:off x="321469" y="1501158"/>
            <a:ext cx="4643439" cy="2176904"/>
          </a:xfrm>
          <a:prstGeom prst="rect">
            <a:avLst/>
          </a:prstGeom>
          <a:noFill/>
          <a:ln>
            <a:noFill/>
          </a:ln>
        </p:spPr>
      </p:pic>
      <p:sp>
        <p:nvSpPr>
          <p:cNvPr id="386" name="Google Shape;386;p38"/>
          <p:cNvSpPr/>
          <p:nvPr/>
        </p:nvSpPr>
        <p:spPr>
          <a:xfrm>
            <a:off x="5464969" y="1428750"/>
            <a:ext cx="30717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88" u="none" cap="none" strike="noStrike">
                <a:solidFill>
                  <a:srgbClr val="1F2937"/>
                </a:solidFill>
                <a:latin typeface="Noto Sans KR"/>
                <a:ea typeface="Noto Sans KR"/>
                <a:cs typeface="Noto Sans KR"/>
                <a:sym typeface="Noto Sans KR"/>
              </a:rPr>
              <a:t>Training</a:t>
            </a:r>
            <a:endParaRPr/>
          </a:p>
        </p:txBody>
      </p:sp>
      <p:sp>
        <p:nvSpPr>
          <p:cNvPr id="387" name="Google Shape;387;p38"/>
          <p:cNvSpPr/>
          <p:nvPr/>
        </p:nvSpPr>
        <p:spPr>
          <a:xfrm>
            <a:off x="5464975" y="1732400"/>
            <a:ext cx="3071700" cy="101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Learn </a:t>
            </a:r>
            <a:r>
              <a:rPr b="0" i="1" lang="ko" spc="0" sz="1406" u="none" cap="none" strike="noStrike">
                <a:solidFill>
                  <a:srgbClr val="243B49"/>
                </a:solidFill>
                <a:latin typeface="Noto Sans KR"/>
                <a:ea typeface="Noto Sans KR"/>
                <a:cs typeface="Noto Sans KR"/>
                <a:sym typeface="Noto Sans KR"/>
              </a:rPr>
              <a:t>g</a:t>
            </a:r>
            <a:r>
              <a:rPr b="0" i="0" lang="ko" spc="0" sz="1406" u="none" cap="none" strike="noStrike">
                <a:solidFill>
                  <a:srgbClr val="243B49"/>
                </a:solidFill>
                <a:latin typeface="Noto Sans KR"/>
                <a:ea typeface="Noto Sans KR"/>
                <a:cs typeface="Noto Sans KR"/>
                <a:sym typeface="Noto Sans KR"/>
              </a:rPr>
              <a:t> and </a:t>
            </a:r>
            <a:r>
              <a:rPr b="0" i="1" lang="ko" spc="0" sz="1406" u="none" cap="none" strike="noStrike">
                <a:solidFill>
                  <a:srgbClr val="243B49"/>
                </a:solidFill>
                <a:latin typeface="Noto Sans KR"/>
                <a:ea typeface="Noto Sans KR"/>
                <a:cs typeface="Noto Sans KR"/>
                <a:sym typeface="Noto Sans KR"/>
              </a:rPr>
              <a:t>f</a:t>
            </a:r>
            <a:r>
              <a:rPr b="0" i="0" lang="ko" spc="0" sz="1406" u="none" cap="none" strike="noStrike">
                <a:solidFill>
                  <a:srgbClr val="243B49"/>
                </a:solidFill>
                <a:latin typeface="Noto Sans KR"/>
                <a:ea typeface="Noto Sans KR"/>
                <a:cs typeface="Noto Sans KR"/>
                <a:sym typeface="Noto Sans KR"/>
              </a:rPr>
              <a:t> jointly</a:t>
            </a:r>
            <a:endParaRPr b="0" i="0" spc="0" sz="1406" u="none" cap="none" strike="noStrike">
              <a:solidFill>
                <a:srgbClr val="243B49"/>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t/>
            </a:r>
            <a:endParaRPr sz="1600">
              <a:solidFill>
                <a:srgbClr val="243B49"/>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1" lang="ko" sz="1600">
                <a:solidFill>
                  <a:srgbClr val="243B49"/>
                </a:solidFill>
                <a:latin typeface="Noto Sans KR"/>
                <a:ea typeface="Noto Sans KR"/>
                <a:cs typeface="Noto Sans KR"/>
                <a:sym typeface="Noto Sans KR"/>
              </a:rPr>
              <a:t>Deployment:</a:t>
            </a:r>
            <a:endParaRPr b="1" sz="1600">
              <a:solidFill>
                <a:srgbClr val="243B49"/>
              </a:solidFill>
              <a:latin typeface="Noto Sans KR"/>
              <a:ea typeface="Noto Sans KR"/>
              <a:cs typeface="Noto Sans KR"/>
              <a:sym typeface="Noto Sans KR"/>
            </a:endParaRPr>
          </a:p>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Freeze </a:t>
            </a:r>
            <a:r>
              <a:rPr b="0" i="1" lang="ko" spc="0" sz="1406" u="none" cap="none" strike="noStrike">
                <a:solidFill>
                  <a:srgbClr val="243B49"/>
                </a:solidFill>
                <a:latin typeface="Noto Sans KR"/>
                <a:ea typeface="Noto Sans KR"/>
                <a:cs typeface="Noto Sans KR"/>
                <a:sym typeface="Noto Sans KR"/>
              </a:rPr>
              <a:t>g</a:t>
            </a:r>
            <a:r>
              <a:rPr b="0" i="0" lang="ko" spc="0" sz="1406" u="none" cap="none" strike="noStrike">
                <a:solidFill>
                  <a:srgbClr val="243B49"/>
                </a:solidFill>
                <a:latin typeface="Noto Sans KR"/>
                <a:ea typeface="Noto Sans KR"/>
                <a:cs typeface="Noto Sans KR"/>
                <a:sym typeface="Noto Sans KR"/>
              </a:rPr>
              <a:t> and discard </a:t>
            </a:r>
            <a:r>
              <a:rPr b="0" i="1" lang="ko" spc="0" sz="1406" u="none" cap="none" strike="noStrike">
                <a:solidFill>
                  <a:srgbClr val="243B49"/>
                </a:solidFill>
                <a:latin typeface="Noto Sans KR"/>
                <a:ea typeface="Noto Sans KR"/>
                <a:cs typeface="Noto Sans KR"/>
                <a:sym typeface="Noto Sans KR"/>
              </a:rPr>
              <a:t>f</a:t>
            </a:r>
            <a:endParaRPr i="1"/>
          </a:p>
        </p:txBody>
      </p:sp>
      <p:sp>
        <p:nvSpPr>
          <p:cNvPr id="388" name="Google Shape;388;p38"/>
          <p:cNvSpPr/>
          <p:nvPr/>
        </p:nvSpPr>
        <p:spPr>
          <a:xfrm>
            <a:off x="5464969" y="3250406"/>
            <a:ext cx="32148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631" u="none" cap="none" strike="noStrike">
                <a:solidFill>
                  <a:srgbClr val="1F2937"/>
                </a:solidFill>
                <a:latin typeface="Noto Sans KR"/>
                <a:ea typeface="Noto Sans KR"/>
                <a:cs typeface="Noto Sans KR"/>
                <a:sym typeface="Noto Sans KR"/>
              </a:rPr>
              <a:t>Device and server use</a:t>
            </a:r>
            <a:endParaRPr/>
          </a:p>
        </p:txBody>
      </p:sp>
      <p:sp>
        <p:nvSpPr>
          <p:cNvPr id="389" name="Google Shape;389;p38"/>
          <p:cNvSpPr/>
          <p:nvPr/>
        </p:nvSpPr>
        <p:spPr>
          <a:xfrm>
            <a:off x="5464969" y="3786188"/>
            <a:ext cx="3143400" cy="7143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Device creates and sends </a:t>
            </a:r>
            <a:r>
              <a:rPr b="0" i="1" lang="ko" spc="0" sz="1406" u="none" cap="none" strike="noStrike">
                <a:solidFill>
                  <a:srgbClr val="243B49"/>
                </a:solidFill>
                <a:latin typeface="Noto Sans KR"/>
                <a:ea typeface="Noto Sans KR"/>
                <a:cs typeface="Noto Sans KR"/>
                <a:sym typeface="Noto Sans KR"/>
              </a:rPr>
              <a:t>Xp</a:t>
            </a:r>
            <a:endParaRPr i="1"/>
          </a:p>
          <a:p>
            <a:pPr indent="0" lvl="0" marL="0" marR="0" rtl="0" algn="l">
              <a:lnSpc>
                <a:spcPct val="100000"/>
              </a:lnSpc>
              <a:spcBef>
                <a:spcPts val="0"/>
              </a:spcBef>
              <a:spcAft>
                <a:spcPts val="0"/>
              </a:spcAft>
              <a:buNone/>
            </a:pPr>
            <a:r>
              <a:rPr b="0" i="0" lang="ko" spc="0" sz="1406" u="none" cap="none" strike="noStrike">
                <a:solidFill>
                  <a:srgbClr val="243B49"/>
                </a:solidFill>
                <a:latin typeface="Noto Sans KR"/>
                <a:ea typeface="Noto Sans KR"/>
                <a:cs typeface="Noto Sans KR"/>
                <a:sym typeface="Noto Sans KR"/>
              </a:rPr>
              <a:t>Server recognizes using </a:t>
            </a:r>
            <a:r>
              <a:rPr b="0" i="1" lang="ko" spc="0" sz="1406" u="none" cap="none" strike="noStrike">
                <a:solidFill>
                  <a:srgbClr val="243B49"/>
                </a:solidFill>
                <a:latin typeface="Noto Sans KR"/>
                <a:ea typeface="Noto Sans KR"/>
                <a:cs typeface="Noto Sans KR"/>
                <a:sym typeface="Noto Sans KR"/>
              </a:rPr>
              <a:t>fp</a:t>
            </a:r>
            <a:endParaRPr i="1"/>
          </a:p>
        </p:txBody>
      </p:sp>
      <p:sp>
        <p:nvSpPr>
          <p:cNvPr id="390" name="Google Shape;390;p38"/>
          <p:cNvSpPr/>
          <p:nvPr/>
        </p:nvSpPr>
        <p:spPr>
          <a:xfrm>
            <a:off x="321469" y="4572000"/>
            <a:ext cx="8215200" cy="3216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rPr b="1" i="0" lang="ko" spc="0" sz="1406" u="none" cap="none" strike="noStrike">
                <a:solidFill>
                  <a:srgbClr val="4A86E8"/>
                </a:solidFill>
                <a:latin typeface="Noto Sans KR"/>
                <a:ea typeface="Noto Sans KR"/>
                <a:cs typeface="Noto Sans KR"/>
                <a:sym typeface="Noto Sans KR"/>
              </a:rPr>
              <a:t>Why: protect the photo before it leaves the endpoint device</a:t>
            </a:r>
            <a:endParaRPr/>
          </a:p>
        </p:txBody>
      </p:sp>
      <p:pic>
        <p:nvPicPr>
          <p:cNvPr id="391" name="Google Shape;391;p38"/>
          <p:cNvPicPr preferRelativeResize="0"/>
          <p:nvPr/>
        </p:nvPicPr>
        <p:blipFill rotWithShape="1">
          <a:blip r:embed="rId4">
            <a:alphaModFix/>
          </a:blip>
          <a:srcRect b="33111" l="0" r="0" t="49029"/>
          <a:stretch/>
        </p:blipFill>
        <p:spPr>
          <a:xfrm>
            <a:off x="1297325" y="121450"/>
            <a:ext cx="7715251" cy="918574"/>
          </a:xfrm>
          <a:prstGeom prst="rect">
            <a:avLst/>
          </a:prstGeom>
          <a:noFill/>
          <a:ln>
            <a:noFill/>
          </a:ln>
        </p:spPr>
      </p:pic>
      <p:sp>
        <p:nvSpPr>
          <p:cNvPr id="392" name="Google Shape;392;p3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Clr>
                <a:srgbClr val="000000"/>
              </a:buClr>
              <a:buSzPts val="1000"/>
              <a:buFont typeface="Arial"/>
              <a:buNone/>
            </a:pPr>
            <a:fld id="{00000000-1234-1234-1234-123412341234}" type="slidenum">
              <a:rPr lang="ko"/>
              <a:t>‹#›</a:t>
            </a:fld>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6" name="Shape 396"/>
        <p:cNvGrpSpPr/>
        <p:nvPr/>
      </p:nvGrpSpPr>
      <p:grpSpPr>
        <a:xfrm>
          <a:off x="0" y="0"/>
          <a:ext cx="0" cy="0"/>
          <a:chOff x="0" y="0"/>
          <a:chExt cx="0" cy="0"/>
        </a:xfrm>
      </p:grpSpPr>
      <p:sp>
        <p:nvSpPr>
          <p:cNvPr id="397" name="Google Shape;397;p39"/>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398" name="Google Shape;398;p39"/>
          <p:cNvSpPr txBox="1"/>
          <p:nvPr/>
        </p:nvSpPr>
        <p:spPr>
          <a:xfrm>
            <a:off x="241859" y="180159"/>
            <a:ext cx="8220900" cy="13392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3000">
                <a:solidFill>
                  <a:schemeClr val="dk1"/>
                </a:solidFill>
                <a:latin typeface="Noto Sans KR"/>
                <a:ea typeface="Noto Sans KR"/>
                <a:cs typeface="Noto Sans KR"/>
                <a:sym typeface="Noto Sans KR"/>
              </a:rPr>
              <a:t>Experiments</a:t>
            </a:r>
            <a:endParaRPr b="1" sz="3000">
              <a:solidFill>
                <a:schemeClr val="dk1"/>
              </a:solidFill>
              <a:latin typeface="Noto Sans KR"/>
              <a:ea typeface="Noto Sans KR"/>
              <a:cs typeface="Noto Sans KR"/>
              <a:sym typeface="Noto Sans KR"/>
            </a:endParaRPr>
          </a:p>
          <a:p>
            <a:pPr indent="0" lvl="0" marL="0" rtl="0" algn="l">
              <a:lnSpc>
                <a:spcPct val="150000"/>
              </a:lnSpc>
              <a:spcBef>
                <a:spcPts val="0"/>
              </a:spcBef>
              <a:spcAft>
                <a:spcPts val="0"/>
              </a:spcAft>
              <a:buNone/>
            </a:pPr>
            <a:r>
              <a:t/>
            </a:r>
            <a:endParaRPr b="1" sz="3000">
              <a:solidFill>
                <a:schemeClr val="dk1"/>
              </a:solidFill>
              <a:latin typeface="Noto Sans KR"/>
              <a:ea typeface="Noto Sans KR"/>
              <a:cs typeface="Noto Sans KR"/>
              <a:sym typeface="Noto Sans KR"/>
            </a:endParaRPr>
          </a:p>
        </p:txBody>
      </p:sp>
      <p:sp>
        <p:nvSpPr>
          <p:cNvPr id="399" name="Google Shape;399;p39"/>
          <p:cNvSpPr txBox="1"/>
          <p:nvPr/>
        </p:nvSpPr>
        <p:spPr>
          <a:xfrm>
            <a:off x="194850" y="889200"/>
            <a:ext cx="8754300" cy="608100"/>
          </a:xfrm>
          <a:prstGeom prst="rect">
            <a:avLst/>
          </a:prstGeom>
          <a:noFill/>
          <a:ln>
            <a:noFill/>
          </a:ln>
        </p:spPr>
        <p:txBody>
          <a:bodyPr anchorCtr="0" anchor="t" bIns="91425" lIns="91425" spcFirstLastPara="1" rIns="91425" wrap="square" tIns="91425">
            <a:spAutoFit/>
          </a:bodyPr>
          <a:lstStyle/>
          <a:p>
            <a:pPr indent="0" lvl="0" marL="0" rtl="0" algn="ctr">
              <a:lnSpc>
                <a:spcPct val="150000"/>
              </a:lnSpc>
              <a:spcBef>
                <a:spcPts val="0"/>
              </a:spcBef>
              <a:spcAft>
                <a:spcPts val="0"/>
              </a:spcAft>
              <a:buNone/>
            </a:pPr>
            <a:r>
              <a:rPr b="1" lang="ko" sz="1100">
                <a:solidFill>
                  <a:schemeClr val="dk1"/>
                </a:solidFill>
                <a:latin typeface="Noto Sans KR"/>
                <a:ea typeface="Noto Sans KR"/>
                <a:cs typeface="Noto Sans KR"/>
                <a:sym typeface="Noto Sans KR"/>
              </a:rPr>
              <a:t>Table</a:t>
            </a:r>
            <a:r>
              <a:rPr lang="ko" sz="1100">
                <a:solidFill>
                  <a:schemeClr val="dk1"/>
                </a:solidFill>
                <a:latin typeface="Noto Sans KR"/>
                <a:ea typeface="Noto Sans KR"/>
                <a:cs typeface="Noto Sans KR"/>
                <a:sym typeface="Noto Sans KR"/>
              </a:rPr>
              <a:t>: The performance comparison among MinusFace, an unprotected baseline, and PPFR SOTAs on face verification and identification tasks.</a:t>
            </a:r>
            <a:endParaRPr sz="1100">
              <a:solidFill>
                <a:schemeClr val="dk1"/>
              </a:solidFill>
              <a:latin typeface="Noto Sans KR"/>
              <a:ea typeface="Noto Sans KR"/>
              <a:cs typeface="Noto Sans KR"/>
              <a:sym typeface="Noto Sans KR"/>
            </a:endParaRPr>
          </a:p>
        </p:txBody>
      </p:sp>
      <p:sp>
        <p:nvSpPr>
          <p:cNvPr id="400" name="Google Shape;400;p39"/>
          <p:cNvSpPr txBox="1"/>
          <p:nvPr/>
        </p:nvSpPr>
        <p:spPr>
          <a:xfrm>
            <a:off x="194850" y="4621875"/>
            <a:ext cx="8904000" cy="400200"/>
          </a:xfrm>
          <a:prstGeom prst="rect">
            <a:avLst/>
          </a:prstGeom>
          <a:noFill/>
          <a:ln>
            <a:noFill/>
          </a:ln>
        </p:spPr>
        <p:txBody>
          <a:bodyPr anchorCtr="0" anchor="t" bIns="91425" lIns="91425" spcFirstLastPara="1" rIns="91425" wrap="square" tIns="91425">
            <a:noAutofit/>
          </a:bodyPr>
          <a:lstStyle/>
          <a:p>
            <a:pPr indent="0" lvl="0" marL="0" rtl="0" algn="l">
              <a:lnSpc>
                <a:spcPct val="150000"/>
              </a:lnSpc>
              <a:spcBef>
                <a:spcPts val="0"/>
              </a:spcBef>
              <a:spcAft>
                <a:spcPts val="0"/>
              </a:spcAft>
              <a:buNone/>
            </a:pPr>
            <a:r>
              <a:rPr b="1" lang="ko" sz="900">
                <a:solidFill>
                  <a:schemeClr val="dk1"/>
                </a:solidFill>
                <a:latin typeface="Noto Sans KR"/>
                <a:ea typeface="Noto Sans KR"/>
                <a:cs typeface="Noto Sans KR"/>
                <a:sym typeface="Noto Sans KR"/>
              </a:rPr>
              <a:t>*</a:t>
            </a:r>
            <a:r>
              <a:rPr lang="ko" sz="900">
                <a:solidFill>
                  <a:schemeClr val="dk1"/>
                </a:solidFill>
                <a:latin typeface="Noto Sans KR"/>
                <a:ea typeface="Noto Sans KR"/>
                <a:cs typeface="Noto Sans KR"/>
                <a:sym typeface="Noto Sans KR"/>
              </a:rPr>
              <a:t>Privacy-Preserving Face Recognition(PPFR), </a:t>
            </a:r>
            <a:r>
              <a:rPr b="1" lang="ko" sz="900">
                <a:solidFill>
                  <a:schemeClr val="dk1"/>
                </a:solidFill>
                <a:latin typeface="Noto Sans KR"/>
                <a:ea typeface="Noto Sans KR"/>
                <a:cs typeface="Noto Sans KR"/>
                <a:sym typeface="Noto Sans KR"/>
              </a:rPr>
              <a:t>Datasets</a:t>
            </a:r>
            <a:r>
              <a:rPr lang="ko" sz="900">
                <a:solidFill>
                  <a:schemeClr val="dk1"/>
                </a:solidFill>
                <a:latin typeface="Noto Sans KR"/>
                <a:ea typeface="Noto Sans KR"/>
                <a:cs typeface="Noto Sans KR"/>
                <a:sym typeface="Noto Sans KR"/>
              </a:rPr>
              <a:t>: Labeled Faces in the Wild(LFW), Celebrities in Frontal-Profile(CFP-FP), Cross-Pose(CPLFW), Cross-Age(CALFW), IARPA Janus Benchmark(IJB-B), </a:t>
            </a:r>
            <a:r>
              <a:rPr b="1" lang="ko" sz="900">
                <a:solidFill>
                  <a:schemeClr val="dk1"/>
                </a:solidFill>
                <a:latin typeface="Noto Sans KR"/>
                <a:ea typeface="Noto Sans KR"/>
                <a:cs typeface="Noto Sans KR"/>
                <a:sym typeface="Noto Sans KR"/>
              </a:rPr>
              <a:t>Metric: </a:t>
            </a:r>
            <a:r>
              <a:rPr lang="ko" sz="900">
                <a:solidFill>
                  <a:schemeClr val="dk1"/>
                </a:solidFill>
                <a:latin typeface="Noto Sans KR"/>
                <a:ea typeface="Noto Sans KR"/>
                <a:cs typeface="Noto Sans KR"/>
                <a:sym typeface="Noto Sans KR"/>
              </a:rPr>
              <a:t>Accuracy</a:t>
            </a:r>
            <a:endParaRPr sz="600">
              <a:solidFill>
                <a:schemeClr val="dk1"/>
              </a:solidFill>
              <a:latin typeface="Noto Sans KR"/>
              <a:ea typeface="Noto Sans KR"/>
              <a:cs typeface="Noto Sans KR"/>
              <a:sym typeface="Noto Sans KR"/>
            </a:endParaRPr>
          </a:p>
        </p:txBody>
      </p:sp>
      <p:pic>
        <p:nvPicPr>
          <p:cNvPr id="401" name="Google Shape;401;p39"/>
          <p:cNvPicPr preferRelativeResize="0"/>
          <p:nvPr/>
        </p:nvPicPr>
        <p:blipFill rotWithShape="1">
          <a:blip r:embed="rId3">
            <a:alphaModFix/>
          </a:blip>
          <a:srcRect b="0" l="0" r="83692" t="0"/>
          <a:stretch/>
        </p:blipFill>
        <p:spPr>
          <a:xfrm>
            <a:off x="783546" y="1434475"/>
            <a:ext cx="1444451" cy="3187400"/>
          </a:xfrm>
          <a:prstGeom prst="rect">
            <a:avLst/>
          </a:prstGeom>
          <a:noFill/>
          <a:ln>
            <a:noFill/>
          </a:ln>
        </p:spPr>
      </p:pic>
      <p:pic>
        <p:nvPicPr>
          <p:cNvPr id="402" name="Google Shape;402;p39"/>
          <p:cNvPicPr preferRelativeResize="0"/>
          <p:nvPr/>
        </p:nvPicPr>
        <p:blipFill rotWithShape="1">
          <a:blip r:embed="rId3">
            <a:alphaModFix/>
          </a:blip>
          <a:srcRect b="0" l="16507" r="71803" t="0"/>
          <a:stretch/>
        </p:blipFill>
        <p:spPr>
          <a:xfrm>
            <a:off x="2195526" y="1434475"/>
            <a:ext cx="1035501" cy="3187400"/>
          </a:xfrm>
          <a:prstGeom prst="rect">
            <a:avLst/>
          </a:prstGeom>
          <a:noFill/>
          <a:ln>
            <a:noFill/>
          </a:ln>
        </p:spPr>
      </p:pic>
      <p:pic>
        <p:nvPicPr>
          <p:cNvPr id="403" name="Google Shape;403;p39"/>
          <p:cNvPicPr preferRelativeResize="0"/>
          <p:nvPr/>
        </p:nvPicPr>
        <p:blipFill rotWithShape="1">
          <a:blip r:embed="rId3">
            <a:alphaModFix/>
          </a:blip>
          <a:srcRect b="0" l="83692" r="8354" t="0"/>
          <a:stretch/>
        </p:blipFill>
        <p:spPr>
          <a:xfrm>
            <a:off x="6951500" y="1434488"/>
            <a:ext cx="704474" cy="3187375"/>
          </a:xfrm>
          <a:prstGeom prst="rect">
            <a:avLst/>
          </a:prstGeom>
          <a:noFill/>
          <a:ln>
            <a:noFill/>
          </a:ln>
        </p:spPr>
      </p:pic>
      <p:pic>
        <p:nvPicPr>
          <p:cNvPr id="404" name="Google Shape;404;p39"/>
          <p:cNvPicPr preferRelativeResize="0"/>
          <p:nvPr/>
        </p:nvPicPr>
        <p:blipFill rotWithShape="1">
          <a:blip r:embed="rId3">
            <a:alphaModFix/>
          </a:blip>
          <a:srcRect b="0" l="28846" r="63200" t="0"/>
          <a:stretch/>
        </p:blipFill>
        <p:spPr>
          <a:xfrm>
            <a:off x="3225288" y="1434475"/>
            <a:ext cx="704474" cy="3187400"/>
          </a:xfrm>
          <a:prstGeom prst="rect">
            <a:avLst/>
          </a:prstGeom>
          <a:noFill/>
          <a:ln>
            <a:noFill/>
          </a:ln>
        </p:spPr>
      </p:pic>
      <p:pic>
        <p:nvPicPr>
          <p:cNvPr id="405" name="Google Shape;405;p39"/>
          <p:cNvPicPr preferRelativeResize="0"/>
          <p:nvPr/>
        </p:nvPicPr>
        <p:blipFill rotWithShape="1">
          <a:blip r:embed="rId3">
            <a:alphaModFix/>
          </a:blip>
          <a:srcRect b="0" l="36131" r="55916" t="0"/>
          <a:stretch/>
        </p:blipFill>
        <p:spPr>
          <a:xfrm>
            <a:off x="3904876" y="1434475"/>
            <a:ext cx="704474" cy="3187400"/>
          </a:xfrm>
          <a:prstGeom prst="rect">
            <a:avLst/>
          </a:prstGeom>
          <a:noFill/>
          <a:ln>
            <a:noFill/>
          </a:ln>
        </p:spPr>
      </p:pic>
      <p:pic>
        <p:nvPicPr>
          <p:cNvPr id="406" name="Google Shape;406;p39"/>
          <p:cNvPicPr preferRelativeResize="0"/>
          <p:nvPr/>
        </p:nvPicPr>
        <p:blipFill rotWithShape="1">
          <a:blip r:embed="rId3">
            <a:alphaModFix/>
          </a:blip>
          <a:srcRect b="0" l="44240" r="45993" t="0"/>
          <a:stretch/>
        </p:blipFill>
        <p:spPr>
          <a:xfrm>
            <a:off x="4566524" y="1434475"/>
            <a:ext cx="865125" cy="3187400"/>
          </a:xfrm>
          <a:prstGeom prst="rect">
            <a:avLst/>
          </a:prstGeom>
          <a:noFill/>
          <a:ln>
            <a:noFill/>
          </a:ln>
        </p:spPr>
      </p:pic>
      <p:pic>
        <p:nvPicPr>
          <p:cNvPr id="407" name="Google Shape;407;p39"/>
          <p:cNvPicPr preferRelativeResize="0"/>
          <p:nvPr/>
        </p:nvPicPr>
        <p:blipFill rotWithShape="1">
          <a:blip r:embed="rId3">
            <a:alphaModFix/>
          </a:blip>
          <a:srcRect b="0" l="53740" r="37292" t="0"/>
          <a:stretch/>
        </p:blipFill>
        <p:spPr>
          <a:xfrm>
            <a:off x="5347998" y="1434475"/>
            <a:ext cx="794324" cy="3187400"/>
          </a:xfrm>
          <a:prstGeom prst="rect">
            <a:avLst/>
          </a:prstGeom>
          <a:noFill/>
          <a:ln>
            <a:noFill/>
          </a:ln>
        </p:spPr>
      </p:pic>
      <p:pic>
        <p:nvPicPr>
          <p:cNvPr id="408" name="Google Shape;408;p39"/>
          <p:cNvPicPr preferRelativeResize="0"/>
          <p:nvPr/>
        </p:nvPicPr>
        <p:blipFill rotWithShape="1">
          <a:blip r:embed="rId3">
            <a:alphaModFix/>
          </a:blip>
          <a:srcRect b="0" l="63154" r="27078" t="0"/>
          <a:stretch/>
        </p:blipFill>
        <p:spPr>
          <a:xfrm>
            <a:off x="6142327" y="1434475"/>
            <a:ext cx="865125" cy="3187400"/>
          </a:xfrm>
          <a:prstGeom prst="rect">
            <a:avLst/>
          </a:prstGeom>
          <a:noFill/>
          <a:ln>
            <a:noFill/>
          </a:ln>
        </p:spPr>
      </p:pic>
      <p:pic>
        <p:nvPicPr>
          <p:cNvPr id="409" name="Google Shape;409;p39"/>
          <p:cNvPicPr preferRelativeResize="0"/>
          <p:nvPr/>
        </p:nvPicPr>
        <p:blipFill rotWithShape="1">
          <a:blip r:embed="rId3">
            <a:alphaModFix/>
          </a:blip>
          <a:srcRect b="0" l="92046" r="0" t="0"/>
          <a:stretch/>
        </p:blipFill>
        <p:spPr>
          <a:xfrm>
            <a:off x="7655975" y="1434475"/>
            <a:ext cx="704474" cy="3187400"/>
          </a:xfrm>
          <a:prstGeom prst="rect">
            <a:avLst/>
          </a:prstGeom>
          <a:noFill/>
          <a:ln>
            <a:noFill/>
          </a:ln>
        </p:spPr>
      </p:pic>
      <p:sp>
        <p:nvSpPr>
          <p:cNvPr id="410" name="Google Shape;410;p39"/>
          <p:cNvSpPr/>
          <p:nvPr/>
        </p:nvSpPr>
        <p:spPr>
          <a:xfrm>
            <a:off x="3998825" y="3199300"/>
            <a:ext cx="549900" cy="646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1" name="Google Shape;411;p39"/>
          <p:cNvSpPr/>
          <p:nvPr/>
        </p:nvSpPr>
        <p:spPr>
          <a:xfrm>
            <a:off x="3977425" y="1849550"/>
            <a:ext cx="4241100" cy="2424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2" name="Google Shape;412;p39"/>
          <p:cNvSpPr/>
          <p:nvPr/>
        </p:nvSpPr>
        <p:spPr>
          <a:xfrm>
            <a:off x="4711590" y="3191310"/>
            <a:ext cx="549900" cy="646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3" name="Google Shape;413;p39"/>
          <p:cNvSpPr/>
          <p:nvPr/>
        </p:nvSpPr>
        <p:spPr>
          <a:xfrm>
            <a:off x="5475150" y="2958353"/>
            <a:ext cx="549900" cy="879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4" name="Google Shape;414;p39"/>
          <p:cNvSpPr/>
          <p:nvPr/>
        </p:nvSpPr>
        <p:spPr>
          <a:xfrm>
            <a:off x="6286225" y="3191301"/>
            <a:ext cx="549900" cy="646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5" name="Google Shape;415;p39"/>
          <p:cNvSpPr/>
          <p:nvPr/>
        </p:nvSpPr>
        <p:spPr>
          <a:xfrm>
            <a:off x="7002546" y="3186424"/>
            <a:ext cx="549900" cy="646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6" name="Google Shape;416;p39"/>
          <p:cNvSpPr/>
          <p:nvPr/>
        </p:nvSpPr>
        <p:spPr>
          <a:xfrm>
            <a:off x="7690700" y="2956589"/>
            <a:ext cx="549900" cy="8793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17" name="Google Shape;417;p3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1"/>
                                        </p:tgtEl>
                                        <p:attrNameLst>
                                          <p:attrName>style.visibility</p:attrName>
                                        </p:attrNameLst>
                                      </p:cBhvr>
                                      <p:to>
                                        <p:strVal val="visible"/>
                                      </p:to>
                                    </p:set>
                                    <p:anim calcmode="lin" valueType="num">
                                      <p:cBhvr additive="base">
                                        <p:cTn dur="1000"/>
                                        <p:tgtEl>
                                          <p:spTgt spid="40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2"/>
                                        </p:tgtEl>
                                        <p:attrNameLst>
                                          <p:attrName>style.visibility</p:attrName>
                                        </p:attrNameLst>
                                      </p:cBhvr>
                                      <p:to>
                                        <p:strVal val="visible"/>
                                      </p:to>
                                    </p:set>
                                    <p:anim calcmode="lin" valueType="num">
                                      <p:cBhvr additive="base">
                                        <p:cTn dur="1000"/>
                                        <p:tgtEl>
                                          <p:spTgt spid="40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4"/>
                                        </p:tgtEl>
                                        <p:attrNameLst>
                                          <p:attrName>style.visibility</p:attrName>
                                        </p:attrNameLst>
                                      </p:cBhvr>
                                      <p:to>
                                        <p:strVal val="visible"/>
                                      </p:to>
                                    </p:set>
                                    <p:anim calcmode="lin" valueType="num">
                                      <p:cBhvr additive="base">
                                        <p:cTn dur="1000"/>
                                        <p:tgtEl>
                                          <p:spTgt spid="40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5"/>
                                        </p:tgtEl>
                                        <p:attrNameLst>
                                          <p:attrName>style.visibility</p:attrName>
                                        </p:attrNameLst>
                                      </p:cBhvr>
                                      <p:to>
                                        <p:strVal val="visible"/>
                                      </p:to>
                                    </p:set>
                                    <p:anim calcmode="lin" valueType="num">
                                      <p:cBhvr additive="base">
                                        <p:cTn dur="1000"/>
                                        <p:tgtEl>
                                          <p:spTgt spid="40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6"/>
                                        </p:tgtEl>
                                        <p:attrNameLst>
                                          <p:attrName>style.visibility</p:attrName>
                                        </p:attrNameLst>
                                      </p:cBhvr>
                                      <p:to>
                                        <p:strVal val="visible"/>
                                      </p:to>
                                    </p:set>
                                    <p:anim calcmode="lin" valueType="num">
                                      <p:cBhvr additive="base">
                                        <p:cTn dur="1000"/>
                                        <p:tgtEl>
                                          <p:spTgt spid="40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7"/>
                                        </p:tgtEl>
                                        <p:attrNameLst>
                                          <p:attrName>style.visibility</p:attrName>
                                        </p:attrNameLst>
                                      </p:cBhvr>
                                      <p:to>
                                        <p:strVal val="visible"/>
                                      </p:to>
                                    </p:set>
                                    <p:anim calcmode="lin" valueType="num">
                                      <p:cBhvr additive="base">
                                        <p:cTn dur="1000"/>
                                        <p:tgtEl>
                                          <p:spTgt spid="40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8"/>
                                        </p:tgtEl>
                                        <p:attrNameLst>
                                          <p:attrName>style.visibility</p:attrName>
                                        </p:attrNameLst>
                                      </p:cBhvr>
                                      <p:to>
                                        <p:strVal val="visible"/>
                                      </p:to>
                                    </p:set>
                                    <p:anim calcmode="lin" valueType="num">
                                      <p:cBhvr additive="base">
                                        <p:cTn dur="1000"/>
                                        <p:tgtEl>
                                          <p:spTgt spid="40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3"/>
                                        </p:tgtEl>
                                        <p:attrNameLst>
                                          <p:attrName>style.visibility</p:attrName>
                                        </p:attrNameLst>
                                      </p:cBhvr>
                                      <p:to>
                                        <p:strVal val="visible"/>
                                      </p:to>
                                    </p:set>
                                    <p:anim calcmode="lin" valueType="num">
                                      <p:cBhvr additive="base">
                                        <p:cTn dur="1000"/>
                                        <p:tgtEl>
                                          <p:spTgt spid="40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09"/>
                                        </p:tgtEl>
                                        <p:attrNameLst>
                                          <p:attrName>style.visibility</p:attrName>
                                        </p:attrNameLst>
                                      </p:cBhvr>
                                      <p:to>
                                        <p:strVal val="visible"/>
                                      </p:to>
                                    </p:set>
                                    <p:anim calcmode="lin" valueType="num">
                                      <p:cBhvr additive="base">
                                        <p:cTn dur="1000"/>
                                        <p:tgtEl>
                                          <p:spTgt spid="40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10"/>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1"/>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3"/>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5"/>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41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21" name="Shape 421"/>
        <p:cNvGrpSpPr/>
        <p:nvPr/>
      </p:nvGrpSpPr>
      <p:grpSpPr>
        <a:xfrm>
          <a:off x="0" y="0"/>
          <a:ext cx="0" cy="0"/>
          <a:chOff x="0" y="0"/>
          <a:chExt cx="0" cy="0"/>
        </a:xfrm>
      </p:grpSpPr>
      <p:sp>
        <p:nvSpPr>
          <p:cNvPr id="422" name="Google Shape;422;p40"/>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23" name="Google Shape;423;p40"/>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3000">
                <a:solidFill>
                  <a:schemeClr val="dk1"/>
                </a:solidFill>
                <a:latin typeface="Noto Sans KR"/>
                <a:ea typeface="Noto Sans KR"/>
                <a:cs typeface="Noto Sans KR"/>
                <a:sym typeface="Noto Sans KR"/>
              </a:rPr>
              <a:t>Experiments</a:t>
            </a:r>
            <a:endParaRPr b="1" sz="3000">
              <a:solidFill>
                <a:schemeClr val="dk1"/>
              </a:solidFill>
              <a:latin typeface="Noto Sans KR"/>
              <a:ea typeface="Noto Sans KR"/>
              <a:cs typeface="Noto Sans KR"/>
              <a:sym typeface="Noto Sans KR"/>
            </a:endParaRPr>
          </a:p>
        </p:txBody>
      </p:sp>
      <p:sp>
        <p:nvSpPr>
          <p:cNvPr id="424" name="Google Shape;424;p40"/>
          <p:cNvSpPr txBox="1"/>
          <p:nvPr/>
        </p:nvSpPr>
        <p:spPr>
          <a:xfrm>
            <a:off x="0" y="3383075"/>
            <a:ext cx="5406900" cy="585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1200">
                <a:solidFill>
                  <a:schemeClr val="dk1"/>
                </a:solidFill>
                <a:latin typeface="Noto Sans KR"/>
                <a:ea typeface="Noto Sans KR"/>
                <a:cs typeface="Noto Sans KR"/>
                <a:sym typeface="Noto Sans KR"/>
              </a:rPr>
              <a:t>Figure</a:t>
            </a:r>
            <a:r>
              <a:rPr lang="ko" sz="1200">
                <a:solidFill>
                  <a:schemeClr val="dk1"/>
                </a:solidFill>
                <a:latin typeface="Noto Sans KR"/>
                <a:ea typeface="Noto Sans KR"/>
                <a:cs typeface="Noto Sans KR"/>
                <a:sym typeface="Noto Sans KR"/>
              </a:rPr>
              <a:t>: Privacy protection of MinusFace, compared with SOTAs.</a:t>
            </a:r>
            <a:endParaRPr sz="1200">
              <a:solidFill>
                <a:schemeClr val="dk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800">
                <a:solidFill>
                  <a:schemeClr val="dk1"/>
                </a:solidFill>
                <a:latin typeface="Noto Sans KR"/>
                <a:ea typeface="Noto Sans KR"/>
                <a:cs typeface="Noto Sans KR"/>
                <a:sym typeface="Noto Sans KR"/>
              </a:rPr>
              <a:t>*</a:t>
            </a:r>
            <a:r>
              <a:rPr b="1" lang="ko" sz="800">
                <a:solidFill>
                  <a:srgbClr val="D64545"/>
                </a:solidFill>
                <a:latin typeface="Noto Sans KR"/>
                <a:ea typeface="Noto Sans KR"/>
                <a:cs typeface="Noto Sans KR"/>
                <a:sym typeface="Noto Sans KR"/>
              </a:rPr>
              <a:t>SSIM</a:t>
            </a:r>
            <a:r>
              <a:rPr lang="ko" sz="800">
                <a:solidFill>
                  <a:schemeClr val="dk1"/>
                </a:solidFill>
                <a:latin typeface="Noto Sans KR"/>
                <a:ea typeface="Noto Sans KR"/>
                <a:cs typeface="Noto Sans KR"/>
                <a:sym typeface="Noto Sans KR"/>
              </a:rPr>
              <a:t>: Structural Similarity Index Measure, </a:t>
            </a:r>
            <a:r>
              <a:rPr b="1" lang="ko" sz="800">
                <a:solidFill>
                  <a:srgbClr val="FF0000"/>
                </a:solidFill>
                <a:latin typeface="Noto Sans KR"/>
                <a:ea typeface="Noto Sans KR"/>
                <a:cs typeface="Noto Sans KR"/>
                <a:sym typeface="Noto Sans KR"/>
              </a:rPr>
              <a:t>PSNR</a:t>
            </a:r>
            <a:r>
              <a:rPr lang="ko" sz="800">
                <a:solidFill>
                  <a:schemeClr val="dk1"/>
                </a:solidFill>
                <a:latin typeface="Noto Sans KR"/>
                <a:ea typeface="Noto Sans KR"/>
                <a:cs typeface="Noto Sans KR"/>
                <a:sym typeface="Noto Sans KR"/>
              </a:rPr>
              <a:t>: Peak Signal-to-Noise Ratio</a:t>
            </a:r>
            <a:endParaRPr sz="800">
              <a:solidFill>
                <a:schemeClr val="dk1"/>
              </a:solidFill>
              <a:latin typeface="Noto Sans KR"/>
              <a:ea typeface="Noto Sans KR"/>
              <a:cs typeface="Noto Sans KR"/>
              <a:sym typeface="Noto Sans KR"/>
            </a:endParaRPr>
          </a:p>
        </p:txBody>
      </p:sp>
      <p:sp>
        <p:nvSpPr>
          <p:cNvPr id="425" name="Google Shape;425;p40"/>
          <p:cNvSpPr txBox="1"/>
          <p:nvPr/>
        </p:nvSpPr>
        <p:spPr>
          <a:xfrm>
            <a:off x="812275" y="3987125"/>
            <a:ext cx="4716300" cy="5850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1200">
                <a:solidFill>
                  <a:schemeClr val="dk1"/>
                </a:solidFill>
                <a:latin typeface="Noto Sans KR"/>
                <a:ea typeface="Noto Sans KR"/>
                <a:cs typeface="Noto Sans KR"/>
                <a:sym typeface="Noto Sans KR"/>
              </a:rPr>
              <a:t>Figure</a:t>
            </a:r>
            <a:r>
              <a:rPr lang="ko" sz="1200">
                <a:solidFill>
                  <a:schemeClr val="dk1"/>
                </a:solidFill>
                <a:latin typeface="Noto Sans KR"/>
                <a:ea typeface="Noto Sans KR"/>
                <a:cs typeface="Noto Sans KR"/>
                <a:sym typeface="Noto Sans KR"/>
              </a:rPr>
              <a:t>: </a:t>
            </a:r>
            <a:r>
              <a:rPr lang="ko" sz="1200">
                <a:solidFill>
                  <a:schemeClr val="dk1"/>
                </a:solidFill>
                <a:latin typeface="Noto Sans KR"/>
                <a:ea typeface="Noto Sans KR"/>
                <a:cs typeface="Noto Sans KR"/>
                <a:sym typeface="Noto Sans KR"/>
              </a:rPr>
              <a:t>MinusFace p</a:t>
            </a:r>
            <a:r>
              <a:rPr lang="ko" sz="1200">
                <a:solidFill>
                  <a:schemeClr val="dk1"/>
                </a:solidFill>
                <a:latin typeface="Noto Sans KR"/>
                <a:ea typeface="Noto Sans KR"/>
                <a:cs typeface="Noto Sans KR"/>
                <a:sym typeface="Noto Sans KR"/>
              </a:rPr>
              <a:t>rotection against dedicated attacks</a:t>
            </a:r>
            <a:r>
              <a:rPr lang="ko" sz="1200">
                <a:solidFill>
                  <a:schemeClr val="dk1"/>
                </a:solidFill>
                <a:latin typeface="Noto Sans KR"/>
                <a:ea typeface="Noto Sans KR"/>
                <a:cs typeface="Noto Sans KR"/>
                <a:sym typeface="Noto Sans KR"/>
              </a:rPr>
              <a:t>.</a:t>
            </a:r>
            <a:endParaRPr sz="1000">
              <a:solidFill>
                <a:schemeClr val="dk1"/>
              </a:solidFill>
              <a:latin typeface="Noto Sans KR"/>
              <a:ea typeface="Noto Sans KR"/>
              <a:cs typeface="Noto Sans KR"/>
              <a:sym typeface="Noto Sans KR"/>
            </a:endParaRPr>
          </a:p>
          <a:p>
            <a:pPr indent="0" lvl="0" marL="0" rtl="0" algn="l">
              <a:lnSpc>
                <a:spcPct val="150000"/>
              </a:lnSpc>
              <a:spcBef>
                <a:spcPts val="0"/>
              </a:spcBef>
              <a:spcAft>
                <a:spcPts val="0"/>
              </a:spcAft>
              <a:buClr>
                <a:schemeClr val="dk1"/>
              </a:buClr>
              <a:buSzPts val="1100"/>
              <a:buFont typeface="Arial"/>
              <a:buNone/>
            </a:pPr>
            <a:r>
              <a:rPr b="1" lang="ko" sz="800">
                <a:solidFill>
                  <a:schemeClr val="dk1"/>
                </a:solidFill>
                <a:latin typeface="Noto Sans KR"/>
                <a:ea typeface="Noto Sans KR"/>
                <a:cs typeface="Noto Sans KR"/>
                <a:sym typeface="Noto Sans KR"/>
              </a:rPr>
              <a:t>*</a:t>
            </a:r>
            <a:r>
              <a:rPr b="1" i="1" lang="ko" sz="800">
                <a:solidFill>
                  <a:schemeClr val="dk1"/>
                </a:solidFill>
                <a:latin typeface="Noto Sans KR"/>
                <a:ea typeface="Noto Sans KR"/>
                <a:cs typeface="Noto Sans KR"/>
                <a:sym typeface="Noto Sans KR"/>
              </a:rPr>
              <a:t>r</a:t>
            </a:r>
            <a:r>
              <a:rPr b="1" lang="ko" sz="800">
                <a:solidFill>
                  <a:schemeClr val="dk1"/>
                </a:solidFill>
                <a:latin typeface="Noto Sans KR"/>
                <a:ea typeface="Noto Sans KR"/>
                <a:cs typeface="Noto Sans KR"/>
                <a:sym typeface="Noto Sans KR"/>
              </a:rPr>
              <a:t>:</a:t>
            </a:r>
            <a:r>
              <a:rPr lang="ko" sz="800">
                <a:solidFill>
                  <a:schemeClr val="dk1"/>
                </a:solidFill>
                <a:latin typeface="Noto Sans KR"/>
                <a:ea typeface="Noto Sans KR"/>
                <a:cs typeface="Noto Sans KR"/>
                <a:sym typeface="Noto Sans KR"/>
              </a:rPr>
              <a:t> high-dimensional feature residue, </a:t>
            </a:r>
            <a:r>
              <a:rPr b="1" i="1" lang="ko" sz="800">
                <a:solidFill>
                  <a:schemeClr val="dk1"/>
                </a:solidFill>
                <a:latin typeface="Noto Sans KR"/>
                <a:ea typeface="Noto Sans KR"/>
                <a:cs typeface="Noto Sans KR"/>
                <a:sym typeface="Noto Sans KR"/>
              </a:rPr>
              <a:t>r’</a:t>
            </a:r>
            <a:r>
              <a:rPr b="1" lang="ko" sz="800">
                <a:solidFill>
                  <a:schemeClr val="dk1"/>
                </a:solidFill>
                <a:latin typeface="Noto Sans KR"/>
                <a:ea typeface="Noto Sans KR"/>
                <a:cs typeface="Noto Sans KR"/>
                <a:sym typeface="Noto Sans KR"/>
              </a:rPr>
              <a:t>:</a:t>
            </a:r>
            <a:r>
              <a:rPr lang="ko" sz="800">
                <a:solidFill>
                  <a:schemeClr val="dk1"/>
                </a:solidFill>
                <a:latin typeface="Noto Sans KR"/>
                <a:ea typeface="Noto Sans KR"/>
                <a:cs typeface="Noto Sans KR"/>
                <a:sym typeface="Noto Sans KR"/>
              </a:rPr>
              <a:t> re-encoding of </a:t>
            </a:r>
            <a:r>
              <a:rPr i="1" lang="ko" sz="800">
                <a:solidFill>
                  <a:schemeClr val="dk1"/>
                </a:solidFill>
                <a:latin typeface="Noto Sans KR"/>
                <a:ea typeface="Noto Sans KR"/>
                <a:cs typeface="Noto Sans KR"/>
                <a:sym typeface="Noto Sans KR"/>
              </a:rPr>
              <a:t>r, </a:t>
            </a:r>
            <a:r>
              <a:rPr b="1" lang="ko" sz="800">
                <a:solidFill>
                  <a:schemeClr val="dk1"/>
                </a:solidFill>
                <a:latin typeface="Noto Sans KR"/>
                <a:ea typeface="Noto Sans KR"/>
                <a:cs typeface="Noto Sans KR"/>
                <a:sym typeface="Noto Sans KR"/>
              </a:rPr>
              <a:t>DCT</a:t>
            </a:r>
            <a:r>
              <a:rPr lang="ko" sz="800">
                <a:solidFill>
                  <a:schemeClr val="dk1"/>
                </a:solidFill>
                <a:latin typeface="Noto Sans KR"/>
                <a:ea typeface="Noto Sans KR"/>
                <a:cs typeface="Noto Sans KR"/>
                <a:sym typeface="Noto Sans KR"/>
              </a:rPr>
              <a:t>: Discrete Cosine Transform</a:t>
            </a:r>
            <a:endParaRPr sz="1100">
              <a:solidFill>
                <a:schemeClr val="dk1"/>
              </a:solidFill>
              <a:latin typeface="Noto Sans KR"/>
              <a:ea typeface="Noto Sans KR"/>
              <a:cs typeface="Noto Sans KR"/>
              <a:sym typeface="Noto Sans KR"/>
            </a:endParaRPr>
          </a:p>
        </p:txBody>
      </p:sp>
      <p:pic>
        <p:nvPicPr>
          <p:cNvPr id="426" name="Google Shape;426;p40"/>
          <p:cNvPicPr preferRelativeResize="0"/>
          <p:nvPr/>
        </p:nvPicPr>
        <p:blipFill rotWithShape="1">
          <a:blip r:embed="rId3">
            <a:alphaModFix/>
          </a:blip>
          <a:srcRect b="0" l="0" r="83576" t="0"/>
          <a:stretch/>
        </p:blipFill>
        <p:spPr>
          <a:xfrm>
            <a:off x="152400" y="908250"/>
            <a:ext cx="1451749" cy="2455775"/>
          </a:xfrm>
          <a:prstGeom prst="rect">
            <a:avLst/>
          </a:prstGeom>
          <a:noFill/>
          <a:ln>
            <a:noFill/>
          </a:ln>
        </p:spPr>
      </p:pic>
      <p:pic>
        <p:nvPicPr>
          <p:cNvPr id="427" name="Google Shape;427;p40"/>
          <p:cNvPicPr preferRelativeResize="0"/>
          <p:nvPr/>
        </p:nvPicPr>
        <p:blipFill rotWithShape="1">
          <a:blip r:embed="rId4">
            <a:alphaModFix/>
          </a:blip>
          <a:srcRect b="0" l="0" r="73042" t="0"/>
          <a:stretch/>
        </p:blipFill>
        <p:spPr>
          <a:xfrm>
            <a:off x="5528453" y="3445625"/>
            <a:ext cx="922151" cy="1633675"/>
          </a:xfrm>
          <a:prstGeom prst="rect">
            <a:avLst/>
          </a:prstGeom>
          <a:noFill/>
          <a:ln>
            <a:noFill/>
          </a:ln>
        </p:spPr>
      </p:pic>
      <p:pic>
        <p:nvPicPr>
          <p:cNvPr id="428" name="Google Shape;428;p40"/>
          <p:cNvPicPr preferRelativeResize="0"/>
          <p:nvPr/>
        </p:nvPicPr>
        <p:blipFill rotWithShape="1">
          <a:blip r:embed="rId3">
            <a:alphaModFix/>
          </a:blip>
          <a:srcRect b="0" l="16528" r="72046" t="0"/>
          <a:stretch/>
        </p:blipFill>
        <p:spPr>
          <a:xfrm>
            <a:off x="1604150" y="939525"/>
            <a:ext cx="1010025" cy="2455775"/>
          </a:xfrm>
          <a:prstGeom prst="rect">
            <a:avLst/>
          </a:prstGeom>
          <a:noFill/>
          <a:ln>
            <a:noFill/>
          </a:ln>
        </p:spPr>
      </p:pic>
      <p:pic>
        <p:nvPicPr>
          <p:cNvPr id="429" name="Google Shape;429;p40"/>
          <p:cNvPicPr preferRelativeResize="0"/>
          <p:nvPr/>
        </p:nvPicPr>
        <p:blipFill rotWithShape="1">
          <a:blip r:embed="rId3">
            <a:alphaModFix/>
          </a:blip>
          <a:srcRect b="0" l="88573" r="0" t="0"/>
          <a:stretch/>
        </p:blipFill>
        <p:spPr>
          <a:xfrm>
            <a:off x="7683475" y="939525"/>
            <a:ext cx="1010025" cy="2455775"/>
          </a:xfrm>
          <a:prstGeom prst="rect">
            <a:avLst/>
          </a:prstGeom>
          <a:noFill/>
          <a:ln>
            <a:noFill/>
          </a:ln>
        </p:spPr>
      </p:pic>
      <p:pic>
        <p:nvPicPr>
          <p:cNvPr id="430" name="Google Shape;430;p40"/>
          <p:cNvPicPr preferRelativeResize="0"/>
          <p:nvPr/>
        </p:nvPicPr>
        <p:blipFill rotWithShape="1">
          <a:blip r:embed="rId3">
            <a:alphaModFix/>
          </a:blip>
          <a:srcRect b="0" l="28230" r="59563" t="0"/>
          <a:stretch/>
        </p:blipFill>
        <p:spPr>
          <a:xfrm>
            <a:off x="2614175" y="939525"/>
            <a:ext cx="1079049" cy="2455775"/>
          </a:xfrm>
          <a:prstGeom prst="rect">
            <a:avLst/>
          </a:prstGeom>
          <a:noFill/>
          <a:ln>
            <a:noFill/>
          </a:ln>
        </p:spPr>
      </p:pic>
      <p:pic>
        <p:nvPicPr>
          <p:cNvPr id="431" name="Google Shape;431;p40"/>
          <p:cNvPicPr preferRelativeResize="0"/>
          <p:nvPr/>
        </p:nvPicPr>
        <p:blipFill rotWithShape="1">
          <a:blip r:embed="rId3">
            <a:alphaModFix/>
          </a:blip>
          <a:srcRect b="0" l="40241" r="47551" t="0"/>
          <a:stretch/>
        </p:blipFill>
        <p:spPr>
          <a:xfrm>
            <a:off x="3624225" y="939525"/>
            <a:ext cx="1079049" cy="2455775"/>
          </a:xfrm>
          <a:prstGeom prst="rect">
            <a:avLst/>
          </a:prstGeom>
          <a:noFill/>
          <a:ln>
            <a:noFill/>
          </a:ln>
        </p:spPr>
      </p:pic>
      <p:pic>
        <p:nvPicPr>
          <p:cNvPr id="432" name="Google Shape;432;p40"/>
          <p:cNvPicPr preferRelativeResize="0"/>
          <p:nvPr/>
        </p:nvPicPr>
        <p:blipFill rotWithShape="1">
          <a:blip r:embed="rId3">
            <a:alphaModFix/>
          </a:blip>
          <a:srcRect b="0" l="52433" r="36140" t="0"/>
          <a:stretch/>
        </p:blipFill>
        <p:spPr>
          <a:xfrm>
            <a:off x="4643825" y="939525"/>
            <a:ext cx="1010025" cy="2455775"/>
          </a:xfrm>
          <a:prstGeom prst="rect">
            <a:avLst/>
          </a:prstGeom>
          <a:noFill/>
          <a:ln>
            <a:noFill/>
          </a:ln>
        </p:spPr>
      </p:pic>
      <p:pic>
        <p:nvPicPr>
          <p:cNvPr id="433" name="Google Shape;433;p40"/>
          <p:cNvPicPr preferRelativeResize="0"/>
          <p:nvPr/>
        </p:nvPicPr>
        <p:blipFill rotWithShape="1">
          <a:blip r:embed="rId3">
            <a:alphaModFix/>
          </a:blip>
          <a:srcRect b="0" l="64344" r="23449" t="0"/>
          <a:stretch/>
        </p:blipFill>
        <p:spPr>
          <a:xfrm>
            <a:off x="5653850" y="939525"/>
            <a:ext cx="1079049" cy="2455775"/>
          </a:xfrm>
          <a:prstGeom prst="rect">
            <a:avLst/>
          </a:prstGeom>
          <a:noFill/>
          <a:ln>
            <a:noFill/>
          </a:ln>
        </p:spPr>
      </p:pic>
      <p:pic>
        <p:nvPicPr>
          <p:cNvPr id="434" name="Google Shape;434;p40"/>
          <p:cNvPicPr preferRelativeResize="0"/>
          <p:nvPr/>
        </p:nvPicPr>
        <p:blipFill rotWithShape="1">
          <a:blip r:embed="rId3">
            <a:alphaModFix/>
          </a:blip>
          <a:srcRect b="0" l="76443" r="11349" t="0"/>
          <a:stretch/>
        </p:blipFill>
        <p:spPr>
          <a:xfrm>
            <a:off x="6663925" y="939525"/>
            <a:ext cx="1079049" cy="2455775"/>
          </a:xfrm>
          <a:prstGeom prst="rect">
            <a:avLst/>
          </a:prstGeom>
          <a:noFill/>
          <a:ln>
            <a:noFill/>
          </a:ln>
        </p:spPr>
      </p:pic>
      <p:pic>
        <p:nvPicPr>
          <p:cNvPr id="435" name="Google Shape;435;p40"/>
          <p:cNvPicPr preferRelativeResize="0"/>
          <p:nvPr/>
        </p:nvPicPr>
        <p:blipFill rotWithShape="1">
          <a:blip r:embed="rId4">
            <a:alphaModFix/>
          </a:blip>
          <a:srcRect b="0" l="74112" r="0" t="0"/>
          <a:stretch/>
        </p:blipFill>
        <p:spPr>
          <a:xfrm>
            <a:off x="8020821" y="3445625"/>
            <a:ext cx="885550" cy="1633675"/>
          </a:xfrm>
          <a:prstGeom prst="rect">
            <a:avLst/>
          </a:prstGeom>
          <a:noFill/>
          <a:ln>
            <a:noFill/>
          </a:ln>
        </p:spPr>
      </p:pic>
      <p:pic>
        <p:nvPicPr>
          <p:cNvPr id="436" name="Google Shape;436;p40"/>
          <p:cNvPicPr preferRelativeResize="0"/>
          <p:nvPr/>
        </p:nvPicPr>
        <p:blipFill rotWithShape="1">
          <a:blip r:embed="rId4">
            <a:alphaModFix/>
          </a:blip>
          <a:srcRect b="0" l="27225" r="50442" t="0"/>
          <a:stretch/>
        </p:blipFill>
        <p:spPr>
          <a:xfrm>
            <a:off x="6450599" y="3445625"/>
            <a:ext cx="763901" cy="1633675"/>
          </a:xfrm>
          <a:prstGeom prst="rect">
            <a:avLst/>
          </a:prstGeom>
          <a:noFill/>
          <a:ln>
            <a:noFill/>
          </a:ln>
        </p:spPr>
      </p:pic>
      <p:pic>
        <p:nvPicPr>
          <p:cNvPr id="437" name="Google Shape;437;p40"/>
          <p:cNvPicPr preferRelativeResize="0"/>
          <p:nvPr/>
        </p:nvPicPr>
        <p:blipFill rotWithShape="1">
          <a:blip r:embed="rId4">
            <a:alphaModFix/>
          </a:blip>
          <a:srcRect b="0" l="49063" r="27365" t="0"/>
          <a:stretch/>
        </p:blipFill>
        <p:spPr>
          <a:xfrm>
            <a:off x="7214500" y="3445625"/>
            <a:ext cx="806325" cy="1633675"/>
          </a:xfrm>
          <a:prstGeom prst="rect">
            <a:avLst/>
          </a:prstGeom>
          <a:noFill/>
          <a:ln>
            <a:noFill/>
          </a:ln>
        </p:spPr>
      </p:pic>
      <p:sp>
        <p:nvSpPr>
          <p:cNvPr id="438" name="Google Shape;438;p40"/>
          <p:cNvSpPr txBox="1"/>
          <p:nvPr/>
        </p:nvSpPr>
        <p:spPr>
          <a:xfrm>
            <a:off x="795550" y="4572125"/>
            <a:ext cx="4716300" cy="569400"/>
          </a:xfrm>
          <a:prstGeom prst="rect">
            <a:avLst/>
          </a:prstGeom>
          <a:solidFill>
            <a:srgbClr val="2E9E6A"/>
          </a:solid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ko" sz="1000">
                <a:solidFill>
                  <a:schemeClr val="lt1"/>
                </a:solidFill>
                <a:latin typeface="Noto Sans KR"/>
                <a:ea typeface="Noto Sans KR"/>
                <a:cs typeface="Noto Sans KR"/>
                <a:sym typeface="Noto Sans KR"/>
              </a:rPr>
              <a:t>If attacker understands MinusFace's full algorithm, they cannot invert the high-dimensional feature channels (192) or guess the random shuffling seed.</a:t>
            </a:r>
            <a:endParaRPr sz="1100">
              <a:solidFill>
                <a:schemeClr val="lt1"/>
              </a:solidFill>
              <a:latin typeface="Noto Sans KR"/>
              <a:ea typeface="Noto Sans KR"/>
              <a:cs typeface="Noto Sans KR"/>
              <a:sym typeface="Noto Sans KR"/>
            </a:endParaRPr>
          </a:p>
        </p:txBody>
      </p:sp>
      <p:sp>
        <p:nvSpPr>
          <p:cNvPr id="439" name="Google Shape;439;p4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transition spd="med">
    <p:push/>
  </p:transition>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6"/>
                                        </p:tgtEl>
                                        <p:attrNameLst>
                                          <p:attrName>style.visibility</p:attrName>
                                        </p:attrNameLst>
                                      </p:cBhvr>
                                      <p:to>
                                        <p:strVal val="visible"/>
                                      </p:to>
                                    </p:set>
                                    <p:anim calcmode="lin" valueType="num">
                                      <p:cBhvr additive="base">
                                        <p:cTn dur="1000"/>
                                        <p:tgtEl>
                                          <p:spTgt spid="426"/>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8"/>
                                        </p:tgtEl>
                                        <p:attrNameLst>
                                          <p:attrName>style.visibility</p:attrName>
                                        </p:attrNameLst>
                                      </p:cBhvr>
                                      <p:to>
                                        <p:strVal val="visible"/>
                                      </p:to>
                                    </p:set>
                                    <p:anim calcmode="lin" valueType="num">
                                      <p:cBhvr additive="base">
                                        <p:cTn dur="1000"/>
                                        <p:tgtEl>
                                          <p:spTgt spid="42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0"/>
                                        </p:tgtEl>
                                        <p:attrNameLst>
                                          <p:attrName>style.visibility</p:attrName>
                                        </p:attrNameLst>
                                      </p:cBhvr>
                                      <p:to>
                                        <p:strVal val="visible"/>
                                      </p:to>
                                    </p:set>
                                    <p:anim calcmode="lin" valueType="num">
                                      <p:cBhvr additive="base">
                                        <p:cTn dur="1000"/>
                                        <p:tgtEl>
                                          <p:spTgt spid="430"/>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1"/>
                                        </p:tgtEl>
                                        <p:attrNameLst>
                                          <p:attrName>style.visibility</p:attrName>
                                        </p:attrNameLst>
                                      </p:cBhvr>
                                      <p:to>
                                        <p:strVal val="visible"/>
                                      </p:to>
                                    </p:set>
                                    <p:anim calcmode="lin" valueType="num">
                                      <p:cBhvr additive="base">
                                        <p:cTn dur="1000"/>
                                        <p:tgtEl>
                                          <p:spTgt spid="431"/>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2"/>
                                        </p:tgtEl>
                                        <p:attrNameLst>
                                          <p:attrName>style.visibility</p:attrName>
                                        </p:attrNameLst>
                                      </p:cBhvr>
                                      <p:to>
                                        <p:strVal val="visible"/>
                                      </p:to>
                                    </p:set>
                                    <p:anim calcmode="lin" valueType="num">
                                      <p:cBhvr additive="base">
                                        <p:cTn dur="1000"/>
                                        <p:tgtEl>
                                          <p:spTgt spid="432"/>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3"/>
                                        </p:tgtEl>
                                        <p:attrNameLst>
                                          <p:attrName>style.visibility</p:attrName>
                                        </p:attrNameLst>
                                      </p:cBhvr>
                                      <p:to>
                                        <p:strVal val="visible"/>
                                      </p:to>
                                    </p:set>
                                    <p:anim calcmode="lin" valueType="num">
                                      <p:cBhvr additive="base">
                                        <p:cTn dur="1000"/>
                                        <p:tgtEl>
                                          <p:spTgt spid="433"/>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34"/>
                                        </p:tgtEl>
                                        <p:attrNameLst>
                                          <p:attrName>style.visibility</p:attrName>
                                        </p:attrNameLst>
                                      </p:cBhvr>
                                      <p:to>
                                        <p:strVal val="visible"/>
                                      </p:to>
                                    </p:set>
                                    <p:anim calcmode="lin" valueType="num">
                                      <p:cBhvr additive="base">
                                        <p:cTn dur="1000"/>
                                        <p:tgtEl>
                                          <p:spTgt spid="434"/>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29"/>
                                        </p:tgtEl>
                                        <p:attrNameLst>
                                          <p:attrName>style.visibility</p:attrName>
                                        </p:attrNameLst>
                                      </p:cBhvr>
                                      <p:to>
                                        <p:strVal val="visible"/>
                                      </p:to>
                                    </p:set>
                                    <p:anim calcmode="lin" valueType="num">
                                      <p:cBhvr additive="base">
                                        <p:cTn dur="1000"/>
                                        <p:tgtEl>
                                          <p:spTgt spid="429"/>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5"/>
                                        </p:tgtEl>
                                        <p:attrNameLst>
                                          <p:attrName>style.visibility</p:attrName>
                                        </p:attrNameLst>
                                      </p:cBhvr>
                                      <p:to>
                                        <p:strVal val="visible"/>
                                      </p:to>
                                    </p:set>
                                    <p:anim calcmode="lin" valueType="num">
                                      <p:cBhvr additive="base">
                                        <p:cTn dur="1000"/>
                                        <p:tgtEl>
                                          <p:spTgt spid="42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27"/>
                                        </p:tgtEl>
                                        <p:attrNameLst>
                                          <p:attrName>style.visibility</p:attrName>
                                        </p:attrNameLst>
                                      </p:cBhvr>
                                      <p:to>
                                        <p:strVal val="visible"/>
                                      </p:to>
                                    </p:set>
                                    <p:anim calcmode="lin" valueType="num">
                                      <p:cBhvr additive="base">
                                        <p:cTn dur="1000"/>
                                        <p:tgtEl>
                                          <p:spTgt spid="42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6"/>
                                        </p:tgtEl>
                                        <p:attrNameLst>
                                          <p:attrName>style.visibility</p:attrName>
                                        </p:attrNameLst>
                                      </p:cBhvr>
                                      <p:to>
                                        <p:strVal val="visible"/>
                                      </p:to>
                                    </p:set>
                                    <p:anim calcmode="lin" valueType="num">
                                      <p:cBhvr additive="base">
                                        <p:cTn dur="1000"/>
                                        <p:tgtEl>
                                          <p:spTgt spid="436"/>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7"/>
                                        </p:tgtEl>
                                        <p:attrNameLst>
                                          <p:attrName>style.visibility</p:attrName>
                                        </p:attrNameLst>
                                      </p:cBhvr>
                                      <p:to>
                                        <p:strVal val="visible"/>
                                      </p:to>
                                    </p:set>
                                    <p:anim calcmode="lin" valueType="num">
                                      <p:cBhvr additive="base">
                                        <p:cTn dur="1000"/>
                                        <p:tgtEl>
                                          <p:spTgt spid="437"/>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5"/>
                                        </p:tgtEl>
                                        <p:attrNameLst>
                                          <p:attrName>style.visibility</p:attrName>
                                        </p:attrNameLst>
                                      </p:cBhvr>
                                      <p:to>
                                        <p:strVal val="visible"/>
                                      </p:to>
                                    </p:set>
                                    <p:anim calcmode="lin" valueType="num">
                                      <p:cBhvr additive="base">
                                        <p:cTn dur="1000"/>
                                        <p:tgtEl>
                                          <p:spTgt spid="435"/>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4">
                                  <p:stCondLst>
                                    <p:cond delay="0"/>
                                  </p:stCondLst>
                                  <p:childTnLst>
                                    <p:set>
                                      <p:cBhvr>
                                        <p:cTn dur="1" fill="hold">
                                          <p:stCondLst>
                                            <p:cond delay="0"/>
                                          </p:stCondLst>
                                        </p:cTn>
                                        <p:tgtEl>
                                          <p:spTgt spid="438"/>
                                        </p:tgtEl>
                                        <p:attrNameLst>
                                          <p:attrName>style.visibility</p:attrName>
                                        </p:attrNameLst>
                                      </p:cBhvr>
                                      <p:to>
                                        <p:strVal val="visible"/>
                                      </p:to>
                                    </p:set>
                                    <p:anim calcmode="lin" valueType="num">
                                      <p:cBhvr additive="base">
                                        <p:cTn dur="1000"/>
                                        <p:tgtEl>
                                          <p:spTgt spid="438"/>
                                        </p:tgtEl>
                                        <p:attrNameLst>
                                          <p:attrName>ppt_y</p:attrName>
                                        </p:attrNameLst>
                                      </p:cBhvr>
                                      <p:tavLst>
                                        <p:tav fmla="" tm="0">
                                          <p:val>
                                            <p:strVal val="#ppt_y+1"/>
                                          </p:val>
                                        </p:tav>
                                        <p:tav fmla="" tm="100000">
                                          <p:val>
                                            <p:strVal val="#ppt_y"/>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41"/>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45" name="Google Shape;445;p41"/>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3000">
                <a:solidFill>
                  <a:schemeClr val="dk1"/>
                </a:solidFill>
                <a:latin typeface="Noto Sans KR"/>
                <a:ea typeface="Noto Sans KR"/>
                <a:cs typeface="Noto Sans KR"/>
                <a:sym typeface="Noto Sans KR"/>
              </a:rPr>
              <a:t>Ablation Study</a:t>
            </a:r>
            <a:endParaRPr b="1" sz="3000">
              <a:solidFill>
                <a:schemeClr val="dk1"/>
              </a:solidFill>
              <a:latin typeface="Noto Sans KR"/>
              <a:ea typeface="Noto Sans KR"/>
              <a:cs typeface="Noto Sans KR"/>
              <a:sym typeface="Noto Sans KR"/>
            </a:endParaRPr>
          </a:p>
        </p:txBody>
      </p:sp>
      <p:sp>
        <p:nvSpPr>
          <p:cNvPr id="446" name="Google Shape;446;p41"/>
          <p:cNvSpPr txBox="1"/>
          <p:nvPr/>
        </p:nvSpPr>
        <p:spPr>
          <a:xfrm>
            <a:off x="194841" y="1057241"/>
            <a:ext cx="4831800" cy="4311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1600">
                <a:solidFill>
                  <a:schemeClr val="dk1"/>
                </a:solidFill>
                <a:latin typeface="Noto Sans KR"/>
                <a:ea typeface="Noto Sans KR"/>
                <a:cs typeface="Noto Sans KR"/>
                <a:sym typeface="Noto Sans KR"/>
              </a:rPr>
              <a:t>Why Is MinusFace Considered Better?</a:t>
            </a:r>
            <a:endParaRPr b="1" sz="1600">
              <a:solidFill>
                <a:schemeClr val="dk1"/>
              </a:solidFill>
              <a:latin typeface="Noto Sans KR"/>
              <a:ea typeface="Noto Sans KR"/>
              <a:cs typeface="Noto Sans KR"/>
              <a:sym typeface="Noto Sans KR"/>
            </a:endParaRPr>
          </a:p>
        </p:txBody>
      </p:sp>
      <p:sp>
        <p:nvSpPr>
          <p:cNvPr id="447" name="Google Shape;447;p41"/>
          <p:cNvSpPr txBox="1"/>
          <p:nvPr/>
        </p:nvSpPr>
        <p:spPr>
          <a:xfrm>
            <a:off x="241850" y="1487375"/>
            <a:ext cx="4413600" cy="6849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lang="ko" sz="1300">
                <a:solidFill>
                  <a:schemeClr val="dk1"/>
                </a:solidFill>
                <a:latin typeface="Noto Sans KR"/>
                <a:ea typeface="Noto Sans KR"/>
                <a:cs typeface="Noto Sans KR"/>
                <a:sym typeface="Noto Sans KR"/>
              </a:rPr>
              <a:t>MinusFace achieves similar face verification accuracy as SOTA models, </a:t>
            </a:r>
            <a:r>
              <a:rPr lang="ko" sz="1300">
                <a:solidFill>
                  <a:srgbClr val="FF0000"/>
                </a:solidFill>
                <a:latin typeface="Noto Sans KR"/>
                <a:ea typeface="Noto Sans KR"/>
                <a:cs typeface="Noto Sans KR"/>
                <a:sym typeface="Noto Sans KR"/>
              </a:rPr>
              <a:t>even low</a:t>
            </a:r>
            <a:r>
              <a:rPr lang="ko" sz="1300">
                <a:solidFill>
                  <a:schemeClr val="dk1"/>
                </a:solidFill>
                <a:latin typeface="Noto Sans KR"/>
                <a:ea typeface="Noto Sans KR"/>
                <a:cs typeface="Noto Sans KR"/>
                <a:sym typeface="Noto Sans KR"/>
              </a:rPr>
              <a:t>.</a:t>
            </a:r>
            <a:endParaRPr sz="1300">
              <a:solidFill>
                <a:schemeClr val="dk1"/>
              </a:solidFill>
              <a:latin typeface="Noto Sans KR"/>
              <a:ea typeface="Noto Sans KR"/>
              <a:cs typeface="Noto Sans KR"/>
              <a:sym typeface="Noto Sans KR"/>
            </a:endParaRPr>
          </a:p>
        </p:txBody>
      </p:sp>
      <p:sp>
        <p:nvSpPr>
          <p:cNvPr id="448" name="Google Shape;448;p41"/>
          <p:cNvSpPr txBox="1"/>
          <p:nvPr/>
        </p:nvSpPr>
        <p:spPr>
          <a:xfrm>
            <a:off x="4699800" y="2602400"/>
            <a:ext cx="43683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1200">
                <a:solidFill>
                  <a:schemeClr val="dk1"/>
                </a:solidFill>
                <a:latin typeface="Noto Sans KR"/>
                <a:ea typeface="Noto Sans KR"/>
                <a:cs typeface="Noto Sans KR"/>
                <a:sym typeface="Noto Sans KR"/>
              </a:rPr>
              <a:t>Table</a:t>
            </a:r>
            <a:r>
              <a:rPr lang="ko" sz="1200">
                <a:solidFill>
                  <a:schemeClr val="dk1"/>
                </a:solidFill>
                <a:latin typeface="Noto Sans KR"/>
                <a:ea typeface="Noto Sans KR"/>
                <a:cs typeface="Noto Sans KR"/>
                <a:sym typeface="Noto Sans KR"/>
              </a:rPr>
              <a:t>: </a:t>
            </a:r>
            <a:r>
              <a:rPr lang="ko" sz="1200">
                <a:solidFill>
                  <a:schemeClr val="dk1"/>
                </a:solidFill>
                <a:latin typeface="Noto Sans KR"/>
                <a:ea typeface="Noto Sans KR"/>
                <a:cs typeface="Noto Sans KR"/>
                <a:sym typeface="Noto Sans KR"/>
              </a:rPr>
              <a:t>Accuracy of models trained alternatively on r and  R'</a:t>
            </a:r>
            <a:r>
              <a:rPr lang="ko" sz="1200">
                <a:solidFill>
                  <a:schemeClr val="dk1"/>
                </a:solidFill>
                <a:latin typeface="Noto Sans KR"/>
                <a:ea typeface="Noto Sans KR"/>
                <a:cs typeface="Noto Sans KR"/>
                <a:sym typeface="Noto Sans KR"/>
              </a:rPr>
              <a:t>.</a:t>
            </a:r>
            <a:endParaRPr sz="1200">
              <a:solidFill>
                <a:schemeClr val="dk1"/>
              </a:solidFill>
              <a:latin typeface="Noto Sans KR"/>
              <a:ea typeface="Noto Sans KR"/>
              <a:cs typeface="Noto Sans KR"/>
              <a:sym typeface="Noto Sans KR"/>
            </a:endParaRPr>
          </a:p>
        </p:txBody>
      </p:sp>
      <p:pic>
        <p:nvPicPr>
          <p:cNvPr id="449" name="Google Shape;449;p41"/>
          <p:cNvPicPr preferRelativeResize="0"/>
          <p:nvPr/>
        </p:nvPicPr>
        <p:blipFill>
          <a:blip r:embed="rId3">
            <a:alphaModFix/>
          </a:blip>
          <a:stretch>
            <a:fillRect/>
          </a:stretch>
        </p:blipFill>
        <p:spPr>
          <a:xfrm>
            <a:off x="4798198" y="1057250"/>
            <a:ext cx="4150953" cy="1545150"/>
          </a:xfrm>
          <a:prstGeom prst="rect">
            <a:avLst/>
          </a:prstGeom>
          <a:noFill/>
          <a:ln>
            <a:noFill/>
          </a:ln>
        </p:spPr>
      </p:pic>
      <p:pic>
        <p:nvPicPr>
          <p:cNvPr id="450" name="Google Shape;450;p41"/>
          <p:cNvPicPr preferRelativeResize="0"/>
          <p:nvPr/>
        </p:nvPicPr>
        <p:blipFill>
          <a:blip r:embed="rId4">
            <a:alphaModFix/>
          </a:blip>
          <a:stretch>
            <a:fillRect/>
          </a:stretch>
        </p:blipFill>
        <p:spPr>
          <a:xfrm>
            <a:off x="4668374" y="3444750"/>
            <a:ext cx="4282974" cy="718775"/>
          </a:xfrm>
          <a:prstGeom prst="rect">
            <a:avLst/>
          </a:prstGeom>
          <a:noFill/>
          <a:ln>
            <a:noFill/>
          </a:ln>
        </p:spPr>
      </p:pic>
      <p:sp>
        <p:nvSpPr>
          <p:cNvPr id="451" name="Google Shape;451;p41"/>
          <p:cNvSpPr txBox="1"/>
          <p:nvPr/>
        </p:nvSpPr>
        <p:spPr>
          <a:xfrm>
            <a:off x="4699800" y="4181700"/>
            <a:ext cx="4368300" cy="3693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1200">
                <a:solidFill>
                  <a:schemeClr val="dk1"/>
                </a:solidFill>
                <a:latin typeface="Noto Sans KR"/>
                <a:ea typeface="Noto Sans KR"/>
                <a:cs typeface="Noto Sans KR"/>
                <a:sym typeface="Noto Sans KR"/>
              </a:rPr>
              <a:t>Table</a:t>
            </a:r>
            <a:r>
              <a:rPr lang="ko" sz="1200">
                <a:solidFill>
                  <a:schemeClr val="dk1"/>
                </a:solidFill>
                <a:latin typeface="Noto Sans KR"/>
                <a:ea typeface="Noto Sans KR"/>
                <a:cs typeface="Noto Sans KR"/>
                <a:sym typeface="Noto Sans KR"/>
              </a:rPr>
              <a:t>: </a:t>
            </a:r>
            <a:r>
              <a:rPr lang="ko" sz="1200">
                <a:solidFill>
                  <a:schemeClr val="dk1"/>
                </a:solidFill>
                <a:latin typeface="Noto Sans KR"/>
                <a:ea typeface="Noto Sans KR"/>
                <a:cs typeface="Noto Sans KR"/>
                <a:sym typeface="Noto Sans KR"/>
              </a:rPr>
              <a:t>Comparison of storage and transmission cost</a:t>
            </a:r>
            <a:r>
              <a:rPr lang="ko" sz="1200">
                <a:solidFill>
                  <a:schemeClr val="dk1"/>
                </a:solidFill>
                <a:latin typeface="Noto Sans KR"/>
                <a:ea typeface="Noto Sans KR"/>
                <a:cs typeface="Noto Sans KR"/>
                <a:sym typeface="Noto Sans KR"/>
              </a:rPr>
              <a:t>.</a:t>
            </a:r>
            <a:endParaRPr sz="1200">
              <a:solidFill>
                <a:schemeClr val="dk1"/>
              </a:solidFill>
              <a:latin typeface="Noto Sans KR"/>
              <a:ea typeface="Noto Sans KR"/>
              <a:cs typeface="Noto Sans KR"/>
              <a:sym typeface="Noto Sans KR"/>
            </a:endParaRPr>
          </a:p>
        </p:txBody>
      </p:sp>
      <p:sp>
        <p:nvSpPr>
          <p:cNvPr id="452" name="Google Shape;452;p41"/>
          <p:cNvSpPr/>
          <p:nvPr/>
        </p:nvSpPr>
        <p:spPr>
          <a:xfrm>
            <a:off x="4902900" y="1526650"/>
            <a:ext cx="3813900" cy="2217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t/>
            </a:r>
            <a:endParaRPr sz="1500"/>
          </a:p>
        </p:txBody>
      </p:sp>
      <p:sp>
        <p:nvSpPr>
          <p:cNvPr id="453" name="Google Shape;453;p41"/>
          <p:cNvSpPr/>
          <p:nvPr/>
        </p:nvSpPr>
        <p:spPr>
          <a:xfrm>
            <a:off x="3097250" y="1926225"/>
            <a:ext cx="1734600" cy="481500"/>
          </a:xfrm>
          <a:prstGeom prst="rect">
            <a:avLst/>
          </a:prstGeom>
          <a:noFill/>
          <a:ln cap="flat" cmpd="sng" w="952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ko" sz="1000">
                <a:solidFill>
                  <a:srgbClr val="FF0000"/>
                </a:solidFill>
              </a:rPr>
              <a:t>Not a Privacy-Preserving Face Recognition</a:t>
            </a:r>
            <a:endParaRPr b="1" sz="1000">
              <a:solidFill>
                <a:srgbClr val="FF0000"/>
              </a:solidFill>
            </a:endParaRPr>
          </a:p>
        </p:txBody>
      </p:sp>
      <p:cxnSp>
        <p:nvCxnSpPr>
          <p:cNvPr id="454" name="Google Shape;454;p41"/>
          <p:cNvCxnSpPr>
            <a:stCxn id="452" idx="1"/>
          </p:cNvCxnSpPr>
          <p:nvPr/>
        </p:nvCxnSpPr>
        <p:spPr>
          <a:xfrm flipH="1">
            <a:off x="4795500" y="1637500"/>
            <a:ext cx="107400" cy="289200"/>
          </a:xfrm>
          <a:prstGeom prst="straightConnector1">
            <a:avLst/>
          </a:prstGeom>
          <a:noFill/>
          <a:ln cap="flat" cmpd="sng" w="9525">
            <a:solidFill>
              <a:srgbClr val="FF0000"/>
            </a:solidFill>
            <a:prstDash val="solid"/>
            <a:round/>
            <a:headEnd len="med" w="med" type="none"/>
            <a:tailEnd len="med" w="med" type="none"/>
          </a:ln>
        </p:spPr>
      </p:cxnSp>
      <p:sp>
        <p:nvSpPr>
          <p:cNvPr id="455" name="Google Shape;455;p41"/>
          <p:cNvSpPr txBox="1"/>
          <p:nvPr/>
        </p:nvSpPr>
        <p:spPr>
          <a:xfrm>
            <a:off x="241854" y="2172284"/>
            <a:ext cx="4831800" cy="1585500"/>
          </a:xfrm>
          <a:prstGeom prst="rect">
            <a:avLst/>
          </a:prstGeom>
          <a:noFill/>
          <a:ln>
            <a:noFill/>
          </a:ln>
        </p:spPr>
        <p:txBody>
          <a:bodyPr anchorCtr="0" anchor="t" bIns="91425" lIns="91425" spcFirstLastPara="1" rIns="91425" wrap="square" tIns="91425">
            <a:spAutoFit/>
          </a:bodyPr>
          <a:lstStyle/>
          <a:p>
            <a:pPr indent="0" lvl="0" marL="457200" rtl="0" algn="l">
              <a:lnSpc>
                <a:spcPct val="150000"/>
              </a:lnSpc>
              <a:spcBef>
                <a:spcPts val="0"/>
              </a:spcBef>
              <a:spcAft>
                <a:spcPts val="0"/>
              </a:spcAft>
              <a:buNone/>
            </a:pPr>
            <a:r>
              <a:t/>
            </a:r>
            <a:endParaRPr sz="1300">
              <a:solidFill>
                <a:schemeClr val="dk1"/>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300">
                <a:solidFill>
                  <a:srgbClr val="2E9E6A"/>
                </a:solidFill>
                <a:latin typeface="Noto Sans KR"/>
                <a:ea typeface="Noto Sans KR"/>
                <a:cs typeface="Noto Sans KR"/>
                <a:sym typeface="Noto Sans KR"/>
              </a:rPr>
              <a:t>Claims</a:t>
            </a:r>
            <a:r>
              <a:rPr b="1" lang="ko" sz="1300">
                <a:solidFill>
                  <a:srgbClr val="2E9E6A"/>
                </a:solidFill>
                <a:latin typeface="Noto Sans KR"/>
                <a:ea typeface="Noto Sans KR"/>
                <a:cs typeface="Noto Sans KR"/>
                <a:sym typeface="Noto Sans KR"/>
              </a:rPr>
              <a:t>:</a:t>
            </a:r>
            <a:endParaRPr b="1" sz="1300">
              <a:solidFill>
                <a:srgbClr val="2E9E6A"/>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300">
                <a:solidFill>
                  <a:srgbClr val="2E9E6A"/>
                </a:solidFill>
                <a:latin typeface="Noto Sans KR"/>
                <a:ea typeface="Noto Sans KR"/>
                <a:cs typeface="Noto Sans KR"/>
                <a:sym typeface="Noto Sans KR"/>
              </a:rPr>
              <a:t>&gt;Completely </a:t>
            </a:r>
            <a:r>
              <a:rPr b="1" lang="ko" sz="1300" u="sng">
                <a:solidFill>
                  <a:srgbClr val="2E9E6A"/>
                </a:solidFill>
                <a:latin typeface="Noto Sans KR"/>
                <a:ea typeface="Noto Sans KR"/>
                <a:cs typeface="Noto Sans KR"/>
                <a:sym typeface="Noto Sans KR"/>
              </a:rPr>
              <a:t>D</a:t>
            </a:r>
            <a:r>
              <a:rPr b="1" lang="ko" sz="1300" u="sng">
                <a:solidFill>
                  <a:srgbClr val="2E9E6A"/>
                </a:solidFill>
                <a:latin typeface="Noto Sans KR"/>
                <a:ea typeface="Noto Sans KR"/>
                <a:cs typeface="Noto Sans KR"/>
                <a:sym typeface="Noto Sans KR"/>
              </a:rPr>
              <a:t>efeating Face Recovery Attacks</a:t>
            </a:r>
            <a:endParaRPr b="1" sz="1300" u="sng">
              <a:solidFill>
                <a:srgbClr val="2E9E6A"/>
              </a:solidFill>
              <a:latin typeface="Noto Sans KR"/>
              <a:ea typeface="Noto Sans KR"/>
              <a:cs typeface="Noto Sans KR"/>
              <a:sym typeface="Noto Sans KR"/>
            </a:endParaRPr>
          </a:p>
          <a:p>
            <a:pPr indent="0" lvl="0" marL="0" rtl="0" algn="l">
              <a:lnSpc>
                <a:spcPct val="150000"/>
              </a:lnSpc>
              <a:spcBef>
                <a:spcPts val="0"/>
              </a:spcBef>
              <a:spcAft>
                <a:spcPts val="0"/>
              </a:spcAft>
              <a:buNone/>
            </a:pPr>
            <a:r>
              <a:rPr b="1" lang="ko" sz="1300">
                <a:solidFill>
                  <a:srgbClr val="2E9E6A"/>
                </a:solidFill>
                <a:latin typeface="Noto Sans KR"/>
                <a:ea typeface="Noto Sans KR"/>
                <a:cs typeface="Noto Sans KR"/>
                <a:sym typeface="Noto Sans KR"/>
              </a:rPr>
              <a:t>&gt;Requiring up to 36× to 63× less </a:t>
            </a:r>
            <a:r>
              <a:rPr b="1" lang="ko" sz="1300" u="sng">
                <a:solidFill>
                  <a:srgbClr val="2E9E6A"/>
                </a:solidFill>
                <a:latin typeface="Noto Sans KR"/>
                <a:ea typeface="Noto Sans KR"/>
                <a:cs typeface="Noto Sans KR"/>
                <a:sym typeface="Noto Sans KR"/>
              </a:rPr>
              <a:t>Storage &amp; Bandwidth</a:t>
            </a:r>
            <a:r>
              <a:rPr b="1" lang="ko" sz="1300">
                <a:solidFill>
                  <a:srgbClr val="2E9E6A"/>
                </a:solidFill>
                <a:latin typeface="Noto Sans KR"/>
                <a:ea typeface="Noto Sans KR"/>
                <a:cs typeface="Noto Sans KR"/>
                <a:sym typeface="Noto Sans KR"/>
              </a:rPr>
              <a:t> than frequency methods</a:t>
            </a:r>
            <a:endParaRPr sz="1300">
              <a:solidFill>
                <a:srgbClr val="2E9E6A"/>
              </a:solidFill>
              <a:latin typeface="Noto Sans KR"/>
              <a:ea typeface="Noto Sans KR"/>
              <a:cs typeface="Noto Sans KR"/>
              <a:sym typeface="Noto Sans KR"/>
            </a:endParaRPr>
          </a:p>
        </p:txBody>
      </p:sp>
      <p:sp>
        <p:nvSpPr>
          <p:cNvPr id="456" name="Google Shape;456;p4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47"/>
                                        </p:tgtEl>
                                        <p:attrNameLst>
                                          <p:attrName>style.visibility</p:attrName>
                                        </p:attrNameLst>
                                      </p:cBhvr>
                                      <p:to>
                                        <p:strVal val="visible"/>
                                      </p:to>
                                    </p:set>
                                    <p:anim calcmode="lin" valueType="num">
                                      <p:cBhvr additive="base">
                                        <p:cTn dur="1000"/>
                                        <p:tgtEl>
                                          <p:spTgt spid="447"/>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2">
                                  <p:stCondLst>
                                    <p:cond delay="0"/>
                                  </p:stCondLst>
                                  <p:childTnLst>
                                    <p:set>
                                      <p:cBhvr>
                                        <p:cTn dur="1" fill="hold">
                                          <p:stCondLst>
                                            <p:cond delay="0"/>
                                          </p:stCondLst>
                                        </p:cTn>
                                        <p:tgtEl>
                                          <p:spTgt spid="455"/>
                                        </p:tgtEl>
                                        <p:attrNameLst>
                                          <p:attrName>style.visibility</p:attrName>
                                        </p:attrNameLst>
                                      </p:cBhvr>
                                      <p:to>
                                        <p:strVal val="visible"/>
                                      </p:to>
                                    </p:set>
                                    <p:anim calcmode="lin" valueType="num">
                                      <p:cBhvr additive="base">
                                        <p:cTn dur="1000"/>
                                        <p:tgtEl>
                                          <p:spTgt spid="455"/>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49"/>
                                        </p:tgtEl>
                                        <p:attrNameLst>
                                          <p:attrName>style.visibility</p:attrName>
                                        </p:attrNameLst>
                                      </p:cBhvr>
                                      <p:to>
                                        <p:strVal val="visible"/>
                                      </p:to>
                                    </p:set>
                                  </p:childTnLst>
                                </p:cTn>
                              </p:par>
                              <p:par>
                                <p:cTn fill="hold" nodeType="withEffect" presetClass="entr" presetID="2" presetSubtype="2">
                                  <p:stCondLst>
                                    <p:cond delay="0"/>
                                  </p:stCondLst>
                                  <p:childTnLst>
                                    <p:set>
                                      <p:cBhvr>
                                        <p:cTn dur="1" fill="hold">
                                          <p:stCondLst>
                                            <p:cond delay="0"/>
                                          </p:stCondLst>
                                        </p:cTn>
                                        <p:tgtEl>
                                          <p:spTgt spid="448"/>
                                        </p:tgtEl>
                                        <p:attrNameLst>
                                          <p:attrName>style.visibility</p:attrName>
                                        </p:attrNameLst>
                                      </p:cBhvr>
                                      <p:to>
                                        <p:strVal val="visible"/>
                                      </p:to>
                                    </p:set>
                                    <p:anim calcmode="lin" valueType="num">
                                      <p:cBhvr additive="base">
                                        <p:cTn dur="1000"/>
                                        <p:tgtEl>
                                          <p:spTgt spid="448"/>
                                        </p:tgtEl>
                                        <p:attrNameLst>
                                          <p:attrName>ppt_x</p:attrName>
                                        </p:attrNameLst>
                                      </p:cBhvr>
                                      <p:tavLst>
                                        <p:tav fmla="" tm="0">
                                          <p:val>
                                            <p:strVal val="#ppt_x+1"/>
                                          </p:val>
                                        </p:tav>
                                        <p:tav fmla="" tm="100000">
                                          <p:val>
                                            <p:strVal val="#ppt_x"/>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2" presetSubtype="1">
                                  <p:stCondLst>
                                    <p:cond delay="0"/>
                                  </p:stCondLst>
                                  <p:childTnLst>
                                    <p:set>
                                      <p:cBhvr>
                                        <p:cTn dur="1" fill="hold">
                                          <p:stCondLst>
                                            <p:cond delay="0"/>
                                          </p:stCondLst>
                                        </p:cTn>
                                        <p:tgtEl>
                                          <p:spTgt spid="453"/>
                                        </p:tgtEl>
                                        <p:attrNameLst>
                                          <p:attrName>style.visibility</p:attrName>
                                        </p:attrNameLst>
                                      </p:cBhvr>
                                      <p:to>
                                        <p:strVal val="visible"/>
                                      </p:to>
                                    </p:set>
                                    <p:anim calcmode="lin" valueType="num">
                                      <p:cBhvr additive="base">
                                        <p:cTn dur="1000"/>
                                        <p:tgtEl>
                                          <p:spTgt spid="453"/>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454"/>
                                        </p:tgtEl>
                                        <p:attrNameLst>
                                          <p:attrName>style.visibility</p:attrName>
                                        </p:attrNameLst>
                                      </p:cBhvr>
                                      <p:to>
                                        <p:strVal val="visible"/>
                                      </p:to>
                                    </p:set>
                                    <p:anim calcmode="lin" valueType="num">
                                      <p:cBhvr additive="base">
                                        <p:cTn dur="1000"/>
                                        <p:tgtEl>
                                          <p:spTgt spid="454"/>
                                        </p:tgtEl>
                                        <p:attrNameLst>
                                          <p:attrName>ppt_y</p:attrName>
                                        </p:attrNameLst>
                                      </p:cBhvr>
                                      <p:tavLst>
                                        <p:tav fmla="" tm="0">
                                          <p:val>
                                            <p:strVal val="#ppt_y-1"/>
                                          </p:val>
                                        </p:tav>
                                        <p:tav fmla="" tm="100000">
                                          <p:val>
                                            <p:strVal val="#ppt_y"/>
                                          </p:val>
                                        </p:tav>
                                      </p:tavLst>
                                    </p:anim>
                                  </p:childTnLst>
                                </p:cTn>
                              </p:par>
                              <p:par>
                                <p:cTn fill="hold" nodeType="withEffect" presetClass="entr" presetID="2" presetSubtype="1">
                                  <p:stCondLst>
                                    <p:cond delay="0"/>
                                  </p:stCondLst>
                                  <p:childTnLst>
                                    <p:set>
                                      <p:cBhvr>
                                        <p:cTn dur="1" fill="hold">
                                          <p:stCondLst>
                                            <p:cond delay="0"/>
                                          </p:stCondLst>
                                        </p:cTn>
                                        <p:tgtEl>
                                          <p:spTgt spid="452"/>
                                        </p:tgtEl>
                                        <p:attrNameLst>
                                          <p:attrName>style.visibility</p:attrName>
                                        </p:attrNameLst>
                                      </p:cBhvr>
                                      <p:to>
                                        <p:strVal val="visible"/>
                                      </p:to>
                                    </p:set>
                                    <p:anim calcmode="lin" valueType="num">
                                      <p:cBhvr additive="base">
                                        <p:cTn dur="1000"/>
                                        <p:tgtEl>
                                          <p:spTgt spid="452"/>
                                        </p:tgtEl>
                                        <p:attrNameLst>
                                          <p:attrName>ppt_y</p:attrName>
                                        </p:attrNameLst>
                                      </p:cBhvr>
                                      <p:tavLst>
                                        <p:tav fmla="" tm="0">
                                          <p:val>
                                            <p:strVal val="#ppt_y-1"/>
                                          </p:val>
                                        </p:tav>
                                        <p:tav fmla="" tm="100000">
                                          <p:val>
                                            <p:strVal val="#ppt_y"/>
                                          </p:val>
                                        </p:tav>
                                      </p:tavLst>
                                    </p:anim>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50"/>
                                        </p:tgtEl>
                                        <p:attrNameLst>
                                          <p:attrName>style.visibility</p:attrName>
                                        </p:attrNameLst>
                                      </p:cBhvr>
                                      <p:to>
                                        <p:strVal val="visible"/>
                                      </p:to>
                                    </p:set>
                                  </p:childTnLst>
                                </p:cTn>
                              </p:par>
                              <p:par>
                                <p:cTn fill="hold" nodeType="withEffect" presetClass="entr" presetID="2" presetSubtype="2">
                                  <p:stCondLst>
                                    <p:cond delay="0"/>
                                  </p:stCondLst>
                                  <p:childTnLst>
                                    <p:set>
                                      <p:cBhvr>
                                        <p:cTn dur="1" fill="hold">
                                          <p:stCondLst>
                                            <p:cond delay="0"/>
                                          </p:stCondLst>
                                        </p:cTn>
                                        <p:tgtEl>
                                          <p:spTgt spid="451"/>
                                        </p:tgtEl>
                                        <p:attrNameLst>
                                          <p:attrName>style.visibility</p:attrName>
                                        </p:attrNameLst>
                                      </p:cBhvr>
                                      <p:to>
                                        <p:strVal val="visible"/>
                                      </p:to>
                                    </p:set>
                                    <p:anim calcmode="lin" valueType="num">
                                      <p:cBhvr additive="base">
                                        <p:cTn dur="1000"/>
                                        <p:tgtEl>
                                          <p:spTgt spid="451"/>
                                        </p:tgtEl>
                                        <p:attrNameLst>
                                          <p:attrName>ppt_x</p:attrName>
                                        </p:attrNameLst>
                                      </p:cBhvr>
                                      <p:tavLst>
                                        <p:tav fmla="" tm="0">
                                          <p:val>
                                            <p:strVal val="#ppt_x+1"/>
                                          </p:val>
                                        </p:tav>
                                        <p:tav fmla="" tm="100000">
                                          <p:val>
                                            <p:strVal val="#ppt_x"/>
                                          </p:val>
                                        </p:tav>
                                      </p:tavLst>
                                    </p:anim>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60" name="Shape 460"/>
        <p:cNvGrpSpPr/>
        <p:nvPr/>
      </p:nvGrpSpPr>
      <p:grpSpPr>
        <a:xfrm>
          <a:off x="0" y="0"/>
          <a:ext cx="0" cy="0"/>
          <a:chOff x="0" y="0"/>
          <a:chExt cx="0" cy="0"/>
        </a:xfrm>
      </p:grpSpPr>
      <p:sp>
        <p:nvSpPr>
          <p:cNvPr id="461" name="Google Shape;461;p42"/>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62" name="Google Shape;462;p42"/>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3000">
                <a:solidFill>
                  <a:schemeClr val="dk1"/>
                </a:solidFill>
                <a:latin typeface="Noto Sans KR"/>
                <a:ea typeface="Noto Sans KR"/>
                <a:cs typeface="Noto Sans KR"/>
                <a:sym typeface="Noto Sans KR"/>
              </a:rPr>
              <a:t>Limitations</a:t>
            </a:r>
            <a:endParaRPr b="1" sz="3000">
              <a:solidFill>
                <a:schemeClr val="dk1"/>
              </a:solidFill>
              <a:latin typeface="Noto Sans KR"/>
              <a:ea typeface="Noto Sans KR"/>
              <a:cs typeface="Noto Sans KR"/>
              <a:sym typeface="Noto Sans KR"/>
            </a:endParaRPr>
          </a:p>
        </p:txBody>
      </p:sp>
      <p:sp>
        <p:nvSpPr>
          <p:cNvPr id="463" name="Google Shape;463;p42"/>
          <p:cNvSpPr txBox="1"/>
          <p:nvPr/>
        </p:nvSpPr>
        <p:spPr>
          <a:xfrm>
            <a:off x="461550" y="1001737"/>
            <a:ext cx="8220900" cy="723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Noto Sans KR"/>
              <a:buChar char="-"/>
            </a:pPr>
            <a:r>
              <a:rPr b="1" lang="ko">
                <a:solidFill>
                  <a:schemeClr val="dk1"/>
                </a:solidFill>
                <a:latin typeface="Noto Sans KR"/>
                <a:ea typeface="Noto Sans KR"/>
                <a:cs typeface="Noto Sans KR"/>
                <a:sym typeface="Noto Sans KR"/>
              </a:rPr>
              <a:t>Raw residual alone is not sufficiently privacy-preserving</a:t>
            </a:r>
            <a:endParaRPr b="1">
              <a:solidFill>
                <a:schemeClr val="dk1"/>
              </a:solidFill>
              <a:latin typeface="Noto Sans KR"/>
              <a:ea typeface="Noto Sans KR"/>
              <a:cs typeface="Noto Sans KR"/>
              <a:sym typeface="Noto Sans KR"/>
            </a:endParaRPr>
          </a:p>
          <a:p>
            <a:pPr indent="457200" lvl="0" marL="0" rtl="0" algn="l">
              <a:lnSpc>
                <a:spcPct val="150000"/>
              </a:lnSpc>
              <a:spcBef>
                <a:spcPts val="0"/>
              </a:spcBef>
              <a:spcAft>
                <a:spcPts val="0"/>
              </a:spcAft>
              <a:buNone/>
            </a:pPr>
            <a:r>
              <a:rPr lang="ko">
                <a:solidFill>
                  <a:schemeClr val="dk1"/>
                </a:solidFill>
                <a:latin typeface="Noto Sans KR"/>
                <a:ea typeface="Noto Sans KR"/>
                <a:cs typeface="Noto Sans KR"/>
                <a:sym typeface="Noto Sans KR"/>
              </a:rPr>
              <a:t>Some visual information may still </a:t>
            </a:r>
            <a:r>
              <a:rPr b="1" lang="ko">
                <a:solidFill>
                  <a:schemeClr val="dk1"/>
                </a:solidFill>
                <a:latin typeface="Noto Sans KR"/>
                <a:ea typeface="Noto Sans KR"/>
                <a:cs typeface="Noto Sans KR"/>
                <a:sym typeface="Noto Sans KR"/>
              </a:rPr>
              <a:t>remain</a:t>
            </a:r>
            <a:r>
              <a:rPr lang="ko">
                <a:solidFill>
                  <a:schemeClr val="dk1"/>
                </a:solidFill>
                <a:latin typeface="Noto Sans KR"/>
                <a:ea typeface="Noto Sans KR"/>
                <a:cs typeface="Noto Sans KR"/>
                <a:sym typeface="Noto Sans KR"/>
              </a:rPr>
              <a:t> after feature subtraction.</a:t>
            </a:r>
            <a:endParaRPr i="1">
              <a:solidFill>
                <a:schemeClr val="dk1"/>
              </a:solidFill>
              <a:latin typeface="Noto Sans KR"/>
              <a:ea typeface="Noto Sans KR"/>
              <a:cs typeface="Noto Sans KR"/>
              <a:sym typeface="Noto Sans KR"/>
            </a:endParaRPr>
          </a:p>
        </p:txBody>
      </p:sp>
      <p:pic>
        <p:nvPicPr>
          <p:cNvPr id="464" name="Google Shape;464;p42"/>
          <p:cNvPicPr preferRelativeResize="0"/>
          <p:nvPr/>
        </p:nvPicPr>
        <p:blipFill rotWithShape="1">
          <a:blip r:embed="rId3">
            <a:alphaModFix/>
          </a:blip>
          <a:srcRect b="0" l="0" r="58138" t="0"/>
          <a:stretch/>
        </p:blipFill>
        <p:spPr>
          <a:xfrm>
            <a:off x="1885125" y="2732688"/>
            <a:ext cx="2004475" cy="2041074"/>
          </a:xfrm>
          <a:prstGeom prst="rect">
            <a:avLst/>
          </a:prstGeom>
          <a:noFill/>
          <a:ln>
            <a:noFill/>
          </a:ln>
        </p:spPr>
      </p:pic>
      <p:pic>
        <p:nvPicPr>
          <p:cNvPr id="465" name="Google Shape;465;p42"/>
          <p:cNvPicPr preferRelativeResize="0"/>
          <p:nvPr/>
        </p:nvPicPr>
        <p:blipFill rotWithShape="1">
          <a:blip r:embed="rId3">
            <a:alphaModFix/>
          </a:blip>
          <a:srcRect b="0" l="44454" r="0" t="0"/>
          <a:stretch/>
        </p:blipFill>
        <p:spPr>
          <a:xfrm>
            <a:off x="5034764" y="2771725"/>
            <a:ext cx="2557911" cy="1962999"/>
          </a:xfrm>
          <a:prstGeom prst="rect">
            <a:avLst/>
          </a:prstGeom>
          <a:noFill/>
          <a:ln>
            <a:noFill/>
          </a:ln>
        </p:spPr>
      </p:pic>
      <p:sp>
        <p:nvSpPr>
          <p:cNvPr id="466" name="Google Shape;466;p42"/>
          <p:cNvSpPr txBox="1"/>
          <p:nvPr/>
        </p:nvSpPr>
        <p:spPr>
          <a:xfrm>
            <a:off x="461550" y="1725024"/>
            <a:ext cx="8220900" cy="10467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Noto Sans KR"/>
              <a:buChar char="-"/>
            </a:pPr>
            <a:r>
              <a:rPr b="1" lang="ko">
                <a:solidFill>
                  <a:schemeClr val="dk1"/>
                </a:solidFill>
                <a:latin typeface="Noto Sans KR"/>
                <a:ea typeface="Noto Sans KR"/>
                <a:cs typeface="Noto Sans KR"/>
                <a:sym typeface="Noto Sans KR"/>
              </a:rPr>
              <a:t>Random channel shuffling is needed to strengthen privacy</a:t>
            </a:r>
            <a:r>
              <a:rPr lang="ko">
                <a:solidFill>
                  <a:schemeClr val="dk1"/>
                </a:solidFill>
                <a:latin typeface="Noto Sans KR"/>
                <a:ea typeface="Noto Sans KR"/>
                <a:cs typeface="Noto Sans KR"/>
                <a:sym typeface="Noto Sans KR"/>
              </a:rPr>
              <a:t> </a:t>
            </a:r>
            <a:endParaRPr>
              <a:solidFill>
                <a:schemeClr val="dk1"/>
              </a:solidFill>
              <a:latin typeface="Noto Sans KR"/>
              <a:ea typeface="Noto Sans KR"/>
              <a:cs typeface="Noto Sans KR"/>
              <a:sym typeface="Noto Sans KR"/>
            </a:endParaRPr>
          </a:p>
          <a:p>
            <a:pPr indent="0" lvl="0" marL="457200" rtl="0" algn="l">
              <a:lnSpc>
                <a:spcPct val="150000"/>
              </a:lnSpc>
              <a:spcBef>
                <a:spcPts val="0"/>
              </a:spcBef>
              <a:spcAft>
                <a:spcPts val="0"/>
              </a:spcAft>
              <a:buNone/>
            </a:pPr>
            <a:r>
              <a:rPr lang="ko">
                <a:solidFill>
                  <a:schemeClr val="dk1"/>
                </a:solidFill>
                <a:latin typeface="Noto Sans KR"/>
                <a:ea typeface="Noto Sans KR"/>
                <a:cs typeface="Noto Sans KR"/>
                <a:sym typeface="Noto Sans KR"/>
              </a:rPr>
              <a:t>The 192 residual channels are randomly permuted to further obscure the remaining visual information.</a:t>
            </a:r>
            <a:endParaRPr i="1">
              <a:solidFill>
                <a:schemeClr val="dk1"/>
              </a:solidFill>
              <a:latin typeface="Noto Sans KR"/>
              <a:ea typeface="Noto Sans KR"/>
              <a:cs typeface="Noto Sans KR"/>
              <a:sym typeface="Noto Sans KR"/>
            </a:endParaRPr>
          </a:p>
        </p:txBody>
      </p:sp>
      <p:cxnSp>
        <p:nvCxnSpPr>
          <p:cNvPr id="467" name="Google Shape;467;p42"/>
          <p:cNvCxnSpPr/>
          <p:nvPr/>
        </p:nvCxnSpPr>
        <p:spPr>
          <a:xfrm>
            <a:off x="4129475" y="3846950"/>
            <a:ext cx="690000" cy="0"/>
          </a:xfrm>
          <a:prstGeom prst="straightConnector1">
            <a:avLst/>
          </a:prstGeom>
          <a:noFill/>
          <a:ln cap="flat" cmpd="sng" w="28575">
            <a:solidFill>
              <a:schemeClr val="dk2"/>
            </a:solidFill>
            <a:prstDash val="solid"/>
            <a:round/>
            <a:headEnd len="med" w="med" type="none"/>
            <a:tailEnd len="med" w="med" type="triangle"/>
          </a:ln>
        </p:spPr>
      </p:cxnSp>
      <p:sp>
        <p:nvSpPr>
          <p:cNvPr id="468" name="Google Shape;468;p4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3"/>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6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66"/>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67"/>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6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2" name="Shape 472"/>
        <p:cNvGrpSpPr/>
        <p:nvPr/>
      </p:nvGrpSpPr>
      <p:grpSpPr>
        <a:xfrm>
          <a:off x="0" y="0"/>
          <a:ext cx="0" cy="0"/>
          <a:chOff x="0" y="0"/>
          <a:chExt cx="0" cy="0"/>
        </a:xfrm>
      </p:grpSpPr>
      <p:sp>
        <p:nvSpPr>
          <p:cNvPr id="473" name="Google Shape;473;p43"/>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74" name="Google Shape;474;p43"/>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3000">
                <a:solidFill>
                  <a:schemeClr val="dk1"/>
                </a:solidFill>
                <a:latin typeface="Noto Sans KR"/>
                <a:ea typeface="Noto Sans KR"/>
                <a:cs typeface="Noto Sans KR"/>
                <a:sym typeface="Noto Sans KR"/>
              </a:rPr>
              <a:t>Limitations</a:t>
            </a:r>
            <a:endParaRPr b="1" sz="3000">
              <a:solidFill>
                <a:schemeClr val="dk1"/>
              </a:solidFill>
              <a:latin typeface="Noto Sans KR"/>
              <a:ea typeface="Noto Sans KR"/>
              <a:cs typeface="Noto Sans KR"/>
              <a:sym typeface="Noto Sans KR"/>
            </a:endParaRPr>
          </a:p>
        </p:txBody>
      </p:sp>
      <p:sp>
        <p:nvSpPr>
          <p:cNvPr id="475" name="Google Shape;475;p43"/>
          <p:cNvSpPr txBox="1"/>
          <p:nvPr/>
        </p:nvSpPr>
        <p:spPr>
          <a:xfrm>
            <a:off x="461547" y="1027455"/>
            <a:ext cx="8220900" cy="723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Noto Sans KR"/>
              <a:buChar char="-"/>
            </a:pPr>
            <a:r>
              <a:rPr b="1" lang="ko">
                <a:solidFill>
                  <a:schemeClr val="dk1"/>
                </a:solidFill>
                <a:latin typeface="Noto Sans KR"/>
                <a:ea typeface="Noto Sans KR"/>
                <a:cs typeface="Noto Sans KR"/>
                <a:sym typeface="Noto Sans KR"/>
              </a:rPr>
              <a:t>Cross-domain identity matching is not evaluated</a:t>
            </a:r>
            <a:endParaRPr b="1">
              <a:solidFill>
                <a:schemeClr val="dk1"/>
              </a:solidFill>
              <a:latin typeface="Noto Sans KR"/>
              <a:ea typeface="Noto Sans KR"/>
              <a:cs typeface="Noto Sans KR"/>
              <a:sym typeface="Noto Sans KR"/>
            </a:endParaRPr>
          </a:p>
          <a:p>
            <a:pPr indent="0" lvl="0" marL="457200" rtl="0" algn="l">
              <a:lnSpc>
                <a:spcPct val="150000"/>
              </a:lnSpc>
              <a:spcBef>
                <a:spcPts val="0"/>
              </a:spcBef>
              <a:spcAft>
                <a:spcPts val="0"/>
              </a:spcAft>
              <a:buNone/>
            </a:pPr>
            <a:r>
              <a:rPr lang="ko">
                <a:solidFill>
                  <a:schemeClr val="dk1"/>
                </a:solidFill>
                <a:latin typeface="Noto Sans KR"/>
                <a:ea typeface="Noto Sans KR"/>
                <a:cs typeface="Noto Sans KR"/>
                <a:sym typeface="Noto Sans KR"/>
              </a:rPr>
              <a:t>Original and protected face embeddings may be linkable, but this not evaluated</a:t>
            </a:r>
            <a:endParaRPr>
              <a:solidFill>
                <a:schemeClr val="dk1"/>
              </a:solidFill>
              <a:latin typeface="Noto Sans KR"/>
              <a:ea typeface="Noto Sans KR"/>
              <a:cs typeface="Noto Sans KR"/>
              <a:sym typeface="Noto Sans KR"/>
            </a:endParaRPr>
          </a:p>
        </p:txBody>
      </p:sp>
      <p:pic>
        <p:nvPicPr>
          <p:cNvPr id="476" name="Google Shape;476;p43"/>
          <p:cNvPicPr preferRelativeResize="0"/>
          <p:nvPr/>
        </p:nvPicPr>
        <p:blipFill>
          <a:blip r:embed="rId3">
            <a:alphaModFix/>
          </a:blip>
          <a:stretch>
            <a:fillRect/>
          </a:stretch>
        </p:blipFill>
        <p:spPr>
          <a:xfrm>
            <a:off x="663475" y="2674300"/>
            <a:ext cx="3703699" cy="1924624"/>
          </a:xfrm>
          <a:prstGeom prst="rect">
            <a:avLst/>
          </a:prstGeom>
          <a:noFill/>
          <a:ln>
            <a:noFill/>
          </a:ln>
        </p:spPr>
      </p:pic>
      <p:pic>
        <p:nvPicPr>
          <p:cNvPr id="477" name="Google Shape;477;p43"/>
          <p:cNvPicPr preferRelativeResize="0"/>
          <p:nvPr/>
        </p:nvPicPr>
        <p:blipFill>
          <a:blip r:embed="rId4">
            <a:alphaModFix/>
          </a:blip>
          <a:stretch>
            <a:fillRect/>
          </a:stretch>
        </p:blipFill>
        <p:spPr>
          <a:xfrm>
            <a:off x="5222607" y="2674300"/>
            <a:ext cx="3240143" cy="1924626"/>
          </a:xfrm>
          <a:prstGeom prst="rect">
            <a:avLst/>
          </a:prstGeom>
          <a:noFill/>
          <a:ln>
            <a:noFill/>
          </a:ln>
        </p:spPr>
      </p:pic>
      <p:sp>
        <p:nvSpPr>
          <p:cNvPr id="478" name="Google Shape;478;p43"/>
          <p:cNvSpPr txBox="1"/>
          <p:nvPr/>
        </p:nvSpPr>
        <p:spPr>
          <a:xfrm>
            <a:off x="461547" y="1850880"/>
            <a:ext cx="8220900" cy="7233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Noto Sans KR"/>
              <a:buChar char="-"/>
            </a:pPr>
            <a:r>
              <a:rPr b="1" lang="ko">
                <a:solidFill>
                  <a:schemeClr val="dk1"/>
                </a:solidFill>
                <a:latin typeface="Noto Sans KR"/>
                <a:ea typeface="Noto Sans KR"/>
                <a:cs typeface="Noto Sans KR"/>
                <a:sym typeface="Noto Sans KR"/>
              </a:rPr>
              <a:t>Embedding-level privacy is not evaluated</a:t>
            </a:r>
            <a:r>
              <a:rPr lang="ko">
                <a:solidFill>
                  <a:schemeClr val="dk1"/>
                </a:solidFill>
                <a:latin typeface="Noto Sans KR"/>
                <a:ea typeface="Noto Sans KR"/>
                <a:cs typeface="Noto Sans KR"/>
                <a:sym typeface="Noto Sans KR"/>
              </a:rPr>
              <a:t> </a:t>
            </a:r>
            <a:endParaRPr b="1">
              <a:solidFill>
                <a:schemeClr val="dk1"/>
              </a:solidFill>
              <a:latin typeface="Noto Sans KR"/>
              <a:ea typeface="Noto Sans KR"/>
              <a:cs typeface="Noto Sans KR"/>
              <a:sym typeface="Noto Sans KR"/>
            </a:endParaRPr>
          </a:p>
          <a:p>
            <a:pPr indent="0" lvl="0" marL="457200" rtl="0" algn="l">
              <a:lnSpc>
                <a:spcPct val="150000"/>
              </a:lnSpc>
              <a:spcBef>
                <a:spcPts val="0"/>
              </a:spcBef>
              <a:spcAft>
                <a:spcPts val="0"/>
              </a:spcAft>
              <a:buNone/>
            </a:pPr>
            <a:r>
              <a:rPr lang="ko">
                <a:solidFill>
                  <a:schemeClr val="dk1"/>
                </a:solidFill>
                <a:latin typeface="Noto Sans KR"/>
                <a:ea typeface="Noto Sans KR"/>
                <a:cs typeface="Noto Sans KR"/>
                <a:sym typeface="Noto Sans KR"/>
              </a:rPr>
              <a:t>Embeddings may still enable re-identification or face generation.</a:t>
            </a:r>
            <a:endParaRPr>
              <a:solidFill>
                <a:schemeClr val="dk1"/>
              </a:solidFill>
              <a:latin typeface="Noto Sans KR"/>
              <a:ea typeface="Noto Sans KR"/>
              <a:cs typeface="Noto Sans KR"/>
              <a:sym typeface="Noto Sans KR"/>
            </a:endParaRPr>
          </a:p>
        </p:txBody>
      </p:sp>
      <p:sp>
        <p:nvSpPr>
          <p:cNvPr id="479" name="Google Shape;479;p43"/>
          <p:cNvSpPr txBox="1"/>
          <p:nvPr/>
        </p:nvSpPr>
        <p:spPr>
          <a:xfrm>
            <a:off x="663475" y="4684350"/>
            <a:ext cx="1332900" cy="3231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ko" sz="900">
                <a:solidFill>
                  <a:schemeClr val="dk1"/>
                </a:solidFill>
              </a:rPr>
              <a:t>*generated images</a:t>
            </a:r>
            <a:endParaRPr sz="900">
              <a:solidFill>
                <a:schemeClr val="dk1"/>
              </a:solidFill>
            </a:endParaRPr>
          </a:p>
        </p:txBody>
      </p:sp>
      <p:sp>
        <p:nvSpPr>
          <p:cNvPr id="480" name="Google Shape;480;p4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5"/>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478"/>
                                        </p:tgtEl>
                                        <p:attrNameLst>
                                          <p:attrName>style.visibility</p:attrName>
                                        </p:attrNameLst>
                                      </p:cBhvr>
                                      <p:to>
                                        <p:strVal val="visible"/>
                                      </p:to>
                                    </p:set>
                                  </p:childTnLst>
                                </p:cTn>
                              </p:par>
                            </p:childTnLst>
                          </p:cTn>
                        </p:par>
                        <p:par>
                          <p:cTn fill="hold">
                            <p:stCondLst>
                              <p:cond delay="0"/>
                            </p:stCondLst>
                            <p:childTnLst>
                              <p:par>
                                <p:cTn fill="hold" nodeType="afterEffect" presetClass="entr" presetID="1" presetSubtype="0">
                                  <p:stCondLst>
                                    <p:cond delay="0"/>
                                  </p:stCondLst>
                                  <p:childTnLst>
                                    <p:set>
                                      <p:cBhvr>
                                        <p:cTn dur="1" fill="hold">
                                          <p:stCondLst>
                                            <p:cond delay="0"/>
                                          </p:stCondLst>
                                        </p:cTn>
                                        <p:tgtEl>
                                          <p:spTgt spid="477"/>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4" name="Shape 484"/>
        <p:cNvGrpSpPr/>
        <p:nvPr/>
      </p:nvGrpSpPr>
      <p:grpSpPr>
        <a:xfrm>
          <a:off x="0" y="0"/>
          <a:ext cx="0" cy="0"/>
          <a:chOff x="0" y="0"/>
          <a:chExt cx="0" cy="0"/>
        </a:xfrm>
      </p:grpSpPr>
      <p:sp>
        <p:nvSpPr>
          <p:cNvPr id="485" name="Google Shape;485;p44"/>
          <p:cNvSpPr/>
          <p:nvPr/>
        </p:nvSpPr>
        <p:spPr>
          <a:xfrm>
            <a:off x="194859" y="845710"/>
            <a:ext cx="8754300" cy="43500"/>
          </a:xfrm>
          <a:prstGeom prst="rect">
            <a:avLst/>
          </a:prstGeom>
          <a:solidFill>
            <a:srgbClr val="4A86E8"/>
          </a:solidFill>
          <a:ln>
            <a:noFill/>
          </a:ln>
        </p:spPr>
        <p:txBody>
          <a:bodyPr anchorCtr="0" anchor="ctr" bIns="91425" lIns="91425" spcFirstLastPara="1" rIns="91425" wrap="square" tIns="91425">
            <a:noAutofit/>
          </a:bodyPr>
          <a:lstStyle/>
          <a:p>
            <a:pPr indent="0" lvl="0" marL="0" rtl="0" algn="ctr">
              <a:spcBef>
                <a:spcPts val="0"/>
              </a:spcBef>
              <a:spcAft>
                <a:spcPts val="0"/>
              </a:spcAft>
              <a:buNone/>
            </a:pPr>
            <a:r>
              <a:t/>
            </a:r>
            <a:endParaRPr/>
          </a:p>
        </p:txBody>
      </p:sp>
      <p:sp>
        <p:nvSpPr>
          <p:cNvPr id="486" name="Google Shape;486;p44"/>
          <p:cNvSpPr txBox="1"/>
          <p:nvPr/>
        </p:nvSpPr>
        <p:spPr>
          <a:xfrm>
            <a:off x="241859" y="180159"/>
            <a:ext cx="8220900" cy="646500"/>
          </a:xfrm>
          <a:prstGeom prst="rect">
            <a:avLst/>
          </a:prstGeom>
          <a:noFill/>
          <a:ln>
            <a:noFill/>
          </a:ln>
        </p:spPr>
        <p:txBody>
          <a:bodyPr anchorCtr="0" anchor="t" bIns="91425" lIns="91425" spcFirstLastPara="1" rIns="91425" wrap="square" tIns="91425">
            <a:spAutoFit/>
          </a:bodyPr>
          <a:lstStyle/>
          <a:p>
            <a:pPr indent="0" lvl="0" marL="0" rtl="0" algn="l">
              <a:lnSpc>
                <a:spcPct val="150000"/>
              </a:lnSpc>
              <a:spcBef>
                <a:spcPts val="0"/>
              </a:spcBef>
              <a:spcAft>
                <a:spcPts val="0"/>
              </a:spcAft>
              <a:buNone/>
            </a:pPr>
            <a:r>
              <a:rPr b="1" lang="ko" sz="3000">
                <a:solidFill>
                  <a:schemeClr val="dk1"/>
                </a:solidFill>
                <a:latin typeface="Noto Sans KR"/>
                <a:ea typeface="Noto Sans KR"/>
                <a:cs typeface="Noto Sans KR"/>
                <a:sym typeface="Noto Sans KR"/>
              </a:rPr>
              <a:t>Conclusions</a:t>
            </a:r>
            <a:endParaRPr b="1" sz="3000">
              <a:solidFill>
                <a:schemeClr val="dk1"/>
              </a:solidFill>
              <a:latin typeface="Noto Sans KR"/>
              <a:ea typeface="Noto Sans KR"/>
              <a:cs typeface="Noto Sans KR"/>
              <a:sym typeface="Noto Sans KR"/>
            </a:endParaRPr>
          </a:p>
        </p:txBody>
      </p:sp>
      <p:sp>
        <p:nvSpPr>
          <p:cNvPr id="487" name="Google Shape;487;p44"/>
          <p:cNvSpPr txBox="1"/>
          <p:nvPr/>
        </p:nvSpPr>
        <p:spPr>
          <a:xfrm>
            <a:off x="421800" y="1169575"/>
            <a:ext cx="8220900" cy="2662800"/>
          </a:xfrm>
          <a:prstGeom prst="rect">
            <a:avLst/>
          </a:prstGeom>
          <a:noFill/>
          <a:ln>
            <a:noFill/>
          </a:ln>
        </p:spPr>
        <p:txBody>
          <a:bodyPr anchorCtr="0" anchor="t" bIns="91425" lIns="91425" spcFirstLastPara="1" rIns="91425" wrap="square" tIns="91425">
            <a:spAutoFit/>
          </a:bodyPr>
          <a:lstStyle/>
          <a:p>
            <a:pPr indent="-317500" lvl="0" marL="457200" rtl="0" algn="l">
              <a:lnSpc>
                <a:spcPct val="150000"/>
              </a:lnSpc>
              <a:spcBef>
                <a:spcPts val="0"/>
              </a:spcBef>
              <a:spcAft>
                <a:spcPts val="0"/>
              </a:spcAft>
              <a:buClr>
                <a:schemeClr val="dk1"/>
              </a:buClr>
              <a:buSzPts val="1400"/>
              <a:buFont typeface="Noto Sans KR"/>
              <a:buChar char="-"/>
            </a:pPr>
            <a:r>
              <a:rPr lang="ko">
                <a:solidFill>
                  <a:schemeClr val="dk1"/>
                </a:solidFill>
                <a:latin typeface="Noto Sans KR"/>
                <a:ea typeface="Noto Sans KR"/>
                <a:cs typeface="Noto Sans KR"/>
                <a:sym typeface="Noto Sans KR"/>
              </a:rPr>
              <a:t>MinusFace introduces </a:t>
            </a:r>
            <a:r>
              <a:rPr b="1" lang="ko">
                <a:solidFill>
                  <a:schemeClr val="dk1"/>
                </a:solidFill>
                <a:latin typeface="Noto Sans KR"/>
                <a:ea typeface="Noto Sans KR"/>
                <a:cs typeface="Noto Sans KR"/>
                <a:sym typeface="Noto Sans KR"/>
              </a:rPr>
              <a:t>trainable feature subtraction</a:t>
            </a:r>
            <a:r>
              <a:rPr lang="ko">
                <a:solidFill>
                  <a:schemeClr val="dk1"/>
                </a:solidFill>
                <a:latin typeface="Noto Sans KR"/>
                <a:ea typeface="Noto Sans KR"/>
                <a:cs typeface="Noto Sans KR"/>
                <a:sym typeface="Noto Sans KR"/>
              </a:rPr>
              <a:t> for privacy-preserving face recognition.</a:t>
            </a:r>
            <a:endParaRPr>
              <a:solidFill>
                <a:schemeClr val="dk1"/>
              </a:solidFill>
              <a:latin typeface="Noto Sans KR"/>
              <a:ea typeface="Noto Sans KR"/>
              <a:cs typeface="Noto Sans KR"/>
              <a:sym typeface="Noto Sans KR"/>
            </a:endParaRPr>
          </a:p>
          <a:p>
            <a:pPr indent="-317500" lvl="0" marL="457200" rtl="0" algn="l">
              <a:lnSpc>
                <a:spcPct val="150000"/>
              </a:lnSpc>
              <a:spcBef>
                <a:spcPts val="0"/>
              </a:spcBef>
              <a:spcAft>
                <a:spcPts val="0"/>
              </a:spcAft>
              <a:buClr>
                <a:schemeClr val="dk1"/>
              </a:buClr>
              <a:buSzPts val="1400"/>
              <a:buFont typeface="Noto Sans KR"/>
              <a:buChar char="-"/>
            </a:pPr>
            <a:r>
              <a:rPr lang="ko">
                <a:solidFill>
                  <a:schemeClr val="dk1"/>
                </a:solidFill>
                <a:latin typeface="Noto Sans KR"/>
                <a:ea typeface="Noto Sans KR"/>
                <a:cs typeface="Noto Sans KR"/>
                <a:sym typeface="Noto Sans KR"/>
              </a:rPr>
              <a:t>It reconstructs the face features and subtracts original face features to remove most visible facial information.</a:t>
            </a:r>
            <a:endParaRPr>
              <a:solidFill>
                <a:schemeClr val="dk1"/>
              </a:solidFill>
              <a:latin typeface="Noto Sans KR"/>
              <a:ea typeface="Noto Sans KR"/>
              <a:cs typeface="Noto Sans KR"/>
              <a:sym typeface="Noto Sans KR"/>
            </a:endParaRPr>
          </a:p>
          <a:p>
            <a:pPr indent="-317500" lvl="0" marL="457200" rtl="0" algn="l">
              <a:lnSpc>
                <a:spcPct val="150000"/>
              </a:lnSpc>
              <a:spcBef>
                <a:spcPts val="0"/>
              </a:spcBef>
              <a:spcAft>
                <a:spcPts val="0"/>
              </a:spcAft>
              <a:buClr>
                <a:schemeClr val="dk1"/>
              </a:buClr>
              <a:buSzPts val="1400"/>
              <a:buFont typeface="Noto Sans KR"/>
              <a:buChar char="-"/>
            </a:pPr>
            <a:r>
              <a:rPr lang="ko">
                <a:solidFill>
                  <a:schemeClr val="dk1"/>
                </a:solidFill>
                <a:latin typeface="Noto Sans KR"/>
                <a:ea typeface="Noto Sans KR"/>
                <a:cs typeface="Noto Sans KR"/>
                <a:sym typeface="Noto Sans KR"/>
              </a:rPr>
              <a:t>High-dim DCT features help preserve identity information. </a:t>
            </a:r>
            <a:endParaRPr>
              <a:solidFill>
                <a:schemeClr val="dk1"/>
              </a:solidFill>
              <a:latin typeface="Noto Sans KR"/>
              <a:ea typeface="Noto Sans KR"/>
              <a:cs typeface="Noto Sans KR"/>
              <a:sym typeface="Noto Sans KR"/>
            </a:endParaRPr>
          </a:p>
          <a:p>
            <a:pPr indent="-317500" lvl="0" marL="457200" rtl="0" algn="l">
              <a:lnSpc>
                <a:spcPct val="150000"/>
              </a:lnSpc>
              <a:spcBef>
                <a:spcPts val="0"/>
              </a:spcBef>
              <a:spcAft>
                <a:spcPts val="0"/>
              </a:spcAft>
              <a:buClr>
                <a:schemeClr val="dk1"/>
              </a:buClr>
              <a:buSzPts val="1400"/>
              <a:buFont typeface="Noto Sans KR"/>
              <a:buChar char="-"/>
            </a:pPr>
            <a:r>
              <a:rPr lang="ko">
                <a:solidFill>
                  <a:schemeClr val="dk1"/>
                </a:solidFill>
                <a:latin typeface="Noto Sans KR"/>
                <a:ea typeface="Noto Sans KR"/>
                <a:cs typeface="Noto Sans KR"/>
                <a:sym typeface="Noto Sans KR"/>
              </a:rPr>
              <a:t>Random shuffling </a:t>
            </a:r>
            <a:r>
              <a:rPr b="1" lang="ko">
                <a:solidFill>
                  <a:schemeClr val="dk1"/>
                </a:solidFill>
                <a:latin typeface="Noto Sans KR"/>
                <a:ea typeface="Noto Sans KR"/>
                <a:cs typeface="Noto Sans KR"/>
                <a:sym typeface="Noto Sans KR"/>
              </a:rPr>
              <a:t>hides</a:t>
            </a:r>
            <a:r>
              <a:rPr lang="ko">
                <a:solidFill>
                  <a:schemeClr val="dk1"/>
                </a:solidFill>
                <a:latin typeface="Noto Sans KR"/>
                <a:ea typeface="Noto Sans KR"/>
                <a:cs typeface="Noto Sans KR"/>
                <a:sym typeface="Noto Sans KR"/>
              </a:rPr>
              <a:t> the residual information</a:t>
            </a:r>
            <a:endParaRPr>
              <a:solidFill>
                <a:schemeClr val="dk1"/>
              </a:solidFill>
              <a:latin typeface="Noto Sans KR"/>
              <a:ea typeface="Noto Sans KR"/>
              <a:cs typeface="Noto Sans KR"/>
              <a:sym typeface="Noto Sans KR"/>
            </a:endParaRPr>
          </a:p>
          <a:p>
            <a:pPr indent="-317500" lvl="0" marL="457200" rtl="0" algn="l">
              <a:lnSpc>
                <a:spcPct val="150000"/>
              </a:lnSpc>
              <a:spcBef>
                <a:spcPts val="0"/>
              </a:spcBef>
              <a:spcAft>
                <a:spcPts val="0"/>
              </a:spcAft>
              <a:buClr>
                <a:schemeClr val="dk1"/>
              </a:buClr>
              <a:buSzPts val="1400"/>
              <a:buFont typeface="Noto Sans KR"/>
              <a:buChar char="-"/>
            </a:pPr>
            <a:r>
              <a:rPr lang="ko">
                <a:solidFill>
                  <a:schemeClr val="dk1"/>
                </a:solidFill>
                <a:latin typeface="Noto Sans KR"/>
                <a:ea typeface="Noto Sans KR"/>
                <a:cs typeface="Noto Sans KR"/>
                <a:sym typeface="Noto Sans KR"/>
              </a:rPr>
              <a:t>MinusFace can maintain recognition performance close to the standard face recognition while </a:t>
            </a:r>
            <a:r>
              <a:rPr lang="ko">
                <a:solidFill>
                  <a:schemeClr val="dk1"/>
                </a:solidFill>
                <a:latin typeface="Noto Sans KR"/>
                <a:ea typeface="Noto Sans KR"/>
                <a:cs typeface="Noto Sans KR"/>
                <a:sym typeface="Noto Sans KR"/>
              </a:rPr>
              <a:t>making</a:t>
            </a:r>
            <a:r>
              <a:rPr lang="ko">
                <a:solidFill>
                  <a:schemeClr val="dk1"/>
                </a:solidFill>
                <a:latin typeface="Noto Sans KR"/>
                <a:ea typeface="Noto Sans KR"/>
                <a:cs typeface="Noto Sans KR"/>
                <a:sym typeface="Noto Sans KR"/>
              </a:rPr>
              <a:t> the face reconstruction more </a:t>
            </a:r>
            <a:r>
              <a:rPr lang="ko">
                <a:solidFill>
                  <a:schemeClr val="dk1"/>
                </a:solidFill>
                <a:latin typeface="Noto Sans KR"/>
                <a:ea typeface="Noto Sans KR"/>
                <a:cs typeface="Noto Sans KR"/>
                <a:sym typeface="Noto Sans KR"/>
              </a:rPr>
              <a:t>difficult</a:t>
            </a:r>
            <a:r>
              <a:rPr lang="ko">
                <a:solidFill>
                  <a:schemeClr val="dk1"/>
                </a:solidFill>
                <a:latin typeface="Noto Sans KR"/>
                <a:ea typeface="Noto Sans KR"/>
                <a:cs typeface="Noto Sans KR"/>
                <a:sym typeface="Noto Sans KR"/>
              </a:rPr>
              <a:t>. </a:t>
            </a:r>
            <a:endParaRPr>
              <a:solidFill>
                <a:schemeClr val="dk1"/>
              </a:solidFill>
              <a:latin typeface="Noto Sans KR"/>
              <a:ea typeface="Noto Sans KR"/>
              <a:cs typeface="Noto Sans KR"/>
              <a:sym typeface="Noto Sans KR"/>
            </a:endParaRPr>
          </a:p>
        </p:txBody>
      </p:sp>
      <p:sp>
        <p:nvSpPr>
          <p:cNvPr id="488" name="Google Shape;488;p44"/>
          <p:cNvSpPr/>
          <p:nvPr/>
        </p:nvSpPr>
        <p:spPr>
          <a:xfrm>
            <a:off x="576650" y="3999925"/>
            <a:ext cx="8066100" cy="823800"/>
          </a:xfrm>
          <a:prstGeom prst="roundRect">
            <a:avLst>
              <a:gd fmla="val 16667" name="adj"/>
            </a:avLst>
          </a:prstGeom>
          <a:solidFill>
            <a:schemeClr val="accent1"/>
          </a:solidFill>
          <a:ln cap="flat" cmpd="sng" w="9525">
            <a:solidFill>
              <a:schemeClr val="accent1"/>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rPr lang="ko" sz="1800">
                <a:solidFill>
                  <a:schemeClr val="lt1"/>
                </a:solidFill>
                <a:latin typeface="Noto Sans KR"/>
                <a:ea typeface="Noto Sans KR"/>
                <a:cs typeface="Noto Sans KR"/>
                <a:sym typeface="Noto Sans KR"/>
              </a:rPr>
              <a:t>Main takeaway: </a:t>
            </a:r>
            <a:r>
              <a:rPr b="1" lang="ko" sz="1800">
                <a:solidFill>
                  <a:schemeClr val="lt1"/>
                </a:solidFill>
                <a:latin typeface="Noto Sans KR"/>
                <a:ea typeface="Noto Sans KR"/>
                <a:cs typeface="Noto Sans KR"/>
                <a:sym typeface="Noto Sans KR"/>
              </a:rPr>
              <a:t>MinusFace</a:t>
            </a:r>
            <a:r>
              <a:rPr lang="ko" sz="1800">
                <a:solidFill>
                  <a:schemeClr val="lt1"/>
                </a:solidFill>
                <a:latin typeface="Noto Sans KR"/>
                <a:ea typeface="Noto Sans KR"/>
                <a:cs typeface="Noto Sans KR"/>
                <a:sym typeface="Noto Sans KR"/>
              </a:rPr>
              <a:t> protects </a:t>
            </a:r>
            <a:r>
              <a:rPr b="1" lang="ko" sz="1800">
                <a:solidFill>
                  <a:schemeClr val="lt1"/>
                </a:solidFill>
                <a:latin typeface="Noto Sans KR"/>
                <a:ea typeface="Noto Sans KR"/>
                <a:cs typeface="Noto Sans KR"/>
                <a:sym typeface="Noto Sans KR"/>
              </a:rPr>
              <a:t>facial appearance</a:t>
            </a:r>
            <a:r>
              <a:rPr lang="ko" sz="1800">
                <a:solidFill>
                  <a:schemeClr val="lt1"/>
                </a:solidFill>
                <a:latin typeface="Noto Sans KR"/>
                <a:ea typeface="Noto Sans KR"/>
                <a:cs typeface="Noto Sans KR"/>
                <a:sym typeface="Noto Sans KR"/>
              </a:rPr>
              <a:t>, while still intentionally preserving identity information for recognition.</a:t>
            </a:r>
            <a:endParaRPr>
              <a:latin typeface="Noto Sans KR"/>
              <a:ea typeface="Noto Sans KR"/>
              <a:cs typeface="Noto Sans KR"/>
              <a:sym typeface="Noto Sans KR"/>
            </a:endParaRPr>
          </a:p>
        </p:txBody>
      </p:sp>
      <p:sp>
        <p:nvSpPr>
          <p:cNvPr id="489" name="Google Shape;489;p4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p>
            <a:pPr indent="0" lvl="0" marL="0" rtl="0" algn="r">
              <a:spcBef>
                <a:spcPts val="0"/>
              </a:spcBef>
              <a:spcAft>
                <a:spcPts val="0"/>
              </a:spcAft>
              <a:buNone/>
            </a:pPr>
            <a:fld id="{00000000-1234-1234-1234-123412341234}" type="slidenum">
              <a:rPr lang="ko"/>
              <a:t>‹#›</a:t>
            </a:fld>
            <a:endParaRPr/>
          </a:p>
        </p:txBody>
      </p:sp>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3.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